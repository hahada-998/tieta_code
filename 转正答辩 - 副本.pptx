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4"/>
  </p:notesMasterIdLst>
  <p:sldIdLst>
    <p:sldId id="266" r:id="rId2"/>
    <p:sldId id="319" r:id="rId3"/>
    <p:sldId id="320" r:id="rId4"/>
    <p:sldId id="259" r:id="rId5"/>
    <p:sldId id="321" r:id="rId6"/>
    <p:sldId id="304" r:id="rId7"/>
    <p:sldId id="349" r:id="rId8"/>
    <p:sldId id="350" r:id="rId9"/>
    <p:sldId id="351" r:id="rId10"/>
    <p:sldId id="352" r:id="rId11"/>
    <p:sldId id="355" r:id="rId12"/>
    <p:sldId id="356" r:id="rId13"/>
    <p:sldId id="357" r:id="rId14"/>
    <p:sldId id="358" r:id="rId15"/>
    <p:sldId id="359" r:id="rId16"/>
    <p:sldId id="360" r:id="rId17"/>
    <p:sldId id="346" r:id="rId18"/>
    <p:sldId id="322" r:id="rId19"/>
    <p:sldId id="308" r:id="rId20"/>
    <p:sldId id="311" r:id="rId21"/>
    <p:sldId id="328" r:id="rId22"/>
    <p:sldId id="329" r:id="rId23"/>
    <p:sldId id="330" r:id="rId24"/>
    <p:sldId id="331" r:id="rId25"/>
    <p:sldId id="332" r:id="rId26"/>
    <p:sldId id="333" r:id="rId27"/>
    <p:sldId id="334" r:id="rId28"/>
    <p:sldId id="335" r:id="rId29"/>
    <p:sldId id="336" r:id="rId30"/>
    <p:sldId id="337" r:id="rId31"/>
    <p:sldId id="338" r:id="rId32"/>
    <p:sldId id="341" r:id="rId33"/>
    <p:sldId id="342" r:id="rId34"/>
    <p:sldId id="343" r:id="rId35"/>
    <p:sldId id="344" r:id="rId36"/>
    <p:sldId id="345" r:id="rId37"/>
    <p:sldId id="323" r:id="rId38"/>
    <p:sldId id="318" r:id="rId39"/>
    <p:sldId id="325" r:id="rId40"/>
    <p:sldId id="324" r:id="rId41"/>
    <p:sldId id="310" r:id="rId42"/>
    <p:sldId id="260"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5C3"/>
    <a:srgbClr val="2F66C2"/>
    <a:srgbClr val="527BC6"/>
    <a:srgbClr val="437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autoAdjust="0"/>
  </p:normalViewPr>
  <p:slideViewPr>
    <p:cSldViewPr snapToGrid="0">
      <p:cViewPr varScale="1">
        <p:scale>
          <a:sx n="73" d="100"/>
          <a:sy n="73" d="100"/>
        </p:scale>
        <p:origin x="780"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1A718-2EF3-4FEF-9652-7CA90B1F98E5}" type="datetimeFigureOut">
              <a:rPr lang="zh-CN" altLang="en-US" smtClean="0"/>
              <a:t>2026/1/20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5D5CC6-AEBA-41CD-B77A-6B05C9118B8F}" type="slidenum">
              <a:rPr lang="zh-CN" altLang="en-US" smtClean="0"/>
              <a:t>‹#›</a:t>
            </a:fld>
            <a:endParaRPr lang="zh-CN" altLang="en-US"/>
          </a:p>
        </p:txBody>
      </p:sp>
    </p:spTree>
    <p:extLst>
      <p:ext uri="{BB962C8B-B14F-4D97-AF65-F5344CB8AC3E}">
        <p14:creationId xmlns:p14="http://schemas.microsoft.com/office/powerpoint/2010/main" val="3406619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秘密-自定义版式">
    <p:spTree>
      <p:nvGrpSpPr>
        <p:cNvPr id="1" name=""/>
        <p:cNvGrpSpPr/>
        <p:nvPr/>
      </p:nvGrpSpPr>
      <p:grpSpPr>
        <a:xfrm>
          <a:off x="0" y="0"/>
          <a:ext cx="0" cy="0"/>
          <a:chOff x="0" y="0"/>
          <a:chExt cx="0" cy="0"/>
        </a:xfrm>
      </p:grpSpPr>
      <p:sp>
        <p:nvSpPr>
          <p:cNvPr id="4" name="Rectangle 25"/>
          <p:cNvSpPr>
            <a:spLocks noGrp="1" noChangeArrowheads="1"/>
          </p:cNvSpPr>
          <p:nvPr>
            <p:ph idx="1"/>
          </p:nvPr>
        </p:nvSpPr>
        <p:spPr bwMode="auto">
          <a:xfrm>
            <a:off x="609600" y="1440490"/>
            <a:ext cx="10972800" cy="4484788"/>
          </a:xfrm>
          <a:prstGeom prst="rect">
            <a:avLst/>
          </a:prstGeom>
          <a:noFill/>
          <a:ln w="9525">
            <a:noFill/>
            <a:miter lim="800000"/>
          </a:ln>
        </p:spPr>
        <p:txBody>
          <a:bodyPr vert="horz" wrap="square" lIns="91440" tIns="45720" rIns="91440" bIns="45720" numCol="1" anchor="t" anchorCtr="0" compatLnSpc="1"/>
          <a:lstStyle>
            <a:lvl1pPr>
              <a:buFont typeface="Wingdings" panose="05000000000000000000" pitchFamily="2" charset="2"/>
              <a:buChar char="n"/>
              <a:defRPr/>
            </a:lvl1pPr>
            <a:lvl2pPr>
              <a:buFont typeface="Arial" panose="020B060402020202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6"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97446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秘密-标题幻灯片">
    <p:spTree>
      <p:nvGrpSpPr>
        <p:cNvPr id="1" name=""/>
        <p:cNvGrpSpPr/>
        <p:nvPr/>
      </p:nvGrpSpPr>
      <p:grpSpPr>
        <a:xfrm>
          <a:off x="0" y="0"/>
          <a:ext cx="0" cy="0"/>
          <a:chOff x="0" y="0"/>
          <a:chExt cx="0" cy="0"/>
        </a:xfrm>
      </p:grpSpPr>
      <p:sp>
        <p:nvSpPr>
          <p:cNvPr id="2"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3"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707981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秘密-节标题2">
    <p:spTree>
      <p:nvGrpSpPr>
        <p:cNvPr id="1" name=""/>
        <p:cNvGrpSpPr/>
        <p:nvPr/>
      </p:nvGrpSpPr>
      <p:grpSpPr>
        <a:xfrm>
          <a:off x="0" y="0"/>
          <a:ext cx="0" cy="0"/>
          <a:chOff x="0" y="0"/>
          <a:chExt cx="0" cy="0"/>
        </a:xfrm>
      </p:grpSpPr>
      <p:sp>
        <p:nvSpPr>
          <p:cNvPr id="10" name="矩形 9"/>
          <p:cNvSpPr/>
          <p:nvPr userDrawn="1"/>
        </p:nvSpPr>
        <p:spPr>
          <a:xfrm>
            <a:off x="10377940" y="6556681"/>
            <a:ext cx="1308820" cy="297454"/>
          </a:xfrm>
          <a:prstGeom prst="rect">
            <a:avLst/>
          </a:prstGeom>
        </p:spPr>
        <p:txBody>
          <a:bodyPr wrap="none" anchor="ctr" anchorCtr="1">
            <a:spAutoFit/>
          </a:bodyPr>
          <a:lstStyle/>
          <a:p>
            <a:pPr fontAlgn="base">
              <a:spcBef>
                <a:spcPct val="0"/>
              </a:spcBef>
              <a:spcAft>
                <a:spcPct val="0"/>
              </a:spcAft>
            </a:pPr>
            <a:r>
              <a:rPr lang="en-US" altLang="zh-CN" sz="1333" dirty="0">
                <a:solidFill>
                  <a:srgbClr val="262626">
                    <a:lumMod val="65000"/>
                    <a:lumOff val="35000"/>
                  </a:srgbClr>
                </a:solidFill>
                <a:latin typeface="微软雅黑" panose="020B0503020204020204" pitchFamily="34" charset="-122"/>
                <a:ea typeface="微软雅黑" panose="020B0503020204020204" pitchFamily="34" charset="-122"/>
              </a:rPr>
              <a:t>www.h3c.com</a:t>
            </a:r>
            <a:endParaRPr lang="zh-CN" altLang="en-US" sz="1333" dirty="0">
              <a:solidFill>
                <a:srgbClr val="262626">
                  <a:lumMod val="65000"/>
                  <a:lumOff val="35000"/>
                </a:srgbClr>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5388537" y="6581052"/>
            <a:ext cx="1337226" cy="256545"/>
          </a:xfrm>
          <a:prstGeom prst="rect">
            <a:avLst/>
          </a:prstGeom>
        </p:spPr>
        <p:txBody>
          <a:bodyPr wrap="none" anchor="ctr" anchorCtr="1">
            <a:spAutoFit/>
          </a:bodyPr>
          <a:lstStyle/>
          <a:p>
            <a:pPr fontAlgn="base">
              <a:spcBef>
                <a:spcPct val="0"/>
              </a:spcBef>
              <a:spcAft>
                <a:spcPct val="0"/>
              </a:spcAft>
            </a:pPr>
            <a:r>
              <a:rPr lang="en-US" altLang="zh-CN" sz="1067" b="1" dirty="0">
                <a:solidFill>
                  <a:srgbClr val="262626">
                    <a:lumMod val="50000"/>
                    <a:lumOff val="50000"/>
                  </a:srgbClr>
                </a:solidFill>
                <a:latin typeface="微软雅黑" panose="020B0503020204020204" pitchFamily="34" charset="-122"/>
                <a:ea typeface="微软雅黑" panose="020B0503020204020204" pitchFamily="34" charset="-122"/>
              </a:rPr>
              <a:t>Confidential </a:t>
            </a:r>
            <a:r>
              <a:rPr lang="zh-CN" altLang="en-US" sz="1067" b="1" dirty="0">
                <a:solidFill>
                  <a:srgbClr val="262626">
                    <a:lumMod val="50000"/>
                    <a:lumOff val="50000"/>
                  </a:srgbClr>
                </a:solidFill>
                <a:latin typeface="微软雅黑" panose="020B0503020204020204" pitchFamily="34" charset="-122"/>
                <a:ea typeface="微软雅黑" panose="020B0503020204020204" pitchFamily="34" charset="-122"/>
              </a:rPr>
              <a:t>秘密</a:t>
            </a:r>
          </a:p>
        </p:txBody>
      </p:sp>
      <p:sp>
        <p:nvSpPr>
          <p:cNvPr id="12" name="矩形 11"/>
          <p:cNvSpPr/>
          <p:nvPr userDrawn="1"/>
        </p:nvSpPr>
        <p:spPr>
          <a:xfrm>
            <a:off x="0" y="1"/>
            <a:ext cx="12192000" cy="3343471"/>
          </a:xfrm>
          <a:prstGeom prst="rect">
            <a:avLst/>
          </a:prstGeom>
          <a:solidFill>
            <a:schemeClr val="bg1">
              <a:lumMod val="95000"/>
            </a:schemeClr>
          </a:solidFill>
          <a:ln w="12700" cap="flat" cmpd="sng" algn="ctr">
            <a:noFill/>
            <a:prstDash val="dash"/>
          </a:ln>
          <a:effectLst/>
        </p:spPr>
        <p:txBody>
          <a:bodyPr rtlCol="0" anchor="ctr"/>
          <a:lstStyle/>
          <a:p>
            <a:pPr algn="ctr"/>
            <a:endParaRPr lang="zh-CN" altLang="en-US" sz="1867" b="1" kern="0" dirty="0">
              <a:solidFill>
                <a:srgbClr val="262626"/>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xmlns="" id="{6286DD0E-0F20-4F4E-8533-FFE05262B0DD}"/>
              </a:ext>
            </a:extLst>
          </p:cNvPr>
          <p:cNvSpPr/>
          <p:nvPr userDrawn="1"/>
        </p:nvSpPr>
        <p:spPr>
          <a:xfrm>
            <a:off x="5049409" y="3361638"/>
            <a:ext cx="2095830" cy="441211"/>
          </a:xfrm>
          <a:prstGeom prst="rect">
            <a:avLst/>
          </a:prstGeom>
        </p:spPr>
        <p:txBody>
          <a:bodyPr wrap="none">
            <a:spAutoFit/>
          </a:bodyPr>
          <a:lstStyle/>
          <a:p>
            <a:pPr algn="ctr" fontAlgn="base">
              <a:spcBef>
                <a:spcPct val="0"/>
              </a:spcBef>
              <a:spcAft>
                <a:spcPct val="0"/>
              </a:spcAft>
            </a:pPr>
            <a:r>
              <a:rPr lang="en-US" altLang="zh-CN" sz="2267" dirty="0">
                <a:solidFill>
                  <a:srgbClr val="FFFFFF">
                    <a:lumMod val="85000"/>
                  </a:srgbClr>
                </a:solidFill>
                <a:latin typeface="微软雅黑" panose="020B0503020204020204" pitchFamily="34" charset="-122"/>
                <a:ea typeface="微软雅黑" panose="020B0503020204020204" pitchFamily="34" charset="-122"/>
              </a:rPr>
              <a:t>www.h3c.com</a:t>
            </a:r>
            <a:endParaRPr lang="zh-CN" altLang="en-US" sz="2267" dirty="0">
              <a:solidFill>
                <a:srgbClr val="FFFFFF">
                  <a:lumMod val="85000"/>
                </a:srgb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xmlns="" id="{8971FE5F-7AB6-45F2-A091-D2F0246940EE}"/>
              </a:ext>
            </a:extLst>
          </p:cNvPr>
          <p:cNvPicPr>
            <a:picLocks noChangeAspect="1"/>
          </p:cNvPicPr>
          <p:nvPr userDrawn="1"/>
        </p:nvPicPr>
        <p:blipFill>
          <a:blip r:embed="rId2"/>
          <a:stretch>
            <a:fillRect/>
          </a:stretch>
        </p:blipFill>
        <p:spPr>
          <a:xfrm>
            <a:off x="3571018" y="2372883"/>
            <a:ext cx="5049965" cy="840156"/>
          </a:xfrm>
          <a:prstGeom prst="rect">
            <a:avLst/>
          </a:prstGeom>
        </p:spPr>
      </p:pic>
    </p:spTree>
    <p:extLst>
      <p:ext uri="{BB962C8B-B14F-4D97-AF65-F5344CB8AC3E}">
        <p14:creationId xmlns:p14="http://schemas.microsoft.com/office/powerpoint/2010/main" val="3823066878"/>
      </p:ext>
    </p:extLst>
  </p:cSld>
  <p:clrMapOvr>
    <a:masterClrMapping/>
  </p:clrMapOvr>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sp>
        <p:nvSpPr>
          <p:cNvPr id="2"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3"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21607" y="316415"/>
            <a:ext cx="1243012" cy="690087"/>
          </a:xfrm>
          <a:prstGeom prst="rect">
            <a:avLst/>
          </a:prstGeom>
        </p:spPr>
      </p:pic>
    </p:spTree>
    <p:extLst>
      <p:ext uri="{BB962C8B-B14F-4D97-AF65-F5344CB8AC3E}">
        <p14:creationId xmlns:p14="http://schemas.microsoft.com/office/powerpoint/2010/main" val="4057437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1"/>
            <a:ext cx="2743200" cy="365125"/>
          </a:xfrm>
          <a:prstGeom prst="rect">
            <a:avLst/>
          </a:prstGeom>
        </p:spPr>
        <p:txBody>
          <a:bodyPr/>
          <a:lstStyle/>
          <a:p>
            <a:pPr fontAlgn="base">
              <a:spcBef>
                <a:spcPct val="0"/>
              </a:spcBef>
              <a:spcAft>
                <a:spcPct val="0"/>
              </a:spcAft>
            </a:pPr>
            <a:fld id="{CD1AF5E5-68C7-4D2C-B141-D4FA4E4A8D34}" type="datetimeFigureOut">
              <a:rPr lang="zh-CN" altLang="en-US">
                <a:solidFill>
                  <a:srgbClr val="262626"/>
                </a:solidFill>
                <a:latin typeface="Arial" panose="020B0604020202020204" pitchFamily="34" charset="0"/>
                <a:ea typeface="宋体" panose="02010600030101010101" pitchFamily="2" charset="-122"/>
              </a:rPr>
              <a:pPr fontAlgn="base">
                <a:spcBef>
                  <a:spcPct val="0"/>
                </a:spcBef>
                <a:spcAft>
                  <a:spcPct val="0"/>
                </a:spcAft>
              </a:pPr>
              <a:t>2026/1/20</a:t>
            </a:fld>
            <a:endParaRPr lang="zh-CN" altLang="en-US">
              <a:solidFill>
                <a:srgbClr val="262626"/>
              </a:solidFill>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a:xfrm>
            <a:off x="4038600" y="6356351"/>
            <a:ext cx="4114800" cy="365125"/>
          </a:xfrm>
          <a:prstGeom prst="rect">
            <a:avLst/>
          </a:prstGeom>
        </p:spPr>
        <p:txBody>
          <a:bodyPr/>
          <a:lstStyle/>
          <a:p>
            <a:pPr fontAlgn="base">
              <a:spcBef>
                <a:spcPct val="0"/>
              </a:spcBef>
              <a:spcAft>
                <a:spcPct val="0"/>
              </a:spcAft>
            </a:pPr>
            <a:endParaRPr lang="zh-CN" altLang="en-US">
              <a:solidFill>
                <a:srgbClr val="262626"/>
              </a:solidFill>
              <a:latin typeface="Arial" panose="020B0604020202020204" pitchFamily="34" charset="0"/>
              <a:ea typeface="宋体" panose="02010600030101010101" pitchFamily="2" charset="-122"/>
            </a:endParaRPr>
          </a:p>
        </p:txBody>
      </p:sp>
      <p:sp>
        <p:nvSpPr>
          <p:cNvPr id="4" name="灯片编号占位符 3"/>
          <p:cNvSpPr>
            <a:spLocks noGrp="1"/>
          </p:cNvSpPr>
          <p:nvPr>
            <p:ph type="sldNum" sz="quarter" idx="12"/>
          </p:nvPr>
        </p:nvSpPr>
        <p:spPr>
          <a:xfrm>
            <a:off x="8610600" y="6356351"/>
            <a:ext cx="2743200" cy="365125"/>
          </a:xfrm>
          <a:prstGeom prst="rect">
            <a:avLst/>
          </a:prstGeom>
        </p:spPr>
        <p:txBody>
          <a:bodyPr/>
          <a:lstStyle/>
          <a:p>
            <a:pPr fontAlgn="base">
              <a:spcBef>
                <a:spcPct val="0"/>
              </a:spcBef>
              <a:spcAft>
                <a:spcPct val="0"/>
              </a:spcAft>
            </a:pPr>
            <a:fld id="{1BB461B6-EA5E-467A-B473-0F8E4EA2CBBE}" type="slidenum">
              <a:rPr lang="zh-CN" altLang="en-US">
                <a:solidFill>
                  <a:srgbClr val="262626"/>
                </a:solidFill>
                <a:latin typeface="Arial" panose="020B0604020202020204" pitchFamily="34" charset="0"/>
                <a:ea typeface="宋体" panose="02010600030101010101" pitchFamily="2" charset="-122"/>
              </a:rPr>
              <a:pPr fontAlgn="base">
                <a:spcBef>
                  <a:spcPct val="0"/>
                </a:spcBef>
                <a:spcAft>
                  <a:spcPct val="0"/>
                </a:spcAft>
              </a:pPr>
              <a:t>‹#›</a:t>
            </a:fld>
            <a:endParaRPr lang="zh-CN" altLang="en-US">
              <a:solidFill>
                <a:srgbClr val="262626"/>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0851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descr="1.png"/>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6959" y="6522753"/>
            <a:ext cx="12192001" cy="330200"/>
          </a:xfrm>
          <a:prstGeom prst="rect">
            <a:avLst/>
          </a:prstGeom>
        </p:spPr>
      </p:pic>
      <p:sp>
        <p:nvSpPr>
          <p:cNvPr id="1026" name="Rectangle 25"/>
          <p:cNvSpPr>
            <a:spLocks noGrp="1" noChangeArrowheads="1"/>
          </p:cNvSpPr>
          <p:nvPr>
            <p:ph type="body" idx="1"/>
          </p:nvPr>
        </p:nvSpPr>
        <p:spPr bwMode="auto">
          <a:xfrm>
            <a:off x="609600" y="1440490"/>
            <a:ext cx="10972800" cy="4484788"/>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9"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13" name="矩形 12"/>
          <p:cNvSpPr/>
          <p:nvPr userDrawn="1"/>
        </p:nvSpPr>
        <p:spPr>
          <a:xfrm>
            <a:off x="5388537" y="6581052"/>
            <a:ext cx="1337226" cy="256545"/>
          </a:xfrm>
          <a:prstGeom prst="rect">
            <a:avLst/>
          </a:prstGeom>
        </p:spPr>
        <p:txBody>
          <a:bodyPr wrap="none" anchor="ctr" anchorCtr="1">
            <a:spAutoFit/>
          </a:bodyPr>
          <a:lstStyle/>
          <a:p>
            <a:pPr fontAlgn="base">
              <a:spcBef>
                <a:spcPct val="0"/>
              </a:spcBef>
              <a:spcAft>
                <a:spcPct val="0"/>
              </a:spcAft>
            </a:pPr>
            <a:r>
              <a:rPr lang="en-US" altLang="zh-CN" sz="1067" b="1" dirty="0">
                <a:solidFill>
                  <a:srgbClr val="262626">
                    <a:lumMod val="50000"/>
                    <a:lumOff val="50000"/>
                  </a:srgbClr>
                </a:solidFill>
                <a:latin typeface="微软雅黑" panose="020B0503020204020204" pitchFamily="34" charset="-122"/>
                <a:ea typeface="微软雅黑" panose="020B0503020204020204" pitchFamily="34" charset="-122"/>
              </a:rPr>
              <a:t>Confidential </a:t>
            </a:r>
            <a:r>
              <a:rPr lang="zh-CN" altLang="en-US" sz="1067" b="1" dirty="0">
                <a:solidFill>
                  <a:srgbClr val="262626">
                    <a:lumMod val="50000"/>
                    <a:lumOff val="50000"/>
                  </a:srgbClr>
                </a:solidFill>
                <a:latin typeface="微软雅黑" panose="020B0503020204020204" pitchFamily="34" charset="-122"/>
                <a:ea typeface="微软雅黑" panose="020B0503020204020204" pitchFamily="34" charset="-122"/>
              </a:rPr>
              <a:t>秘密</a:t>
            </a:r>
          </a:p>
        </p:txBody>
      </p:sp>
      <p:sp>
        <p:nvSpPr>
          <p:cNvPr id="28" name="矩形 27"/>
          <p:cNvSpPr/>
          <p:nvPr userDrawn="1"/>
        </p:nvSpPr>
        <p:spPr>
          <a:xfrm>
            <a:off x="9255582" y="6547830"/>
            <a:ext cx="2249783" cy="297454"/>
          </a:xfrm>
          <a:prstGeom prst="rect">
            <a:avLst/>
          </a:prstGeom>
        </p:spPr>
        <p:txBody>
          <a:bodyPr wrap="none" anchor="ctr" anchorCtr="1">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333" dirty="0">
                <a:solidFill>
                  <a:srgbClr val="262626">
                    <a:lumMod val="65000"/>
                    <a:lumOff val="35000"/>
                  </a:srgbClr>
                </a:solidFill>
                <a:latin typeface="微软雅黑" panose="020B0503020204020204" pitchFamily="34" charset="-122"/>
                <a:ea typeface="微软雅黑" panose="020B0503020204020204" pitchFamily="34" charset="-122"/>
              </a:rPr>
              <a:t>www.cloundnineinfo.com</a:t>
            </a:r>
            <a:endParaRPr lang="zh-CN" altLang="en-US" sz="1333" dirty="0">
              <a:solidFill>
                <a:srgbClr val="262626">
                  <a:lumMod val="65000"/>
                  <a:lumOff val="35000"/>
                </a:srgbClr>
              </a:solidFill>
              <a:latin typeface="微软雅黑" panose="020B0503020204020204" pitchFamily="34" charset="-122"/>
              <a:ea typeface="微软雅黑" panose="020B0503020204020204" pitchFamily="34" charset="-122"/>
            </a:endParaRPr>
          </a:p>
        </p:txBody>
      </p:sp>
      <p:sp>
        <p:nvSpPr>
          <p:cNvPr id="29" name="文本框 26"/>
          <p:cNvSpPr txBox="1"/>
          <p:nvPr userDrawn="1"/>
        </p:nvSpPr>
        <p:spPr>
          <a:xfrm>
            <a:off x="11757051" y="6496216"/>
            <a:ext cx="394660" cy="297454"/>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A5BB97A9-7D72-4F8F-8BC5-4E547C3F4DC5}" type="slidenum">
              <a:rPr lang="en-GB" altLang="zh-CN" sz="1333" smtClean="0">
                <a:solidFill>
                  <a:srgbClr val="262626"/>
                </a:solidFill>
              </a:rPr>
              <a:pPr/>
              <a:t>‹#›</a:t>
            </a:fld>
            <a:endParaRPr lang="en-GB" altLang="zh-CN" sz="1333" dirty="0">
              <a:solidFill>
                <a:srgbClr val="262626"/>
              </a:solidFill>
            </a:endParaRPr>
          </a:p>
        </p:txBody>
      </p:sp>
      <p:pic>
        <p:nvPicPr>
          <p:cNvPr id="9" name="图片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421607" y="316415"/>
            <a:ext cx="1243012" cy="690087"/>
          </a:xfrm>
          <a:prstGeom prst="rect">
            <a:avLst/>
          </a:prstGeom>
        </p:spPr>
      </p:pic>
      <p:sp>
        <p:nvSpPr>
          <p:cNvPr id="3" name="矩形 2"/>
          <p:cNvSpPr/>
          <p:nvPr userDrawn="1"/>
        </p:nvSpPr>
        <p:spPr>
          <a:xfrm>
            <a:off x="-4235" y="6523470"/>
            <a:ext cx="339595" cy="329484"/>
          </a:xfrm>
          <a:prstGeom prst="rect">
            <a:avLst/>
          </a:prstGeom>
          <a:solidFill>
            <a:srgbClr val="19589F"/>
          </a:solidFill>
          <a:ln w="12700" cap="flat" cmpd="sng" algn="ctr">
            <a:noFill/>
            <a:prstDash val="dash"/>
          </a:ln>
        </p:spPr>
        <p:txBody>
          <a:bodyPr rtlCol="0" anchor="ctr"/>
          <a:lstStyle/>
          <a:p>
            <a:pPr algn="ctr"/>
            <a:endParaRPr lang="zh-CN" altLang="en-US" sz="1867" b="1" kern="0">
              <a:solidFill>
                <a:srgbClr val="262626"/>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1760629" y="6789374"/>
            <a:ext cx="394059" cy="62335"/>
          </a:xfrm>
          <a:prstGeom prst="rect">
            <a:avLst/>
          </a:prstGeom>
          <a:solidFill>
            <a:srgbClr val="19589F"/>
          </a:solidFill>
          <a:ln w="12700" cap="flat" cmpd="sng" algn="ctr">
            <a:noFill/>
            <a:prstDash val="dash"/>
          </a:ln>
        </p:spPr>
        <p:txBody>
          <a:bodyPr rtlCol="0" anchor="ctr"/>
          <a:lstStyle/>
          <a:p>
            <a:pPr algn="ctr"/>
            <a:endParaRPr lang="zh-CN" altLang="en-US" sz="1867" b="1" kern="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1469199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8" r:id="rId5"/>
  </p:sldLayoutIdLst>
  <p:transition/>
  <p:hf hdr="0" ftr="0" dt="0"/>
  <p:txStyles>
    <p:titleStyle>
      <a:lvl1pPr algn="l" rtl="0" eaLnBrk="1" fontAlgn="base" hangingPunct="1">
        <a:spcBef>
          <a:spcPct val="0"/>
        </a:spcBef>
        <a:spcAft>
          <a:spcPct val="0"/>
        </a:spcAft>
        <a:defRPr sz="2667"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2pPr>
      <a:lvl3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3pPr>
      <a:lvl4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4pPr>
      <a:lvl5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5pPr>
      <a:lvl6pPr marL="609585"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6pPr>
      <a:lvl7pPr marL="1219170"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7pPr>
      <a:lvl8pPr marL="1828754"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8pPr>
      <a:lvl9pPr marL="2438339"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9pPr>
    </p:titleStyle>
    <p:bodyStyle>
      <a:lvl1pPr marL="457189" indent="-457189" algn="l" rtl="0" eaLnBrk="1" fontAlgn="base" hangingPunct="1">
        <a:lnSpc>
          <a:spcPct val="150000"/>
        </a:lnSpc>
        <a:spcBef>
          <a:spcPct val="0"/>
        </a:spcBef>
        <a:spcAft>
          <a:spcPct val="0"/>
        </a:spcAft>
        <a:defRPr sz="2400" b="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990575" indent="-380990" algn="l" rtl="0" eaLnBrk="1" fontAlgn="base" hangingPunct="1">
        <a:lnSpc>
          <a:spcPct val="120000"/>
        </a:lnSpc>
        <a:spcBef>
          <a:spcPct val="50000"/>
        </a:spcBef>
        <a:spcAft>
          <a:spcPct val="0"/>
        </a:spcAft>
        <a:defRPr sz="2133">
          <a:solidFill>
            <a:schemeClr val="tx1">
              <a:lumMod val="85000"/>
              <a:lumOff val="15000"/>
            </a:schemeClr>
          </a:solidFill>
          <a:latin typeface="微软雅黑" panose="020B0503020204020204" pitchFamily="34" charset="-122"/>
          <a:ea typeface="微软雅黑" panose="020B0503020204020204" pitchFamily="34" charset="-122"/>
        </a:defRPr>
      </a:lvl2pPr>
      <a:lvl3pPr marL="1523962" indent="-304792" algn="l" rtl="0" eaLnBrk="1" fontAlgn="base" hangingPunct="1">
        <a:lnSpc>
          <a:spcPct val="120000"/>
        </a:lnSpc>
        <a:spcBef>
          <a:spcPct val="50000"/>
        </a:spcBef>
        <a:spcAft>
          <a:spcPct val="0"/>
        </a:spcAft>
        <a:defRPr sz="1867">
          <a:solidFill>
            <a:schemeClr val="tx1">
              <a:lumMod val="85000"/>
              <a:lumOff val="15000"/>
            </a:schemeClr>
          </a:solidFill>
          <a:latin typeface="微软雅黑" panose="020B0503020204020204" pitchFamily="34" charset="-122"/>
          <a:ea typeface="微软雅黑" panose="020B0503020204020204" pitchFamily="34" charset="-122"/>
        </a:defRPr>
      </a:lvl3pPr>
      <a:lvl4pPr marL="2133547" indent="-304792" algn="l" rtl="0" eaLnBrk="1" fontAlgn="base" hangingPunct="1">
        <a:lnSpc>
          <a:spcPct val="120000"/>
        </a:lnSpc>
        <a:spcBef>
          <a:spcPct val="50000"/>
        </a:spcBef>
        <a:spcAft>
          <a:spcPct val="0"/>
        </a:spcAft>
        <a:defRPr sz="1600">
          <a:solidFill>
            <a:schemeClr val="tx1">
              <a:lumMod val="85000"/>
              <a:lumOff val="15000"/>
            </a:schemeClr>
          </a:solidFill>
          <a:latin typeface="微软雅黑" panose="020B0503020204020204" pitchFamily="34" charset="-122"/>
          <a:ea typeface="微软雅黑" panose="020B0503020204020204" pitchFamily="34" charset="-122"/>
        </a:defRPr>
      </a:lvl4pPr>
      <a:lvl5pPr marL="2743131" indent="-304792" algn="l" rtl="0" eaLnBrk="1" fontAlgn="base" hangingPunct="1">
        <a:lnSpc>
          <a:spcPct val="120000"/>
        </a:lnSpc>
        <a:spcBef>
          <a:spcPct val="20000"/>
        </a:spcBef>
        <a:spcAft>
          <a:spcPct val="0"/>
        </a:spcAft>
        <a:defRPr sz="1467">
          <a:solidFill>
            <a:schemeClr val="tx1">
              <a:lumMod val="85000"/>
              <a:lumOff val="15000"/>
            </a:schemeClr>
          </a:solidFill>
          <a:latin typeface="微软雅黑" panose="020B0503020204020204" pitchFamily="34" charset="-122"/>
          <a:ea typeface="微软雅黑" panose="020B0503020204020204" pitchFamily="34" charset="-122"/>
        </a:defRPr>
      </a:lvl5pPr>
      <a:lvl6pPr marL="3352716" indent="-304792" algn="l" rtl="0" eaLnBrk="1" fontAlgn="base" hangingPunct="1">
        <a:lnSpc>
          <a:spcPct val="120000"/>
        </a:lnSpc>
        <a:spcBef>
          <a:spcPct val="20000"/>
        </a:spcBef>
        <a:spcAft>
          <a:spcPct val="0"/>
        </a:spcAft>
        <a:defRPr sz="1600">
          <a:solidFill>
            <a:schemeClr val="tx1"/>
          </a:solidFill>
          <a:latin typeface="+mj-lt"/>
          <a:ea typeface="+mn-ea"/>
        </a:defRPr>
      </a:lvl6pPr>
      <a:lvl7pPr marL="3962301" indent="-304792" algn="l" rtl="0" eaLnBrk="1" fontAlgn="base" hangingPunct="1">
        <a:lnSpc>
          <a:spcPct val="120000"/>
        </a:lnSpc>
        <a:spcBef>
          <a:spcPct val="20000"/>
        </a:spcBef>
        <a:spcAft>
          <a:spcPct val="0"/>
        </a:spcAft>
        <a:defRPr sz="1600">
          <a:solidFill>
            <a:schemeClr val="tx1"/>
          </a:solidFill>
          <a:latin typeface="+mj-lt"/>
          <a:ea typeface="+mn-ea"/>
        </a:defRPr>
      </a:lvl7pPr>
      <a:lvl8pPr marL="4571886" indent="-304792" algn="l" rtl="0" eaLnBrk="1" fontAlgn="base" hangingPunct="1">
        <a:lnSpc>
          <a:spcPct val="120000"/>
        </a:lnSpc>
        <a:spcBef>
          <a:spcPct val="20000"/>
        </a:spcBef>
        <a:spcAft>
          <a:spcPct val="0"/>
        </a:spcAft>
        <a:defRPr sz="1600">
          <a:solidFill>
            <a:schemeClr val="tx1"/>
          </a:solidFill>
          <a:latin typeface="+mj-lt"/>
          <a:ea typeface="+mn-ea"/>
        </a:defRPr>
      </a:lvl8pPr>
      <a:lvl9pPr marL="5181470" indent="-304792" algn="l" rtl="0" eaLnBrk="1" fontAlgn="base" hangingPunct="1">
        <a:lnSpc>
          <a:spcPct val="120000"/>
        </a:lnSpc>
        <a:spcBef>
          <a:spcPct val="20000"/>
        </a:spcBef>
        <a:spcAft>
          <a:spcPct val="0"/>
        </a:spcAft>
        <a:defRPr sz="1600">
          <a:solidFill>
            <a:schemeClr val="tx1"/>
          </a:solidFill>
          <a:latin typeface="+mj-lt"/>
          <a:ea typeface="+mn-ea"/>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 name="图片 3" descr="VCG21gic15681475.jpg"/>
          <p:cNvPicPr>
            <a:picLocks noChangeAspect="1"/>
          </p:cNvPicPr>
          <p:nvPr/>
        </p:nvPicPr>
        <p:blipFill rotWithShape="1">
          <a:blip r:embed="rId2" cstate="print">
            <a:alphaModFix/>
            <a:extLst>
              <a:ext uri="{28A0092B-C50C-407E-A947-70E740481C1C}">
                <a14:useLocalDpi xmlns:a14="http://schemas.microsoft.com/office/drawing/2010/main"/>
              </a:ext>
            </a:extLst>
          </a:blip>
          <a:srcRect/>
          <a:stretch/>
        </p:blipFill>
        <p:spPr>
          <a:xfrm>
            <a:off x="-1" y="0"/>
            <a:ext cx="12180009" cy="6858000"/>
          </a:xfrm>
          <a:prstGeom prst="rect">
            <a:avLst/>
          </a:prstGeom>
        </p:spPr>
      </p:pic>
      <p:sp>
        <p:nvSpPr>
          <p:cNvPr id="5" name="Rectangle 15"/>
          <p:cNvSpPr>
            <a:spLocks noChangeArrowheads="1"/>
          </p:cNvSpPr>
          <p:nvPr/>
        </p:nvSpPr>
        <p:spPr bwMode="auto">
          <a:xfrm>
            <a:off x="1441622" y="3621022"/>
            <a:ext cx="10750377" cy="1344181"/>
          </a:xfrm>
          <a:prstGeom prst="rect">
            <a:avLst/>
          </a:prstGeom>
          <a:solidFill>
            <a:srgbClr val="C00000">
              <a:alpha val="72000"/>
            </a:srgbClr>
          </a:solidFill>
          <a:ln>
            <a:noFill/>
          </a:ln>
        </p:spPr>
        <p:txBody>
          <a:bodyPr vert="horz" wrap="square" lIns="121920" tIns="60960" rIns="121920" bIns="60960" numCol="1" anchor="ctr" anchorCtr="1" compatLnSpc="1">
            <a:prstTxWarp prst="textNoShape">
              <a:avLst/>
            </a:prstTxWarp>
          </a:bodyPr>
          <a:lstStyle/>
          <a:p>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518851" y="3507867"/>
            <a:ext cx="10349299" cy="2036648"/>
          </a:xfrm>
          <a:prstGeom prst="rect">
            <a:avLst/>
          </a:prstGeom>
          <a:noFill/>
        </p:spPr>
        <p:txBody>
          <a:bodyPr wrap="square" rtlCol="0">
            <a:spAutoFit/>
          </a:bodyPr>
          <a:lstStyle/>
          <a:p>
            <a:pPr>
              <a:lnSpc>
                <a:spcPct val="150000"/>
              </a:lnSpc>
            </a:pPr>
            <a:r>
              <a:rPr lang="zh-CN" altLang="en-US" sz="3200" b="1" dirty="0">
                <a:solidFill>
                  <a:schemeClr val="bg1"/>
                </a:solidFill>
                <a:latin typeface="微软雅黑" panose="020B0503020204020204" pitchFamily="34" charset="-122"/>
                <a:ea typeface="微软雅黑" panose="020B0503020204020204" pitchFamily="34" charset="-122"/>
              </a:rPr>
              <a:t>定制化产品线</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计算产品开发部</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转正答辩</a:t>
            </a:r>
            <a:endParaRPr lang="en-US" altLang="zh-CN" sz="3200" b="1"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   祝明杰</a:t>
            </a:r>
            <a:r>
              <a:rPr lang="en-US" altLang="zh-CN" sz="2400" b="1" dirty="0">
                <a:solidFill>
                  <a:schemeClr val="bg1"/>
                </a:solidFill>
                <a:latin typeface="微软雅黑" panose="020B0503020204020204" pitchFamily="34" charset="-122"/>
                <a:ea typeface="微软雅黑" panose="020B0503020204020204" pitchFamily="34" charset="-122"/>
              </a:rPr>
              <a:t>-2026/01/20</a:t>
            </a:r>
          </a:p>
          <a:p>
            <a:pPr>
              <a:lnSpc>
                <a:spcPct val="150000"/>
              </a:lnSpc>
            </a:pPr>
            <a:r>
              <a:rPr lang="en-US" altLang="zh-CN" sz="3200" b="1" dirty="0">
                <a:solidFill>
                  <a:schemeClr val="bg1"/>
                </a:solidFill>
                <a:latin typeface="微软雅黑" panose="020B0503020204020204" pitchFamily="34" charset="-122"/>
                <a:ea typeface="微软雅黑" panose="020B0503020204020204" pitchFamily="34" charset="-122"/>
              </a:rPr>
              <a:t>							</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1292519" y="3620697"/>
            <a:ext cx="60959" cy="1344000"/>
          </a:xfrm>
          <a:prstGeom prst="rect">
            <a:avLst/>
          </a:prstGeom>
          <a:solidFill>
            <a:srgbClr val="C00000">
              <a:alpha val="73000"/>
            </a:srgbClr>
          </a:solidFill>
          <a:ln>
            <a:noFill/>
          </a:ln>
        </p:spPr>
        <p:txBody>
          <a:bodyPr vert="horz" wrap="square" lIns="121920" tIns="60960" rIns="121920" bIns="60960" numCol="1" anchor="ctr" anchorCtr="1" compatLnSpc="1">
            <a:prstTxWarp prst="textNoShape">
              <a:avLst/>
            </a:prstTxWarp>
          </a:bodyPr>
          <a:lstStyle/>
          <a:p>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1216415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430887" y="1388986"/>
            <a:ext cx="1210588" cy="614592"/>
          </a:xfrm>
          <a:prstGeom prst="rect">
            <a:avLst/>
          </a:prstGeom>
        </p:spPr>
        <p:txBody>
          <a:bodyPr wrap="none">
            <a:spAutoFit/>
          </a:bodyPr>
          <a:lstStyle/>
          <a:p>
            <a:pPr>
              <a:lnSpc>
                <a:spcPct val="200000"/>
              </a:lnSpc>
            </a:pPr>
            <a:r>
              <a:rPr lang="zh-CN" altLang="en-US" sz="2000" b="1" dirty="0">
                <a:solidFill>
                  <a:srgbClr val="4371C8"/>
                </a:solidFill>
              </a:rPr>
              <a:t>个人介绍</a:t>
            </a:r>
            <a:endParaRPr lang="en-US" altLang="zh-CN" sz="2000" b="1" dirty="0">
              <a:solidFill>
                <a:srgbClr val="4371C8"/>
              </a:solidFill>
            </a:endParaRPr>
          </a:p>
        </p:txBody>
      </p:sp>
      <p:sp>
        <p:nvSpPr>
          <p:cNvPr id="17" name="矩形 16"/>
          <p:cNvSpPr/>
          <p:nvPr/>
        </p:nvSpPr>
        <p:spPr>
          <a:xfrm>
            <a:off x="4430887" y="2206732"/>
            <a:ext cx="1292341" cy="614592"/>
          </a:xfrm>
          <a:prstGeom prst="rect">
            <a:avLst/>
          </a:prstGeom>
        </p:spPr>
        <p:txBody>
          <a:bodyPr wrap="none">
            <a:spAutoFit/>
          </a:bodyPr>
          <a:lstStyle/>
          <a:p>
            <a:pPr>
              <a:lnSpc>
                <a:spcPct val="200000"/>
              </a:lnSpc>
            </a:pPr>
            <a:r>
              <a:rPr lang="zh-CN" altLang="en-US" sz="2000" b="1" dirty="0">
                <a:solidFill>
                  <a:srgbClr val="2F66C2"/>
                </a:solidFill>
              </a:rPr>
              <a:t>工作内容 </a:t>
            </a:r>
            <a:endParaRPr lang="en-US" altLang="zh-CN" sz="2000" b="1" dirty="0">
              <a:solidFill>
                <a:srgbClr val="2F66C2"/>
              </a:solidFill>
            </a:endParaRPr>
          </a:p>
        </p:txBody>
      </p:sp>
      <p:sp>
        <p:nvSpPr>
          <p:cNvPr id="19" name="矩形 18"/>
          <p:cNvSpPr/>
          <p:nvPr/>
        </p:nvSpPr>
        <p:spPr>
          <a:xfrm>
            <a:off x="4430887" y="3093512"/>
            <a:ext cx="1210588" cy="614592"/>
          </a:xfrm>
          <a:prstGeom prst="rect">
            <a:avLst/>
          </a:prstGeom>
        </p:spPr>
        <p:txBody>
          <a:bodyPr wrap="none">
            <a:spAutoFit/>
          </a:bodyPr>
          <a:lstStyle/>
          <a:p>
            <a:pPr>
              <a:lnSpc>
                <a:spcPct val="200000"/>
              </a:lnSpc>
            </a:pPr>
            <a:r>
              <a:rPr lang="zh-CN" altLang="en-US" sz="2000" b="1" dirty="0">
                <a:solidFill>
                  <a:srgbClr val="2F66C2"/>
                </a:solidFill>
              </a:rPr>
              <a:t>未来规划</a:t>
            </a:r>
            <a:endParaRPr lang="en-US" altLang="zh-CN" sz="2000" b="1" dirty="0">
              <a:solidFill>
                <a:srgbClr val="2F66C2"/>
              </a:solidFill>
            </a:endParaRPr>
          </a:p>
        </p:txBody>
      </p:sp>
      <p:pic>
        <p:nvPicPr>
          <p:cNvPr id="22" name="图片 21"/>
          <p:cNvPicPr>
            <a:picLocks noChangeAspect="1"/>
          </p:cNvPicPr>
          <p:nvPr/>
        </p:nvPicPr>
        <p:blipFill rotWithShape="1">
          <a:blip r:embed="rId2"/>
          <a:srcRect l="20130" t="11098" r="11745" b="11474"/>
          <a:stretch/>
        </p:blipFill>
        <p:spPr>
          <a:xfrm>
            <a:off x="1619250" y="1519455"/>
            <a:ext cx="1628775" cy="1871359"/>
          </a:xfrm>
          <a:prstGeom prst="rect">
            <a:avLst/>
          </a:prstGeom>
        </p:spPr>
      </p:pic>
      <p:pic>
        <p:nvPicPr>
          <p:cNvPr id="23" name="图片 22"/>
          <p:cNvPicPr>
            <a:picLocks noChangeAspect="1"/>
          </p:cNvPicPr>
          <p:nvPr/>
        </p:nvPicPr>
        <p:blipFill rotWithShape="1">
          <a:blip r:embed="rId3"/>
          <a:srcRect l="13631" t="10525" r="15906" b="14465"/>
          <a:stretch/>
        </p:blipFill>
        <p:spPr>
          <a:xfrm>
            <a:off x="3850403" y="1623296"/>
            <a:ext cx="377056" cy="364892"/>
          </a:xfrm>
          <a:prstGeom prst="rect">
            <a:avLst/>
          </a:prstGeom>
        </p:spPr>
      </p:pic>
      <p:pic>
        <p:nvPicPr>
          <p:cNvPr id="24" name="图片 23"/>
          <p:cNvPicPr>
            <a:picLocks noChangeAspect="1"/>
          </p:cNvPicPr>
          <p:nvPr/>
        </p:nvPicPr>
        <p:blipFill>
          <a:blip r:embed="rId4"/>
          <a:stretch>
            <a:fillRect/>
          </a:stretch>
        </p:blipFill>
        <p:spPr>
          <a:xfrm>
            <a:off x="3850403" y="2430587"/>
            <a:ext cx="377056" cy="377056"/>
          </a:xfrm>
          <a:prstGeom prst="rect">
            <a:avLst/>
          </a:prstGeom>
        </p:spPr>
      </p:pic>
      <p:pic>
        <p:nvPicPr>
          <p:cNvPr id="25" name="图片 24"/>
          <p:cNvPicPr>
            <a:picLocks noChangeAspect="1"/>
          </p:cNvPicPr>
          <p:nvPr/>
        </p:nvPicPr>
        <p:blipFill>
          <a:blip r:embed="rId5"/>
          <a:stretch>
            <a:fillRect/>
          </a:stretch>
        </p:blipFill>
        <p:spPr>
          <a:xfrm>
            <a:off x="3850403" y="3317053"/>
            <a:ext cx="377056" cy="367398"/>
          </a:xfrm>
          <a:prstGeom prst="rect">
            <a:avLst/>
          </a:prstGeom>
        </p:spPr>
      </p:pic>
    </p:spTree>
    <p:extLst>
      <p:ext uri="{BB962C8B-B14F-4D97-AF65-F5344CB8AC3E}">
        <p14:creationId xmlns:p14="http://schemas.microsoft.com/office/powerpoint/2010/main" val="40945443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4016149" y="2688026"/>
            <a:ext cx="4965629"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个人介绍</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13"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01</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4" name="组合 25"/>
          <p:cNvGrpSpPr/>
          <p:nvPr/>
        </p:nvGrpSpPr>
        <p:grpSpPr>
          <a:xfrm>
            <a:off x="1679510" y="2652356"/>
            <a:ext cx="1400077" cy="1400155"/>
            <a:chOff x="304800" y="673100"/>
            <a:chExt cx="4000500" cy="4000500"/>
          </a:xfrm>
          <a:solidFill>
            <a:srgbClr val="E60012"/>
          </a:solidFill>
          <a:effectLst/>
        </p:grpSpPr>
        <p:sp>
          <p:nvSpPr>
            <p:cNvPr id="15" name="同心圆 1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椭圆 15"/>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7" name="TextBox 13"/>
          <p:cNvSpPr txBox="1"/>
          <p:nvPr/>
        </p:nvSpPr>
        <p:spPr>
          <a:xfrm>
            <a:off x="1648952" y="2983101"/>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9673339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fontAlgn="auto">
              <a:lnSpc>
                <a:spcPct val="90000"/>
              </a:lnSpc>
              <a:spcAft>
                <a:spcPts val="0"/>
              </a:spcAft>
              <a:defRPr/>
            </a:pPr>
            <a:r>
              <a:rPr lang="zh-CN" altLang="en-US" sz="2400" kern="1200" dirty="0">
                <a:solidFill>
                  <a:prstClr val="black"/>
                </a:solidFill>
                <a:latin typeface="微软雅黑"/>
                <a:ea typeface="微软雅黑"/>
              </a:rPr>
              <a:t>个人介绍</a:t>
            </a:r>
          </a:p>
        </p:txBody>
      </p:sp>
      <p:sp>
        <p:nvSpPr>
          <p:cNvPr id="2" name="内容占位符 1"/>
          <p:cNvSpPr>
            <a:spLocks noGrp="1"/>
          </p:cNvSpPr>
          <p:nvPr>
            <p:ph idx="1"/>
          </p:nvPr>
        </p:nvSpPr>
        <p:spPr>
          <a:xfrm>
            <a:off x="609810" y="1221829"/>
            <a:ext cx="11118364" cy="4484788"/>
          </a:xfrm>
        </p:spPr>
        <p:txBody>
          <a:bodyPr/>
          <a:lstStyle/>
          <a:p>
            <a:r>
              <a:rPr lang="zh-CN" altLang="en-US" sz="1600" kern="1200" dirty="0">
                <a:solidFill>
                  <a:prstClr val="black"/>
                </a:solidFill>
              </a:rPr>
              <a:t>姓名：祝明杰		</a:t>
            </a:r>
          </a:p>
          <a:p>
            <a:r>
              <a:rPr lang="zh-CN" altLang="en-US" sz="1600" kern="1200" dirty="0">
                <a:solidFill>
                  <a:prstClr val="black"/>
                </a:solidFill>
              </a:rPr>
              <a:t>工号：</a:t>
            </a:r>
            <a:r>
              <a:rPr lang="en-US" altLang="zh-CN" sz="1600" kern="1200" dirty="0">
                <a:solidFill>
                  <a:prstClr val="black"/>
                </a:solidFill>
              </a:rPr>
              <a:t>02665</a:t>
            </a:r>
          </a:p>
          <a:p>
            <a:r>
              <a:rPr lang="zh-CN" altLang="en-US" sz="1600" kern="1200" dirty="0">
                <a:solidFill>
                  <a:prstClr val="black"/>
                </a:solidFill>
              </a:rPr>
              <a:t>入职时间：</a:t>
            </a:r>
            <a:r>
              <a:rPr lang="en-US" altLang="zh-CN" sz="1600" kern="1200" dirty="0">
                <a:solidFill>
                  <a:prstClr val="black"/>
                </a:solidFill>
              </a:rPr>
              <a:t>2025/10/18</a:t>
            </a:r>
          </a:p>
          <a:p>
            <a:r>
              <a:rPr lang="zh-CN" altLang="en-US" sz="1600" kern="1200" dirty="0">
                <a:solidFill>
                  <a:prstClr val="black"/>
                </a:solidFill>
              </a:rPr>
              <a:t>入职部门：定制化产品线</a:t>
            </a:r>
            <a:r>
              <a:rPr lang="en-US" altLang="zh-CN" sz="1600" kern="1200" dirty="0">
                <a:solidFill>
                  <a:prstClr val="black"/>
                </a:solidFill>
              </a:rPr>
              <a:t>/</a:t>
            </a:r>
            <a:r>
              <a:rPr lang="zh-CN" altLang="en-US" sz="1600" kern="1200" dirty="0">
                <a:solidFill>
                  <a:prstClr val="black"/>
                </a:solidFill>
              </a:rPr>
              <a:t>计算产品开发部</a:t>
            </a:r>
          </a:p>
        </p:txBody>
      </p:sp>
      <p:sp>
        <p:nvSpPr>
          <p:cNvPr id="4" name="文本框 3"/>
          <p:cNvSpPr txBox="1"/>
          <p:nvPr/>
        </p:nvSpPr>
        <p:spPr>
          <a:xfrm>
            <a:off x="609810" y="2751561"/>
            <a:ext cx="11118364" cy="2264851"/>
          </a:xfrm>
          <a:prstGeom prst="rect">
            <a:avLst/>
          </a:prstGeom>
          <a:noFill/>
          <a:ln w="3175">
            <a:solidFill>
              <a:schemeClr val="bg1"/>
            </a:solidFill>
          </a:ln>
        </p:spPr>
        <p:txBody>
          <a:bodyPr wrap="square" rtlCol="0">
            <a:spAutoFit/>
          </a:bodyPr>
          <a:lstStyle/>
          <a:p>
            <a:pPr marL="457189" indent="-457189" fontAlgn="base">
              <a:lnSpc>
                <a:spcPct val="150000"/>
              </a:lnSpc>
              <a:spcBef>
                <a:spcPct val="0"/>
              </a:spcBef>
              <a:spcAft>
                <a:spcPct val="0"/>
              </a:spcAft>
              <a:buFont typeface="Wingdings" panose="05000000000000000000" pitchFamily="2" charset="2"/>
              <a:buChar char="n"/>
            </a:pPr>
            <a:r>
              <a:rPr lang="zh-CN" altLang="en-US" sz="1600" dirty="0">
                <a:solidFill>
                  <a:prstClr val="black"/>
                </a:solidFill>
                <a:latin typeface="微软雅黑" panose="020B0503020204020204" pitchFamily="34" charset="-122"/>
                <a:ea typeface="微软雅黑" panose="020B0503020204020204" pitchFamily="34" charset="-122"/>
              </a:rPr>
              <a:t>个人优势</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工作认真，勤奋努力，敢于尝试，认真请教同事</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沟通能力较好，遇见难题主动想办法解决</a:t>
            </a:r>
          </a:p>
          <a:p>
            <a:pPr marL="457189" indent="-457189" fontAlgn="base">
              <a:lnSpc>
                <a:spcPct val="150000"/>
              </a:lnSpc>
              <a:spcBef>
                <a:spcPct val="0"/>
              </a:spcBef>
              <a:spcAft>
                <a:spcPct val="0"/>
              </a:spcAft>
              <a:buFont typeface="Wingdings" panose="05000000000000000000" pitchFamily="2" charset="2"/>
              <a:buChar char="n"/>
            </a:pPr>
            <a:r>
              <a:rPr lang="zh-CN" altLang="en-US" sz="1600" dirty="0">
                <a:solidFill>
                  <a:prstClr val="black"/>
                </a:solidFill>
                <a:latin typeface="微软雅黑" panose="020B0503020204020204" pitchFamily="34" charset="-122"/>
                <a:ea typeface="微软雅黑" panose="020B0503020204020204" pitchFamily="34" charset="-122"/>
              </a:rPr>
              <a:t>个人劣势</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没有大型项目的</a:t>
            </a:r>
            <a:r>
              <a:rPr lang="zh-CN" altLang="en-US" sz="1600" b="1" dirty="0">
                <a:solidFill>
                  <a:prstClr val="black"/>
                </a:solidFill>
                <a:latin typeface="微软雅黑" panose="020B0503020204020204" pitchFamily="34" charset="-122"/>
                <a:ea typeface="微软雅黑" panose="020B0503020204020204" pitchFamily="34" charset="-122"/>
              </a:rPr>
              <a:t>逻辑架构设计经验</a:t>
            </a:r>
            <a:r>
              <a:rPr lang="zh-CN" altLang="en-US" sz="1600" dirty="0">
                <a:solidFill>
                  <a:prstClr val="black"/>
                </a:solidFill>
                <a:latin typeface="微软雅黑" panose="020B0503020204020204" pitchFamily="34" charset="-122"/>
                <a:ea typeface="微软雅黑" panose="020B0503020204020204" pitchFamily="34" charset="-122"/>
              </a:rPr>
              <a:t>，逻辑开发经验不足</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没有高速接口的</a:t>
            </a:r>
            <a:r>
              <a:rPr lang="en-US" altLang="zh-CN" sz="1600" dirty="0">
                <a:solidFill>
                  <a:prstClr val="black"/>
                </a:solidFill>
                <a:latin typeface="微软雅黑" panose="020B0503020204020204" pitchFamily="34" charset="-122"/>
                <a:ea typeface="微软雅黑" panose="020B0503020204020204" pitchFamily="34" charset="-122"/>
              </a:rPr>
              <a:t>IP</a:t>
            </a:r>
            <a:r>
              <a:rPr lang="zh-CN" altLang="en-US" sz="1600" dirty="0">
                <a:solidFill>
                  <a:prstClr val="black"/>
                </a:solidFill>
                <a:latin typeface="微软雅黑" panose="020B0503020204020204" pitchFamily="34" charset="-122"/>
                <a:ea typeface="微软雅黑" panose="020B0503020204020204" pitchFamily="34" charset="-122"/>
              </a:rPr>
              <a:t>设计经验，且当前部门无相关逻辑公共模块和公共</a:t>
            </a:r>
            <a:r>
              <a:rPr lang="en-US" altLang="zh-CN" sz="1600" dirty="0">
                <a:solidFill>
                  <a:prstClr val="black"/>
                </a:solidFill>
                <a:latin typeface="微软雅黑" panose="020B0503020204020204" pitchFamily="34" charset="-122"/>
                <a:ea typeface="微软雅黑" panose="020B0503020204020204" pitchFamily="34" charset="-122"/>
              </a:rPr>
              <a:t>IP</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98824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3868103" y="2689526"/>
            <a:ext cx="3916497"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工作内容</a:t>
            </a: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02</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79510" y="2652356"/>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2" y="2983101"/>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4109198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概述</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2" name="矩形 11"/>
          <p:cNvSpPr/>
          <p:nvPr/>
        </p:nvSpPr>
        <p:spPr>
          <a:xfrm>
            <a:off x="106373" y="1180372"/>
            <a:ext cx="11979254" cy="4373120"/>
          </a:xfrm>
          <a:prstGeom prst="rect">
            <a:avLst/>
          </a:prstGeom>
        </p:spPr>
        <p:txBody>
          <a:bodyPr wrap="square">
            <a:spAutoFit/>
          </a:bodyPr>
          <a:lstStyle/>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完成硬件工程师上岗考试，完成公司新人入职培训</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了解部门定制化服务器和卡类相关知识，熟悉负责项目的基本业务</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b="1" dirty="0">
                <a:solidFill>
                  <a:prstClr val="black"/>
                </a:solidFill>
                <a:latin typeface="微软雅黑" panose="020B0503020204020204" pitchFamily="34" charset="-122"/>
                <a:ea typeface="微软雅黑" panose="020B0503020204020204" pitchFamily="34" charset="-122"/>
              </a:rPr>
              <a:t>完成所属项目的</a:t>
            </a:r>
            <a:r>
              <a:rPr lang="en-US" altLang="zh-CN" sz="1600" b="1" dirty="0">
                <a:solidFill>
                  <a:prstClr val="black"/>
                </a:solidFill>
                <a:latin typeface="微软雅黑" panose="020B0503020204020204" pitchFamily="34" charset="-122"/>
                <a:ea typeface="微软雅黑" panose="020B0503020204020204" pitchFamily="34" charset="-122"/>
              </a:rPr>
              <a:t>CPLD</a:t>
            </a:r>
            <a:r>
              <a:rPr lang="zh-CN" altLang="en-US" sz="1600" b="1" dirty="0">
                <a:solidFill>
                  <a:prstClr val="black"/>
                </a:solidFill>
                <a:latin typeface="微软雅黑" panose="020B0503020204020204" pitchFamily="34" charset="-122"/>
                <a:ea typeface="微软雅黑" panose="020B0503020204020204" pitchFamily="34" charset="-122"/>
              </a:rPr>
              <a:t>逻辑开发和维护工作：</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参与开发与维护的项目：</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服务器：东湖一号、欧康诺、龙芯</a:t>
            </a:r>
            <a:r>
              <a:rPr lang="en-US" altLang="zh-CN" sz="1600" dirty="0">
                <a:solidFill>
                  <a:prstClr val="black"/>
                </a:solidFill>
                <a:latin typeface="微软雅黑" panose="020B0503020204020204" pitchFamily="34" charset="-122"/>
                <a:ea typeface="微软雅黑" panose="020B0503020204020204" pitchFamily="34" charset="-122"/>
              </a:rPr>
              <a:t>3E6000</a:t>
            </a:r>
            <a:r>
              <a:rPr lang="zh-CN" altLang="en-US" sz="1600" dirty="0">
                <a:solidFill>
                  <a:prstClr val="black"/>
                </a:solidFill>
                <a:latin typeface="微软雅黑" panose="020B0503020204020204" pitchFamily="34" charset="-122"/>
                <a:ea typeface="微软雅黑" panose="020B0503020204020204" pitchFamily="34" charset="-122"/>
              </a:rPr>
              <a:t>、希奥端、 铁塔</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飞腾</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卡类：异格</a:t>
            </a:r>
            <a:r>
              <a:rPr lang="en-US" altLang="zh-CN" sz="1600" dirty="0">
                <a:solidFill>
                  <a:prstClr val="black"/>
                </a:solidFill>
                <a:latin typeface="微软雅黑" panose="020B0503020204020204" pitchFamily="34" charset="-122"/>
                <a:ea typeface="微软雅黑" panose="020B0503020204020204" pitchFamily="34" charset="-122"/>
              </a:rPr>
              <a:t>FPGA</a:t>
            </a:r>
            <a:r>
              <a:rPr lang="zh-CN" altLang="en-US" sz="1600" dirty="0">
                <a:solidFill>
                  <a:prstClr val="black"/>
                </a:solidFill>
                <a:latin typeface="微软雅黑" panose="020B0503020204020204" pitchFamily="34" charset="-122"/>
                <a:ea typeface="微软雅黑" panose="020B0503020204020204" pitchFamily="34" charset="-122"/>
              </a:rPr>
              <a:t>加速卡（</a:t>
            </a:r>
            <a:r>
              <a:rPr lang="en-US" altLang="zh-CN" sz="1600" dirty="0">
                <a:solidFill>
                  <a:prstClr val="black"/>
                </a:solidFill>
                <a:latin typeface="微软雅黑" panose="020B0503020204020204" pitchFamily="34" charset="-122"/>
                <a:ea typeface="微软雅黑" panose="020B0503020204020204" pitchFamily="34" charset="-122"/>
              </a:rPr>
              <a:t>X16</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X8</a:t>
            </a:r>
            <a:r>
              <a:rPr lang="zh-CN" altLang="en-US" sz="1600" dirty="0">
                <a:solidFill>
                  <a:prstClr val="black"/>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PCIE</a:t>
            </a:r>
            <a:r>
              <a:rPr lang="zh-CN" altLang="en-US" sz="1600" dirty="0">
                <a:latin typeface="微软雅黑" panose="020B0503020204020204" pitchFamily="34" charset="-122"/>
                <a:ea typeface="微软雅黑" panose="020B0503020204020204" pitchFamily="34" charset="-122"/>
              </a:rPr>
              <a:t>卡类测试治具、</a:t>
            </a:r>
            <a:r>
              <a:rPr lang="en-US" altLang="zh-CN" sz="1600" dirty="0">
                <a:latin typeface="微软雅黑" panose="020B0503020204020204" pitchFamily="34" charset="-122"/>
                <a:ea typeface="微软雅黑" panose="020B0503020204020204" pitchFamily="34" charset="-122"/>
              </a:rPr>
              <a:t>OCP</a:t>
            </a:r>
            <a:r>
              <a:rPr lang="zh-CN" altLang="en-US" sz="1600" dirty="0">
                <a:latin typeface="微软雅黑" panose="020B0503020204020204" pitchFamily="34" charset="-122"/>
                <a:ea typeface="微软雅黑" panose="020B0503020204020204" pitchFamily="34" charset="-122"/>
              </a:rPr>
              <a:t>卡类测试治具</a:t>
            </a:r>
            <a:endParaRPr lang="en-US" altLang="zh-CN" sz="1600" dirty="0">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endParaRPr lang="en-US" altLang="zh-CN" sz="1600" dirty="0">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主要工作内容：</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理解项目的硬件总体设计方案和硬件架构；</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整理逻辑需求点和功能点，根据需求点完成逻辑总体方案；</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配合硬件工程师完成</a:t>
            </a:r>
            <a:r>
              <a:rPr lang="en-US" altLang="zh-CN" sz="1600" dirty="0">
                <a:solidFill>
                  <a:prstClr val="black"/>
                </a:solidFill>
                <a:latin typeface="微软雅黑" panose="020B0503020204020204" pitchFamily="34" charset="-122"/>
                <a:ea typeface="微软雅黑" panose="020B0503020204020204" pitchFamily="34" charset="-122"/>
              </a:rPr>
              <a:t>IO</a:t>
            </a:r>
            <a:r>
              <a:rPr lang="zh-CN" altLang="en-US" sz="1600" dirty="0">
                <a:solidFill>
                  <a:prstClr val="black"/>
                </a:solidFill>
                <a:latin typeface="微软雅黑" panose="020B0503020204020204" pitchFamily="34" charset="-122"/>
                <a:ea typeface="微软雅黑" panose="020B0503020204020204" pitchFamily="34" charset="-122"/>
              </a:rPr>
              <a:t>资源和逻辑资源的评估和</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的选型；</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完成逻辑</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代码编写、仿真、调试；</a:t>
            </a:r>
            <a:endPar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352414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67FC13-AE83-0D31-8133-BF00331292B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5B6710D7-1A3C-9C49-E367-73AFDE59579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lang="zh-CN" altLang="en-US" sz="2400" dirty="0">
                <a:solidFill>
                  <a:prstClr val="black"/>
                </a:solidFill>
                <a:latin typeface="微软雅黑"/>
                <a:ea typeface="微软雅黑"/>
              </a:rPr>
              <a:t>东湖一号</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硬件设计方案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pic>
        <p:nvPicPr>
          <p:cNvPr id="3" name="图片 2" descr="图示, 示意图&#10;&#10;AI 生成的内容可能不正确。">
            <a:extLst>
              <a:ext uri="{FF2B5EF4-FFF2-40B4-BE49-F238E27FC236}">
                <a16:creationId xmlns:a16="http://schemas.microsoft.com/office/drawing/2014/main" xmlns="" id="{071990E3-1218-34A2-BEFE-1F826A711DE7}"/>
              </a:ext>
            </a:extLst>
          </p:cNvPr>
          <p:cNvPicPr>
            <a:picLocks noChangeAspect="1"/>
          </p:cNvPicPr>
          <p:nvPr/>
        </p:nvPicPr>
        <p:blipFill>
          <a:blip r:embed="rId2"/>
          <a:stretch>
            <a:fillRect/>
          </a:stretch>
        </p:blipFill>
        <p:spPr>
          <a:xfrm>
            <a:off x="6265799" y="1571050"/>
            <a:ext cx="5829199" cy="4003717"/>
          </a:xfrm>
          <a:prstGeom prst="rect">
            <a:avLst/>
          </a:prstGeom>
        </p:spPr>
      </p:pic>
      <p:cxnSp>
        <p:nvCxnSpPr>
          <p:cNvPr id="5" name="直接连接符 4">
            <a:extLst>
              <a:ext uri="{FF2B5EF4-FFF2-40B4-BE49-F238E27FC236}">
                <a16:creationId xmlns:a16="http://schemas.microsoft.com/office/drawing/2014/main" xmlns="" id="{7BECF130-A785-D356-EA8A-F3280894CAC1}"/>
              </a:ext>
            </a:extLst>
          </p:cNvPr>
          <p:cNvCxnSpPr>
            <a:cxnSpLocks/>
          </p:cNvCxnSpPr>
          <p:nvPr/>
        </p:nvCxnSpPr>
        <p:spPr>
          <a:xfrm>
            <a:off x="6259654" y="1052103"/>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xmlns="" id="{50131B96-1067-AAC2-2D75-9FD20C3217AA}"/>
              </a:ext>
            </a:extLst>
          </p:cNvPr>
          <p:cNvSpPr/>
          <p:nvPr/>
        </p:nvSpPr>
        <p:spPr>
          <a:xfrm>
            <a:off x="34183" y="1188380"/>
            <a:ext cx="6207057" cy="4873835"/>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、计算存储</a:t>
            </a:r>
            <a:r>
              <a:rPr lang="zh-CN" altLang="en-US" sz="1200" dirty="0">
                <a:solidFill>
                  <a:prstClr val="black"/>
                </a:solidFill>
                <a:latin typeface="微软雅黑" panose="020B0503020204020204" pitchFamily="34" charset="-122"/>
                <a:ea typeface="微软雅黑" panose="020B0503020204020204" pitchFamily="34" charset="-122"/>
              </a:rPr>
              <a:t>：双</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架构，</a:t>
            </a:r>
            <a:r>
              <a:rPr lang="en-US" altLang="zh-CN" sz="1200" dirty="0"/>
              <a:t> </a:t>
            </a:r>
            <a:r>
              <a:rPr lang="en-US" altLang="zh-CN" sz="1200" dirty="0">
                <a:solidFill>
                  <a:prstClr val="black"/>
                </a:solidFill>
                <a:latin typeface="微软雅黑" panose="020B0503020204020204" pitchFamily="34" charset="-122"/>
                <a:ea typeface="微软雅黑" panose="020B0503020204020204" pitchFamily="34" charset="-122"/>
              </a:rPr>
              <a:t>CPU0 </a:t>
            </a:r>
            <a:r>
              <a:rPr lang="zh-CN" altLang="en-US" sz="1200" dirty="0">
                <a:solidFill>
                  <a:prstClr val="black"/>
                </a:solidFill>
                <a:latin typeface="微软雅黑" panose="020B0503020204020204" pitchFamily="34" charset="-122"/>
                <a:ea typeface="微软雅黑" panose="020B0503020204020204" pitchFamily="34" charset="-122"/>
              </a:rPr>
              <a:t>和 </a:t>
            </a:r>
            <a:r>
              <a:rPr lang="en-US" altLang="zh-CN" sz="1200" dirty="0">
                <a:solidFill>
                  <a:prstClr val="black"/>
                </a:solidFill>
                <a:latin typeface="微软雅黑" panose="020B0503020204020204" pitchFamily="34" charset="-122"/>
                <a:ea typeface="微软雅黑" panose="020B0503020204020204" pitchFamily="34" charset="-122"/>
              </a:rPr>
              <a:t>CPU1 </a:t>
            </a:r>
            <a:r>
              <a:rPr lang="zh-CN" altLang="en-US" sz="1200" dirty="0">
                <a:solidFill>
                  <a:prstClr val="black"/>
                </a:solidFill>
                <a:latin typeface="微软雅黑" panose="020B0503020204020204" pitchFamily="34" charset="-122"/>
                <a:ea typeface="微软雅黑" panose="020B0503020204020204" pitchFamily="34" charset="-122"/>
              </a:rPr>
              <a:t>均支持 </a:t>
            </a:r>
            <a:r>
              <a:rPr lang="en-US" altLang="zh-CN" sz="1200" dirty="0">
                <a:solidFill>
                  <a:prstClr val="black"/>
                </a:solidFill>
                <a:latin typeface="微软雅黑" panose="020B0503020204020204" pitchFamily="34" charset="-122"/>
                <a:ea typeface="微软雅黑" panose="020B0503020204020204" pitchFamily="34" charset="-122"/>
              </a:rPr>
              <a:t>12 </a:t>
            </a:r>
            <a:r>
              <a:rPr lang="zh-CN" altLang="en-US" sz="1200" dirty="0">
                <a:solidFill>
                  <a:prstClr val="black"/>
                </a:solidFill>
                <a:latin typeface="微软雅黑" panose="020B0503020204020204" pitchFamily="34" charset="-122"/>
                <a:ea typeface="微软雅黑" panose="020B0503020204020204" pitchFamily="34" charset="-122"/>
              </a:rPr>
              <a:t>个内存通道（</a:t>
            </a:r>
            <a:r>
              <a:rPr lang="en-US" altLang="zh-CN" sz="1200" dirty="0">
                <a:solidFill>
                  <a:prstClr val="black"/>
                </a:solidFill>
                <a:latin typeface="微软雅黑" panose="020B0503020204020204" pitchFamily="34" charset="-122"/>
                <a:ea typeface="微软雅黑" panose="020B0503020204020204" pitchFamily="34" charset="-122"/>
              </a:rPr>
              <a:t>CHA-CHL</a:t>
            </a:r>
            <a:r>
              <a:rPr lang="zh-CN" altLang="en-US" sz="1200" dirty="0">
                <a:solidFill>
                  <a:prstClr val="black"/>
                </a:solidFill>
                <a:latin typeface="微软雅黑" panose="020B0503020204020204" pitchFamily="34" charset="-122"/>
                <a:ea typeface="微软雅黑" panose="020B0503020204020204" pitchFamily="34" charset="-122"/>
              </a:rPr>
              <a:t>），对应独立的 </a:t>
            </a:r>
            <a:r>
              <a:rPr lang="en-US" altLang="zh-CN" sz="1200" dirty="0">
                <a:solidFill>
                  <a:prstClr val="black"/>
                </a:solidFill>
                <a:latin typeface="微软雅黑" panose="020B0503020204020204" pitchFamily="34" charset="-122"/>
                <a:ea typeface="微软雅黑" panose="020B0503020204020204" pitchFamily="34" charset="-122"/>
              </a:rPr>
              <a:t>DIMM </a:t>
            </a:r>
            <a:r>
              <a:rPr lang="zh-CN" altLang="en-US" sz="1200" dirty="0">
                <a:solidFill>
                  <a:prstClr val="black"/>
                </a:solidFill>
                <a:latin typeface="微软雅黑" panose="020B0503020204020204" pitchFamily="34" charset="-122"/>
                <a:ea typeface="微软雅黑" panose="020B0503020204020204" pitchFamily="34" charset="-122"/>
              </a:rPr>
              <a:t>通道；</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、总线拓扑</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高速：</a:t>
            </a:r>
            <a:r>
              <a:rPr lang="en-US" altLang="zh-CN" sz="1200" dirty="0">
                <a:solidFill>
                  <a:prstClr val="black"/>
                </a:solidFill>
                <a:latin typeface="微软雅黑" panose="020B0503020204020204" pitchFamily="34" charset="-122"/>
                <a:ea typeface="微软雅黑" panose="020B0503020204020204" pitchFamily="34" charset="-122"/>
              </a:rPr>
              <a:t>XGMI 0~3 </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接口；</a:t>
            </a:r>
            <a:r>
              <a:rPr lang="en-US" altLang="zh-CN" sz="1200" dirty="0">
                <a:solidFill>
                  <a:prstClr val="black"/>
                </a:solidFill>
                <a:latin typeface="微软雅黑" panose="020B0503020204020204" pitchFamily="34" charset="-122"/>
                <a:ea typeface="微软雅黑" panose="020B0503020204020204" pitchFamily="34" charset="-122"/>
              </a:rPr>
              <a:t>XGMI 0~2</a:t>
            </a:r>
            <a:r>
              <a:rPr lang="zh-CN" altLang="en-US" sz="1200" dirty="0">
                <a:solidFill>
                  <a:prstClr val="black"/>
                </a:solidFill>
                <a:latin typeface="微软雅黑" panose="020B0503020204020204" pitchFamily="34" charset="-122"/>
                <a:ea typeface="微软雅黑" panose="020B0503020204020204" pitchFamily="34" charset="-122"/>
              </a:rPr>
              <a:t>用于 </a:t>
            </a:r>
            <a:r>
              <a:rPr lang="en-US" altLang="zh-CN" sz="1200" dirty="0">
                <a:solidFill>
                  <a:prstClr val="black"/>
                </a:solidFill>
                <a:latin typeface="微软雅黑" panose="020B0503020204020204" pitchFamily="34" charset="-122"/>
                <a:ea typeface="微软雅黑" panose="020B0503020204020204" pitchFamily="34" charset="-122"/>
              </a:rPr>
              <a:t>AMD</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间互联；</a:t>
            </a:r>
            <a:r>
              <a:rPr lang="en-US" altLang="zh-CN" sz="1200" dirty="0">
                <a:solidFill>
                  <a:prstClr val="black"/>
                </a:solidFill>
                <a:latin typeface="微软雅黑" panose="020B0503020204020204" pitchFamily="34" charset="-122"/>
                <a:ea typeface="微软雅黑" panose="020B0503020204020204" pitchFamily="34" charset="-122"/>
              </a:rPr>
              <a:t>XGMI 3</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USB2.0/3.0</a:t>
            </a:r>
            <a:r>
              <a:rPr lang="zh-CN" altLang="en-US" sz="1200" dirty="0">
                <a:solidFill>
                  <a:prstClr val="black"/>
                </a:solidFill>
                <a:latin typeface="微软雅黑" panose="020B0503020204020204" pitchFamily="34" charset="-122"/>
                <a:ea typeface="微软雅黑" panose="020B0503020204020204" pitchFamily="34" charset="-122"/>
              </a:rPr>
              <a:t> 通过</a:t>
            </a:r>
            <a:r>
              <a:rPr lang="en-US" altLang="zh-CN" sz="1200" dirty="0">
                <a:solidFill>
                  <a:prstClr val="black"/>
                </a:solidFill>
                <a:latin typeface="微软雅黑" panose="020B0503020204020204" pitchFamily="34" charset="-122"/>
                <a:ea typeface="微软雅黑" panose="020B0503020204020204" pitchFamily="34" charset="-122"/>
              </a:rPr>
              <a:t>MCIO</a:t>
            </a:r>
            <a:r>
              <a:rPr lang="zh-CN" altLang="en-US" sz="1200" dirty="0">
                <a:solidFill>
                  <a:prstClr val="black"/>
                </a:solidFill>
                <a:latin typeface="微软雅黑" panose="020B0503020204020204" pitchFamily="34" charset="-122"/>
                <a:ea typeface="微软雅黑" panose="020B0503020204020204" pitchFamily="34" charset="-122"/>
              </a:rPr>
              <a:t>或连接芯片连接网卡、显卡、存储器、</a:t>
            </a:r>
            <a:r>
              <a:rPr lang="en-US" altLang="zh-CN" sz="1200" dirty="0">
                <a:solidFill>
                  <a:prstClr val="black"/>
                </a:solidFill>
                <a:latin typeface="微软雅黑" panose="020B0503020204020204" pitchFamily="34" charset="-122"/>
                <a:ea typeface="微软雅黑" panose="020B0503020204020204" pitchFamily="34" charset="-122"/>
              </a:rPr>
              <a:t>USB</a:t>
            </a:r>
            <a:r>
              <a:rPr lang="zh-CN" altLang="en-US" sz="1200" dirty="0">
                <a:solidFill>
                  <a:prstClr val="black"/>
                </a:solidFill>
                <a:latin typeface="微软雅黑" panose="020B0503020204020204" pitchFamily="34" charset="-122"/>
                <a:ea typeface="微软雅黑" panose="020B0503020204020204" pitchFamily="34" charset="-122"/>
              </a:rPr>
              <a:t>等外部高速设备以及</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间的控制类信息交互。</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低速：</a:t>
            </a:r>
            <a:r>
              <a:rPr lang="en-US" altLang="zh-CN" sz="1200" dirty="0">
                <a:solidFill>
                  <a:prstClr val="black"/>
                </a:solidFill>
                <a:latin typeface="微软雅黑" panose="020B0503020204020204" pitchFamily="34" charset="-122"/>
                <a:ea typeface="微软雅黑" panose="020B0503020204020204" pitchFamily="34" charset="-122"/>
              </a:rPr>
              <a:t>I3C (BMC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对 </a:t>
            </a:r>
            <a:r>
              <a:rPr lang="en-US" altLang="zh-CN" sz="1200" dirty="0">
                <a:solidFill>
                  <a:prstClr val="black"/>
                </a:solidFill>
                <a:latin typeface="微软雅黑" panose="020B0503020204020204" pitchFamily="34" charset="-122"/>
                <a:ea typeface="微软雅黑" panose="020B0503020204020204" pitchFamily="34" charset="-122"/>
              </a:rPr>
              <a:t>DDR5 DIMM </a:t>
            </a:r>
            <a:r>
              <a:rPr lang="zh-CN" altLang="en-US" sz="1200" dirty="0">
                <a:solidFill>
                  <a:prstClr val="black"/>
                </a:solidFill>
                <a:latin typeface="微软雅黑" panose="020B0503020204020204" pitchFamily="34" charset="-122"/>
                <a:ea typeface="微软雅黑" panose="020B0503020204020204" pitchFamily="34" charset="-122"/>
              </a:rPr>
              <a:t>通信</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I2C</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a:solidFill>
                  <a:prstClr val="black"/>
                </a:solidFill>
                <a:latin typeface="微软雅黑" panose="020B0503020204020204" pitchFamily="34" charset="-122"/>
                <a:ea typeface="微软雅黑" panose="020B0503020204020204" pitchFamily="34" charset="-122"/>
              </a:rPr>
              <a:t>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 TPM</a:t>
            </a:r>
            <a:r>
              <a:rPr lang="zh-CN" altLang="en-US" sz="1200" dirty="0">
                <a:solidFill>
                  <a:prstClr val="black"/>
                </a:solidFill>
                <a:latin typeface="微软雅黑" panose="020B0503020204020204" pitchFamily="34" charset="-122"/>
                <a:ea typeface="微软雅黑" panose="020B0503020204020204" pitchFamily="34" charset="-122"/>
              </a:rPr>
              <a:t>芯片、</a:t>
            </a:r>
            <a:r>
              <a:rPr lang="en-US" altLang="zh-CN" sz="1200" dirty="0">
                <a:solidFill>
                  <a:prstClr val="black"/>
                </a:solidFill>
                <a:latin typeface="微软雅黑" panose="020B0503020204020204" pitchFamily="34" charset="-122"/>
                <a:ea typeface="微软雅黑" panose="020B0503020204020204" pitchFamily="34" charset="-122"/>
              </a:rPr>
              <a:t>BIOS_FLASH </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err="1">
                <a:solidFill>
                  <a:prstClr val="black"/>
                </a:solidFill>
                <a:latin typeface="微软雅黑" panose="020B0503020204020204" pitchFamily="34" charset="-122"/>
                <a:ea typeface="微软雅黑" panose="020B0503020204020204" pitchFamily="34" charset="-122"/>
              </a:rPr>
              <a:t>eSPI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UART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JTAG</a:t>
            </a:r>
            <a:r>
              <a:rPr lang="zh-CN" altLang="en-US" sz="1200" dirty="0">
                <a:solidFill>
                  <a:prstClr val="black"/>
                </a:solidFill>
                <a:latin typeface="微软雅黑" panose="020B0503020204020204" pitchFamily="34" charset="-122"/>
                <a:ea typeface="微软雅黑" panose="020B0503020204020204" pitchFamily="34" charset="-122"/>
              </a:rPr>
              <a:t>接口</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、时钟复位</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一级</a:t>
            </a:r>
            <a:r>
              <a:rPr lang="en-US" altLang="zh-CN" sz="1200" dirty="0">
                <a:solidFill>
                  <a:prstClr val="black"/>
                </a:solidFill>
                <a:latin typeface="微软雅黑" panose="020B0503020204020204" pitchFamily="34" charset="-122"/>
                <a:ea typeface="微软雅黑" panose="020B0503020204020204" pitchFamily="34" charset="-122"/>
              </a:rPr>
              <a:t>AUS615</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CMU</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P0/P1</a:t>
            </a:r>
            <a:r>
              <a:rPr lang="zh-CN" altLang="en-US" sz="1200" dirty="0">
                <a:solidFill>
                  <a:prstClr val="black"/>
                </a:solidFill>
                <a:latin typeface="微软雅黑" panose="020B0503020204020204" pitchFamily="34" charset="-122"/>
                <a:ea typeface="微软雅黑" panose="020B0503020204020204" pitchFamily="34" charset="-122"/>
              </a:rPr>
              <a:t>、部分</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使用；二级</a:t>
            </a:r>
            <a:r>
              <a:rPr lang="en-US" altLang="zh-CN" sz="1200" dirty="0">
                <a:solidFill>
                  <a:prstClr val="black"/>
                </a:solidFill>
                <a:latin typeface="微软雅黑" panose="020B0503020204020204" pitchFamily="34" charset="-122"/>
                <a:ea typeface="微软雅黑" panose="020B0503020204020204" pitchFamily="34" charset="-122"/>
              </a:rPr>
              <a:t>CLK_DB2000</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系统复位（</a:t>
            </a:r>
            <a:r>
              <a:rPr lang="en-US" altLang="zh-CN" sz="1200" dirty="0">
                <a:solidFill>
                  <a:prstClr val="black"/>
                </a:solidFill>
                <a:latin typeface="微软雅黑" panose="020B0503020204020204" pitchFamily="34" charset="-122"/>
                <a:ea typeface="微软雅黑" panose="020B0503020204020204" pitchFamily="34" charset="-122"/>
              </a:rPr>
              <a:t>SYS_RESET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a:t>
            </a:r>
            <a:r>
              <a:rPr lang="zh-CN" altLang="en-US" sz="1200" dirty="0">
                <a:solidFill>
                  <a:prstClr val="black"/>
                </a:solidFill>
                <a:latin typeface="微软雅黑" panose="020B0503020204020204" pitchFamily="34" charset="-122"/>
                <a:ea typeface="微软雅黑" panose="020B0503020204020204" pitchFamily="34" charset="-122"/>
              </a:rPr>
              <a:t>复位（</a:t>
            </a:r>
            <a:r>
              <a:rPr lang="en-US" altLang="zh-CN" sz="1200" dirty="0">
                <a:solidFill>
                  <a:prstClr val="black"/>
                </a:solidFill>
                <a:latin typeface="微软雅黑" panose="020B0503020204020204" pitchFamily="34" charset="-122"/>
                <a:ea typeface="微软雅黑" panose="020B0503020204020204" pitchFamily="34" charset="-122"/>
              </a:rPr>
              <a:t>PCIE_RST_N</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RSMRST </a:t>
            </a:r>
            <a:r>
              <a:rPr lang="zh-CN" altLang="en-US" sz="1200" dirty="0">
                <a:solidFill>
                  <a:prstClr val="black"/>
                </a:solidFill>
                <a:latin typeface="微软雅黑" panose="020B0503020204020204" pitchFamily="34" charset="-122"/>
                <a:ea typeface="微软雅黑" panose="020B0503020204020204" pitchFamily="34" charset="-122"/>
              </a:rPr>
              <a:t>等，由 </a:t>
            </a:r>
            <a:r>
              <a:rPr lang="en-US" altLang="zh-CN" sz="1200" dirty="0">
                <a:solidFill>
                  <a:prstClr val="black"/>
                </a:solidFill>
                <a:latin typeface="微软雅黑" panose="020B0503020204020204" pitchFamily="34" charset="-122"/>
                <a:ea typeface="微软雅黑" panose="020B0503020204020204" pitchFamily="34" charset="-122"/>
              </a:rPr>
              <a:t>CPLD </a:t>
            </a:r>
            <a:r>
              <a:rPr lang="zh-CN" altLang="en-US" sz="1200" dirty="0">
                <a:solidFill>
                  <a:prstClr val="black"/>
                </a:solidFill>
                <a:latin typeface="微软雅黑" panose="020B0503020204020204" pitchFamily="34" charset="-122"/>
                <a:ea typeface="微软雅黑" panose="020B0503020204020204" pitchFamily="34" charset="-122"/>
              </a:rPr>
              <a:t>与 </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协同管理，结合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r>
              <a:rPr lang="zh-CN" altLang="en-US" sz="1200" b="1" dirty="0">
                <a:solidFill>
                  <a:prstClr val="black"/>
                </a:solidFill>
                <a:latin typeface="微软雅黑" panose="020B0503020204020204" pitchFamily="34" charset="-122"/>
                <a:ea typeface="微软雅黑" panose="020B0503020204020204" pitchFamily="34" charset="-122"/>
              </a:rPr>
              <a:t>；</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、电源和监控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辅电供电</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核心供电；硬件状态监控；</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强相关，结合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32499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A3AE70-9581-A6CE-FB57-D606A42AA9C4}"/>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2025E29C-3DB3-4716-0C1D-D211000B0971}"/>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a:t>
            </a:r>
            <a:r>
              <a:rPr lang="zh-CN" altLang="en-US" sz="2400" dirty="0">
                <a:solidFill>
                  <a:prstClr val="black"/>
                </a:solidFill>
                <a:latin typeface="微软雅黑"/>
                <a:ea typeface="微软雅黑"/>
              </a:rPr>
              <a:t>东湖一号逻辑方案设计</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xmlns="" id="{2BC0A0A8-0C9C-2D51-D930-A3AB6D1663CB}"/>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逻辑</a:t>
            </a:r>
            <a:r>
              <a:rPr lang="zh-CN" altLang="en-US" b="1" noProof="0" dirty="0">
                <a:solidFill>
                  <a:prstClr val="black"/>
                </a:solidFill>
                <a:latin typeface="微软雅黑" panose="020B0503020204020204" pitchFamily="34" charset="-122"/>
                <a:ea typeface="微软雅黑" panose="020B0503020204020204" pitchFamily="34" charset="-122"/>
              </a:rPr>
              <a:t>需求</a:t>
            </a:r>
            <a:r>
              <a:rPr lang="zh-CN" altLang="en-US" b="1" dirty="0" smtClean="0">
                <a:solidFill>
                  <a:prstClr val="black"/>
                </a:solidFill>
                <a:latin typeface="微软雅黑" panose="020B0503020204020204" pitchFamily="34" charset="-122"/>
                <a:ea typeface="微软雅黑" panose="020B0503020204020204" pitchFamily="34" charset="-122"/>
              </a:rPr>
              <a:t>点和</a:t>
            </a:r>
            <a:r>
              <a:rPr kumimoji="0" lang="zh-CN" altLang="en-US" sz="18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设计方案</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5" name="直接连接符 4">
            <a:extLst>
              <a:ext uri="{FF2B5EF4-FFF2-40B4-BE49-F238E27FC236}">
                <a16:creationId xmlns:a16="http://schemas.microsoft.com/office/drawing/2014/main" xmlns="" id="{51869E89-D624-D4A4-243B-3799A8F546CB}"/>
              </a:ext>
            </a:extLst>
          </p:cNvPr>
          <p:cNvCxnSpPr>
            <a:cxnSpLocks/>
          </p:cNvCxnSpPr>
          <p:nvPr/>
        </p:nvCxnSpPr>
        <p:spPr>
          <a:xfrm>
            <a:off x="3191389" y="110119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xmlns="" id="{57A52783-686B-AA09-B339-0D77F83E901E}"/>
              </a:ext>
            </a:extLst>
          </p:cNvPr>
          <p:cNvSpPr/>
          <p:nvPr/>
        </p:nvSpPr>
        <p:spPr>
          <a:xfrm>
            <a:off x="73184" y="1605471"/>
            <a:ext cx="2884718" cy="3360600"/>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、电源时序控制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、电源状态监测</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、硬件故障监控与检测</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、芯片的通信交互</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5</a:t>
            </a:r>
            <a:r>
              <a:rPr lang="zh-CN" altLang="en-US" sz="1200" b="1" dirty="0">
                <a:solidFill>
                  <a:prstClr val="black"/>
                </a:solidFill>
                <a:latin typeface="微软雅黑" panose="020B0503020204020204" pitchFamily="34" charset="-122"/>
                <a:ea typeface="微软雅黑" panose="020B0503020204020204" pitchFamily="34" charset="-122"/>
              </a:rPr>
              <a:t>、按钮控制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6</a:t>
            </a:r>
            <a:r>
              <a:rPr lang="zh-CN" altLang="en-US" sz="1200" b="1" dirty="0">
                <a:solidFill>
                  <a:prstClr val="black"/>
                </a:solidFill>
                <a:latin typeface="微软雅黑" panose="020B0503020204020204" pitchFamily="34" charset="-122"/>
                <a:ea typeface="微软雅黑" panose="020B0503020204020204" pitchFamily="34" charset="-122"/>
              </a:rPr>
              <a:t>、风扇控制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7</a:t>
            </a:r>
            <a:r>
              <a:rPr lang="zh-CN" altLang="en-US" sz="1200" b="1" dirty="0">
                <a:solidFill>
                  <a:prstClr val="black"/>
                </a:solidFill>
                <a:latin typeface="微软雅黑" panose="020B0503020204020204" pitchFamily="34" charset="-122"/>
                <a:ea typeface="微软雅黑" panose="020B0503020204020204" pitchFamily="34" charset="-122"/>
              </a:rPr>
              <a:t>、指示灯控制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7</a:t>
            </a:r>
            <a:r>
              <a:rPr lang="zh-CN" altLang="en-US" sz="1200" b="1" dirty="0">
                <a:solidFill>
                  <a:prstClr val="black"/>
                </a:solidFill>
                <a:latin typeface="微软雅黑" panose="020B0503020204020204" pitchFamily="34" charset="-122"/>
                <a:ea typeface="微软雅黑" panose="020B0503020204020204" pitchFamily="34" charset="-122"/>
              </a:rPr>
              <a:t>、</a:t>
            </a:r>
            <a:r>
              <a:rPr lang="en-US" altLang="zh-CN" sz="1200" b="1" dirty="0">
                <a:solidFill>
                  <a:prstClr val="black"/>
                </a:solidFill>
                <a:latin typeface="微软雅黑" panose="020B0503020204020204" pitchFamily="34" charset="-122"/>
                <a:ea typeface="微软雅黑" panose="020B0503020204020204" pitchFamily="34" charset="-122"/>
              </a:rPr>
              <a:t>CPLD</a:t>
            </a:r>
            <a:r>
              <a:rPr lang="zh-CN" altLang="en-US" sz="1200" b="1" dirty="0">
                <a:solidFill>
                  <a:prstClr val="black"/>
                </a:solidFill>
                <a:latin typeface="微软雅黑" panose="020B0503020204020204" pitchFamily="34" charset="-122"/>
                <a:ea typeface="微软雅黑" panose="020B0503020204020204" pitchFamily="34" charset="-122"/>
              </a:rPr>
              <a:t>复位控制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8</a:t>
            </a:r>
            <a:r>
              <a:rPr lang="zh-CN" altLang="en-US" sz="1200" b="1" dirty="0">
                <a:solidFill>
                  <a:prstClr val="black"/>
                </a:solidFill>
                <a:latin typeface="微软雅黑" panose="020B0503020204020204" pitchFamily="34" charset="-122"/>
                <a:ea typeface="微软雅黑" panose="020B0503020204020204" pitchFamily="34" charset="-122"/>
              </a:rPr>
              <a:t>、</a:t>
            </a:r>
            <a:r>
              <a:rPr lang="en-US" altLang="zh-CN" sz="1200" b="1" dirty="0">
                <a:solidFill>
                  <a:prstClr val="black"/>
                </a:solidFill>
                <a:latin typeface="微软雅黑" panose="020B0503020204020204" pitchFamily="34" charset="-122"/>
                <a:ea typeface="微软雅黑" panose="020B0503020204020204" pitchFamily="34" charset="-122"/>
              </a:rPr>
              <a:t>CPLD</a:t>
            </a:r>
            <a:r>
              <a:rPr lang="zh-CN" altLang="en-US" sz="1200" b="1" dirty="0">
                <a:solidFill>
                  <a:prstClr val="black"/>
                </a:solidFill>
                <a:latin typeface="微软雅黑" panose="020B0503020204020204" pitchFamily="34" charset="-122"/>
                <a:ea typeface="微软雅黑" panose="020B0503020204020204" pitchFamily="34" charset="-122"/>
              </a:rPr>
              <a:t>在线升级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xmlns="" id="{95028011-DBC2-C3EA-C248-CED458F0CD95}"/>
              </a:ext>
            </a:extLst>
          </p:cNvPr>
          <p:cNvPicPr>
            <a:picLocks noChangeAspect="1"/>
          </p:cNvPicPr>
          <p:nvPr/>
        </p:nvPicPr>
        <p:blipFill>
          <a:blip r:embed="rId2"/>
          <a:stretch>
            <a:fillRect/>
          </a:stretch>
        </p:blipFill>
        <p:spPr>
          <a:xfrm>
            <a:off x="3424877" y="1000312"/>
            <a:ext cx="7491101" cy="5526290"/>
          </a:xfrm>
          <a:prstGeom prst="rect">
            <a:avLst/>
          </a:prstGeom>
        </p:spPr>
      </p:pic>
    </p:spTree>
    <p:extLst>
      <p:ext uri="{BB962C8B-B14F-4D97-AF65-F5344CB8AC3E}">
        <p14:creationId xmlns:p14="http://schemas.microsoft.com/office/powerpoint/2010/main" val="318158284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C470C7D-3446-8BFD-D29C-E5CB50161FF3}"/>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60CB0C96-0DF0-A989-5C0A-E938908FA0B2}"/>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a:t>
            </a:r>
            <a:r>
              <a:rPr lang="zh-CN" altLang="en-US" sz="2400" dirty="0">
                <a:solidFill>
                  <a:prstClr val="black"/>
                </a:solidFill>
                <a:latin typeface="微软雅黑"/>
                <a:ea typeface="微软雅黑"/>
              </a:rPr>
              <a:t>东湖一号电源上下</a:t>
            </a:r>
            <a:r>
              <a:rPr lang="zh-CN" altLang="en-US" sz="2400" dirty="0" smtClean="0">
                <a:solidFill>
                  <a:prstClr val="black"/>
                </a:solidFill>
                <a:latin typeface="微软雅黑"/>
                <a:ea typeface="微软雅黑"/>
              </a:rPr>
              <a:t>电</a:t>
            </a:r>
            <a:r>
              <a:rPr lang="zh-CN" altLang="en-US" sz="2400" dirty="0">
                <a:solidFill>
                  <a:prstClr val="black"/>
                </a:solidFill>
                <a:latin typeface="微软雅黑"/>
                <a:ea typeface="微软雅黑"/>
              </a:rPr>
              <a:t>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cxnSp>
        <p:nvCxnSpPr>
          <p:cNvPr id="5" name="直接连接符 4">
            <a:extLst>
              <a:ext uri="{FF2B5EF4-FFF2-40B4-BE49-F238E27FC236}">
                <a16:creationId xmlns:a16="http://schemas.microsoft.com/office/drawing/2014/main" xmlns="" id="{3F612B68-85B8-D7DF-6FDF-9FA88DD78519}"/>
              </a:ext>
            </a:extLst>
          </p:cNvPr>
          <p:cNvCxnSpPr>
            <a:cxnSpLocks/>
          </p:cNvCxnSpPr>
          <p:nvPr/>
        </p:nvCxnSpPr>
        <p:spPr>
          <a:xfrm>
            <a:off x="5553270" y="105674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9" name="图片 8">
            <a:extLst>
              <a:ext uri="{FF2B5EF4-FFF2-40B4-BE49-F238E27FC236}">
                <a16:creationId xmlns:a16="http://schemas.microsoft.com/office/drawing/2014/main" xmlns="" id="{B0EB4A4D-84ED-949C-02A8-C65834402C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4424" y="5221037"/>
            <a:ext cx="2994862" cy="1280304"/>
          </a:xfrm>
          <a:prstGeom prst="rect">
            <a:avLst/>
          </a:prstGeom>
        </p:spPr>
      </p:pic>
      <p:sp>
        <p:nvSpPr>
          <p:cNvPr id="2" name="矩形 1">
            <a:extLst>
              <a:ext uri="{FF2B5EF4-FFF2-40B4-BE49-F238E27FC236}">
                <a16:creationId xmlns:a16="http://schemas.microsoft.com/office/drawing/2014/main" xmlns="" id="{55DDFED4-781E-9C16-ABE1-1F823FA2EE35}"/>
              </a:ext>
            </a:extLst>
          </p:cNvPr>
          <p:cNvSpPr/>
          <p:nvPr/>
        </p:nvSpPr>
        <p:spPr>
          <a:xfrm>
            <a:off x="5181599" y="895881"/>
            <a:ext cx="6860147" cy="5848461"/>
          </a:xfrm>
          <a:prstGeom prst="rect">
            <a:avLst/>
          </a:prstGeom>
        </p:spPr>
        <p:txBody>
          <a:bodyPr wrap="square">
            <a:spAutoFit/>
          </a:bodyPr>
          <a:lstStyle/>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、各电源状态机上电使能条件：上电阶段电源吴故障，延时后依次上电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各电源下电使能条件：任一电源故障触发下电，延时后依次下电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F0"/>
                </a:solidFill>
                <a:latin typeface="微软雅黑" panose="020B0503020204020204" pitchFamily="34" charset="-122"/>
                <a:ea typeface="微软雅黑" panose="020B0503020204020204" pitchFamily="34" charset="-122"/>
              </a:rPr>
              <a:t>2</a:t>
            </a:r>
            <a:r>
              <a:rPr lang="zh-CN" altLang="en-US" sz="1200" dirty="0">
                <a:solidFill>
                  <a:srgbClr val="00B0F0"/>
                </a:solidFill>
                <a:latin typeface="微软雅黑" panose="020B0503020204020204" pitchFamily="34" charset="-122"/>
                <a:ea typeface="微软雅黑" panose="020B0503020204020204" pitchFamily="34" charset="-122"/>
              </a:rPr>
              <a:t>、蓝色状态控制 </a:t>
            </a:r>
            <a:r>
              <a:rPr lang="en-US" altLang="zh-CN" sz="1200" dirty="0" err="1">
                <a:solidFill>
                  <a:srgbClr val="00B0F0"/>
                </a:solidFill>
                <a:latin typeface="微软雅黑" panose="020B0503020204020204" pitchFamily="34" charset="-122"/>
                <a:ea typeface="微软雅黑" panose="020B0503020204020204" pitchFamily="34" charset="-122"/>
              </a:rPr>
              <a:t>GroupA</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和 </a:t>
            </a:r>
            <a:r>
              <a:rPr lang="en-US" altLang="zh-CN" sz="1200" dirty="0" err="1">
                <a:solidFill>
                  <a:srgbClr val="00B0F0"/>
                </a:solidFill>
                <a:latin typeface="微软雅黑" panose="020B0503020204020204" pitchFamily="34" charset="-122"/>
                <a:ea typeface="微软雅黑" panose="020B0503020204020204" pitchFamily="34" charset="-122"/>
              </a:rPr>
              <a:t>GroupB</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电源域的使能：</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rgbClr val="00B0F0"/>
                </a:solidFill>
                <a:latin typeface="微软雅黑" panose="020B0503020204020204" pitchFamily="34" charset="-122"/>
                <a:ea typeface="微软雅黑" panose="020B0503020204020204" pitchFamily="34" charset="-122"/>
              </a:rPr>
              <a:t>复位状态</a:t>
            </a:r>
            <a:r>
              <a:rPr lang="en-US" altLang="zh-CN" sz="1200" dirty="0">
                <a:solidFill>
                  <a:srgbClr val="00B0F0"/>
                </a:solidFill>
                <a:latin typeface="微软雅黑" panose="020B0503020204020204" pitchFamily="34" charset="-122"/>
                <a:ea typeface="微软雅黑" panose="020B0503020204020204" pitchFamily="34" charset="-122"/>
              </a:rPr>
              <a:t>(0x00)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RTC</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(0x01) → </a:t>
            </a:r>
            <a:r>
              <a:rPr lang="zh-CN" altLang="en-US" sz="1200" dirty="0">
                <a:solidFill>
                  <a:srgbClr val="00B0F0"/>
                </a:solidFill>
                <a:latin typeface="微软雅黑" panose="020B0503020204020204" pitchFamily="34" charset="-122"/>
                <a:ea typeface="微软雅黑" panose="020B0503020204020204" pitchFamily="34" charset="-122"/>
              </a:rPr>
              <a:t>南桥复位保持</a:t>
            </a:r>
            <a:r>
              <a:rPr lang="en-US" altLang="zh-CN" sz="1200" dirty="0">
                <a:solidFill>
                  <a:srgbClr val="00B0F0"/>
                </a:solidFill>
                <a:latin typeface="微软雅黑" panose="020B0503020204020204" pitchFamily="34" charset="-122"/>
                <a:ea typeface="微软雅黑" panose="020B0503020204020204" pitchFamily="34" charset="-122"/>
              </a:rPr>
              <a:t>(0x02)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CPU3.3V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(0x03)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CPU1.8V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(0x04)→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USB</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(0x05) → </a:t>
            </a:r>
            <a:r>
              <a:rPr lang="zh-CN" altLang="en-US" sz="1200" dirty="0">
                <a:solidFill>
                  <a:srgbClr val="00B0F0"/>
                </a:solidFill>
                <a:latin typeface="微软雅黑" panose="020B0503020204020204" pitchFamily="34" charset="-122"/>
                <a:ea typeface="微软雅黑" panose="020B0503020204020204" pitchFamily="34" charset="-122"/>
              </a:rPr>
              <a:t>释放南桥复位</a:t>
            </a:r>
            <a:r>
              <a:rPr lang="en-US" altLang="zh-CN" sz="1200" dirty="0">
                <a:solidFill>
                  <a:srgbClr val="00B0F0"/>
                </a:solidFill>
                <a:latin typeface="微软雅黑" panose="020B0503020204020204" pitchFamily="34" charset="-122"/>
                <a:ea typeface="微软雅黑" panose="020B0503020204020204" pitchFamily="34" charset="-122"/>
              </a:rPr>
              <a:t>(0x06) → S5</a:t>
            </a:r>
            <a:r>
              <a:rPr lang="zh-CN" altLang="en-US" sz="1200" dirty="0">
                <a:solidFill>
                  <a:srgbClr val="00B0F0"/>
                </a:solidFill>
                <a:latin typeface="微软雅黑" panose="020B0503020204020204" pitchFamily="34" charset="-122"/>
                <a:ea typeface="微软雅黑" panose="020B0503020204020204" pitchFamily="34" charset="-122"/>
              </a:rPr>
              <a:t>设备上电</a:t>
            </a:r>
            <a:r>
              <a:rPr lang="en-US" altLang="zh-CN" sz="1200" dirty="0">
                <a:solidFill>
                  <a:srgbClr val="00B0F0"/>
                </a:solidFill>
                <a:latin typeface="微软雅黑" panose="020B0503020204020204" pitchFamily="34" charset="-122"/>
                <a:ea typeface="微软雅黑" panose="020B0503020204020204" pitchFamily="34" charset="-122"/>
              </a:rPr>
              <a:t>(0x07) → </a:t>
            </a:r>
            <a:r>
              <a:rPr lang="zh-CN" altLang="en-US" sz="1200" dirty="0">
                <a:solidFill>
                  <a:srgbClr val="E325C3"/>
                </a:solidFill>
                <a:latin typeface="微软雅黑" panose="020B0503020204020204" pitchFamily="34" charset="-122"/>
                <a:ea typeface="微软雅黑" panose="020B0503020204020204" pitchFamily="34" charset="-122"/>
              </a:rPr>
              <a:t>待机就绪</a:t>
            </a:r>
            <a:r>
              <a:rPr lang="en-US" altLang="zh-CN" sz="1200" dirty="0">
                <a:solidFill>
                  <a:srgbClr val="E325C3"/>
                </a:solidFill>
                <a:latin typeface="微软雅黑" panose="020B0503020204020204" pitchFamily="34" charset="-122"/>
                <a:ea typeface="微软雅黑" panose="020B0503020204020204" pitchFamily="34" charset="-122"/>
              </a:rPr>
              <a:t>(0x08)</a:t>
            </a:r>
            <a:r>
              <a:rPr lang="en-US" altLang="zh-CN" sz="1200" dirty="0">
                <a:solidFill>
                  <a:schemeClr val="tx2">
                    <a:lumMod val="90000"/>
                    <a:lumOff val="10000"/>
                  </a:schemeClr>
                </a:solidFill>
                <a:latin typeface="微软雅黑" panose="020B0503020204020204" pitchFamily="34" charset="-122"/>
                <a:ea typeface="微软雅黑" panose="020B0503020204020204" pitchFamily="34" charset="-122"/>
              </a:rPr>
              <a:t> </a:t>
            </a:r>
            <a:r>
              <a:rPr lang="en-US" altLang="zh-CN" sz="1200" dirty="0">
                <a:solidFill>
                  <a:srgbClr val="E325C3"/>
                </a:solidFill>
                <a:latin typeface="微软雅黑" panose="020B0503020204020204" pitchFamily="34" charset="-122"/>
                <a:ea typeface="微软雅黑" panose="020B0503020204020204" pitchFamily="34" charset="-122"/>
              </a:rPr>
              <a:t>→</a:t>
            </a:r>
            <a:r>
              <a:rPr lang="en-US" altLang="zh-CN" sz="1200" dirty="0">
                <a:solidFill>
                  <a:srgbClr val="00B0F0"/>
                </a:solidFill>
                <a:latin typeface="微软雅黑" panose="020B0503020204020204" pitchFamily="34" charset="-122"/>
                <a:ea typeface="微软雅黑" panose="020B0503020204020204" pitchFamily="34" charset="-122"/>
              </a:rPr>
              <a:t>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3</a:t>
            </a:r>
            <a:r>
              <a:rPr lang="zh-CN" altLang="en-US" sz="1200" dirty="0">
                <a:solidFill>
                  <a:srgbClr val="00B050"/>
                </a:solidFill>
                <a:latin typeface="微软雅黑" panose="020B0503020204020204" pitchFamily="34" charset="-122"/>
                <a:ea typeface="微软雅黑" panose="020B0503020204020204" pitchFamily="34" charset="-122"/>
              </a:rPr>
              <a:t>、深绿色状态控制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GroupC</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主电源模块使能</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(0x09)→ </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遥测功能开启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(0x0A) → </a:t>
            </a:r>
            <a:r>
              <a:rPr lang="en-US" altLang="zh-CN" sz="1200" dirty="0">
                <a:solidFill>
                  <a:srgbClr val="00B050"/>
                </a:solidFill>
                <a:latin typeface="微软雅黑" panose="020B0503020204020204" pitchFamily="34" charset="-122"/>
                <a:ea typeface="微软雅黑" panose="020B0503020204020204" pitchFamily="34" charset="-122"/>
              </a:rPr>
              <a:t>EFUSE12V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(0x0B) </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 ATX</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电源开启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(0x0C)</a:t>
            </a:r>
            <a:r>
              <a:rPr lang="en-US" altLang="zh-CN" sz="1200" dirty="0">
                <a:solidFill>
                  <a:srgbClr val="00B050"/>
                </a:solidFill>
                <a:latin typeface="微软雅黑" panose="020B0503020204020204" pitchFamily="34" charset="-122"/>
                <a:ea typeface="微软雅黑" panose="020B0503020204020204" pitchFamily="34" charset="-122"/>
              </a:rPr>
              <a:t> → CPU1.1V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(0x0D)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4</a:t>
            </a:r>
            <a:r>
              <a:rPr lang="zh-CN" altLang="en-US" sz="1200" dirty="0">
                <a:solidFill>
                  <a:srgbClr val="00B050"/>
                </a:solidFill>
                <a:latin typeface="微软雅黑" panose="020B0503020204020204" pitchFamily="34" charset="-122"/>
                <a:ea typeface="微软雅黑" panose="020B0503020204020204" pitchFamily="34" charset="-122"/>
              </a:rPr>
              <a:t>、浅绿色状态控制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GroupD</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5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 </a:t>
            </a:r>
            <a:r>
              <a:rPr lang="en-US" altLang="zh-CN" sz="1200" dirty="0">
                <a:solidFill>
                  <a:srgbClr val="92D050"/>
                </a:solidFill>
                <a:latin typeface="微软雅黑" panose="020B0503020204020204" pitchFamily="34" charset="-122"/>
                <a:ea typeface="微软雅黑" panose="020B0503020204020204" pitchFamily="34" charset="-122"/>
              </a:rPr>
              <a:t>CPU_IO</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(0x0E)→ CPU_SOC</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(0x0F) → CPU_CORE0</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(0x10) → CPU_CORE1</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(0x11) → </a:t>
            </a:r>
            <a:r>
              <a:rPr lang="zh-CN" altLang="en-US" sz="1200" dirty="0">
                <a:solidFill>
                  <a:srgbClr val="92D050"/>
                </a:solidFill>
                <a:latin typeface="微软雅黑" panose="020B0503020204020204" pitchFamily="34" charset="-122"/>
                <a:ea typeface="微软雅黑" panose="020B0503020204020204" pitchFamily="34" charset="-122"/>
              </a:rPr>
              <a:t>释放</a:t>
            </a:r>
            <a:r>
              <a:rPr lang="en-US" altLang="zh-CN" sz="1200" dirty="0">
                <a:solidFill>
                  <a:srgbClr val="92D050"/>
                </a:solidFill>
                <a:latin typeface="微软雅黑" panose="020B0503020204020204" pitchFamily="34" charset="-122"/>
                <a:ea typeface="微软雅黑" panose="020B0503020204020204" pitchFamily="34" charset="-122"/>
              </a:rPr>
              <a:t>CPU PWR_GOOD(0x12)→ </a:t>
            </a:r>
            <a:r>
              <a:rPr lang="zh-CN" altLang="en-US" sz="1200" dirty="0">
                <a:solidFill>
                  <a:srgbClr val="92D050"/>
                </a:solidFill>
                <a:latin typeface="微软雅黑" panose="020B0503020204020204" pitchFamily="34" charset="-122"/>
                <a:ea typeface="微软雅黑" panose="020B0503020204020204" pitchFamily="34" charset="-122"/>
              </a:rPr>
              <a:t>等待电源稳定</a:t>
            </a:r>
            <a:r>
              <a:rPr lang="en-US" altLang="zh-CN" sz="1200" dirty="0">
                <a:solidFill>
                  <a:srgbClr val="92D050"/>
                </a:solidFill>
                <a:latin typeface="微软雅黑" panose="020B0503020204020204" pitchFamily="34" charset="-122"/>
                <a:ea typeface="微软雅黑" panose="020B0503020204020204" pitchFamily="34" charset="-122"/>
              </a:rPr>
              <a:t>(0x13) →</a:t>
            </a: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5</a:t>
            </a:r>
            <a:r>
              <a:rPr lang="zh-CN" altLang="en-US" sz="1200" dirty="0">
                <a:solidFill>
                  <a:srgbClr val="FFC000"/>
                </a:solidFill>
                <a:latin typeface="微软雅黑" panose="020B0503020204020204" pitchFamily="34" charset="-122"/>
                <a:ea typeface="微软雅黑" panose="020B0503020204020204" pitchFamily="34" charset="-122"/>
              </a:rPr>
              <a:t>、橙色是故障触发下电流程</a:t>
            </a:r>
            <a:endParaRPr lang="en-US" altLang="zh-CN" sz="1200" dirty="0">
              <a:solidFill>
                <a:srgbClr val="FFC00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 </a:t>
            </a:r>
            <a:r>
              <a:rPr lang="zh-CN" altLang="en-US" sz="1200" dirty="0">
                <a:solidFill>
                  <a:srgbClr val="FFC000"/>
                </a:solidFill>
                <a:latin typeface="微软雅黑" panose="020B0503020204020204" pitchFamily="34" charset="-122"/>
                <a:ea typeface="微软雅黑" panose="020B0503020204020204" pitchFamily="34" charset="-122"/>
              </a:rPr>
              <a:t>系统稳定运行</a:t>
            </a:r>
            <a:r>
              <a:rPr lang="en-US" altLang="zh-CN" sz="1200" dirty="0">
                <a:solidFill>
                  <a:srgbClr val="FFC000"/>
                </a:solidFill>
                <a:latin typeface="微软雅黑" panose="020B0503020204020204" pitchFamily="34" charset="-122"/>
                <a:ea typeface="微软雅黑" panose="020B0503020204020204" pitchFamily="34" charset="-122"/>
              </a:rPr>
              <a:t>(0x20</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SM_STEADY_PWROK)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 PWR_GOOD(0x21)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CPU_CORE1</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(0x22)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CPU_CORE0</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(0x23)→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CPU_SOC</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(0x24)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CPU_IO</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(0x25)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CPU_VDD_1.1V</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(0x26)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EFUSE</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(0x28) → S5</a:t>
            </a:r>
            <a:r>
              <a:rPr lang="zh-CN" altLang="en-US" sz="1200" dirty="0">
                <a:solidFill>
                  <a:srgbClr val="FFC000"/>
                </a:solidFill>
                <a:latin typeface="微软雅黑" panose="020B0503020204020204" pitchFamily="34" charset="-122"/>
                <a:ea typeface="微软雅黑" panose="020B0503020204020204" pitchFamily="34" charset="-122"/>
              </a:rPr>
              <a:t>设备下电</a:t>
            </a:r>
            <a:r>
              <a:rPr lang="en-US" altLang="zh-CN" sz="1200" dirty="0">
                <a:solidFill>
                  <a:srgbClr val="FFC000"/>
                </a:solidFill>
                <a:latin typeface="微软雅黑" panose="020B0503020204020204" pitchFamily="34" charset="-122"/>
                <a:ea typeface="微软雅黑" panose="020B0503020204020204" pitchFamily="34" charset="-122"/>
              </a:rPr>
              <a:t>(0x2B)→ </a:t>
            </a:r>
            <a:r>
              <a:rPr lang="zh-CN" altLang="en-US" sz="1200" dirty="0">
                <a:solidFill>
                  <a:srgbClr val="FFC000"/>
                </a:solidFill>
                <a:latin typeface="微软雅黑" panose="020B0503020204020204" pitchFamily="34" charset="-122"/>
                <a:ea typeface="微软雅黑" panose="020B0503020204020204" pitchFamily="34" charset="-122"/>
              </a:rPr>
              <a:t>待机状态</a:t>
            </a:r>
            <a:r>
              <a:rPr lang="en-US" altLang="zh-CN" sz="1200" dirty="0">
                <a:solidFill>
                  <a:srgbClr val="FFC000"/>
                </a:solidFill>
                <a:latin typeface="微软雅黑" panose="020B0503020204020204" pitchFamily="34" charset="-122"/>
                <a:ea typeface="微软雅黑" panose="020B0503020204020204" pitchFamily="34" charset="-122"/>
              </a:rPr>
              <a:t>(0x08</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SM_OFF_STANDBY) </a:t>
            </a:r>
          </a:p>
          <a:p>
            <a:pPr lvl="1">
              <a:lnSpc>
                <a:spcPts val="2400"/>
              </a:lnSpc>
              <a:spcBef>
                <a:spcPts val="100"/>
              </a:spcBef>
              <a:spcAft>
                <a:spcPts val="100"/>
              </a:spcAft>
              <a:defRPr/>
            </a:pPr>
            <a:endParaRPr lang="en-US" altLang="zh-CN" sz="1200" dirty="0">
              <a:solidFill>
                <a:srgbClr val="00B0F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xmlns="" id="{1AE1DFCD-1015-3C95-9646-7FC96E54976F}"/>
              </a:ext>
            </a:extLst>
          </p:cNvPr>
          <p:cNvPicPr>
            <a:picLocks noChangeAspect="1"/>
          </p:cNvPicPr>
          <p:nvPr/>
        </p:nvPicPr>
        <p:blipFill>
          <a:blip r:embed="rId3"/>
          <a:stretch>
            <a:fillRect/>
          </a:stretch>
        </p:blipFill>
        <p:spPr>
          <a:xfrm>
            <a:off x="420402" y="1114817"/>
            <a:ext cx="4761197" cy="3984958"/>
          </a:xfrm>
          <a:prstGeom prst="rect">
            <a:avLst/>
          </a:prstGeom>
        </p:spPr>
      </p:pic>
    </p:spTree>
    <p:extLst>
      <p:ext uri="{BB962C8B-B14F-4D97-AF65-F5344CB8AC3E}">
        <p14:creationId xmlns:p14="http://schemas.microsoft.com/office/powerpoint/2010/main" val="31728366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1C1419-120D-DC1F-C21A-56303716ED90}"/>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BF62F1C8-BD5E-AB89-0E19-C79DD8E1455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东湖一号</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逻辑功能</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graphicFrame>
        <p:nvGraphicFramePr>
          <p:cNvPr id="2" name="表格 1"/>
          <p:cNvGraphicFramePr>
            <a:graphicFrameLocks noGrp="1"/>
          </p:cNvGraphicFramePr>
          <p:nvPr>
            <p:extLst>
              <p:ext uri="{D42A27DB-BD31-4B8C-83A1-F6EECF244321}">
                <p14:modId xmlns:p14="http://schemas.microsoft.com/office/powerpoint/2010/main" val="1545165079"/>
              </p:ext>
            </p:extLst>
          </p:nvPr>
        </p:nvGraphicFramePr>
        <p:xfrm>
          <a:off x="612503" y="1601617"/>
          <a:ext cx="8975634" cy="1483360"/>
        </p:xfrm>
        <a:graphic>
          <a:graphicData uri="http://schemas.openxmlformats.org/drawingml/2006/table">
            <a:tbl>
              <a:tblPr firstRow="1" bandRow="1">
                <a:tableStyleId>{5C22544A-7EE6-4342-B048-85BDC9FD1C3A}</a:tableStyleId>
              </a:tblPr>
              <a:tblGrid>
                <a:gridCol w="4573451"/>
                <a:gridCol w="4402183"/>
              </a:tblGrid>
              <a:tr h="370840">
                <a:tc>
                  <a:txBody>
                    <a:bodyPr/>
                    <a:lstStyle/>
                    <a:p>
                      <a:pPr algn="ctr"/>
                      <a:r>
                        <a:rPr lang="zh-CN" altLang="en-US" sz="1400" dirty="0" smtClean="0">
                          <a:solidFill>
                            <a:schemeClr val="tx1"/>
                          </a:solidFill>
                        </a:rPr>
                        <a:t>调试问题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1400" dirty="0" smtClean="0">
                          <a:solidFill>
                            <a:schemeClr val="tx1"/>
                          </a:solidFill>
                        </a:rPr>
                        <a:t>解决方法</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r>
              <a:tr h="370840">
                <a:tc>
                  <a:txBody>
                    <a:bodyPr/>
                    <a:lstStyle/>
                    <a:p>
                      <a:pPr algn="ctr"/>
                      <a:r>
                        <a:rPr lang="en-US" altLang="zh-CN" sz="1400" b="1" dirty="0" smtClean="0">
                          <a:solidFill>
                            <a:schemeClr val="tx1"/>
                          </a:solidFill>
                        </a:rPr>
                        <a:t>Group B </a:t>
                      </a:r>
                      <a:r>
                        <a:rPr lang="zh-CN" altLang="en-US" sz="1400" b="1" dirty="0" smtClean="0">
                          <a:solidFill>
                            <a:schemeClr val="tx1"/>
                          </a:solidFill>
                        </a:rPr>
                        <a:t>电源上电故障（强制上电版本）</a:t>
                      </a:r>
                      <a:endParaRPr lang="zh-CN" alt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文本框 3">
            <a:extLst>
              <a:ext uri="{FF2B5EF4-FFF2-40B4-BE49-F238E27FC236}">
                <a16:creationId xmlns:a16="http://schemas.microsoft.com/office/drawing/2014/main" xmlns="" id="{2BC0A0A8-0C9C-2D51-D930-A3AB6D1663CB}"/>
              </a:ext>
            </a:extLst>
          </p:cNvPr>
          <p:cNvSpPr txBox="1"/>
          <p:nvPr/>
        </p:nvSpPr>
        <p:spPr>
          <a:xfrm>
            <a:off x="527260" y="1099272"/>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调试问题记录</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4844441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857366-A2DB-824A-4A7A-8A567416A5B9}"/>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247A6696-938F-F67A-BBEE-C75173CF3637}"/>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内容</a:t>
            </a:r>
            <a:r>
              <a:rPr kumimoji="0" lang="en-US" altLang="zh-CN" sz="2400" b="1" i="0" u="none" strike="noStrike" kern="1200" cap="none" spc="0" normalizeH="0" baseline="0" noProof="0" dirty="0" smtClean="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smtClean="0">
                <a:ln>
                  <a:noFill/>
                </a:ln>
                <a:solidFill>
                  <a:prstClr val="black"/>
                </a:solidFill>
                <a:effectLst/>
                <a:uLnTx/>
                <a:uFillTx/>
                <a:latin typeface="微软雅黑"/>
                <a:ea typeface="微软雅黑"/>
                <a:cs typeface="+mj-cs"/>
              </a:rPr>
              <a:t>—</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欧康诺</a:t>
            </a:r>
            <a:r>
              <a:rPr lang="zh-CN" altLang="en-US" sz="2400" dirty="0" smtClean="0">
                <a:solidFill>
                  <a:prstClr val="black"/>
                </a:solidFill>
                <a:latin typeface="微软雅黑"/>
                <a:ea typeface="微软雅黑"/>
              </a:rPr>
              <a:t>电源</a:t>
            </a:r>
            <a:r>
              <a:rPr lang="zh-CN" altLang="en-US" sz="2400" dirty="0">
                <a:solidFill>
                  <a:prstClr val="black"/>
                </a:solidFill>
                <a:latin typeface="微软雅黑"/>
                <a:ea typeface="微软雅黑"/>
              </a:rPr>
              <a:t>上下</a:t>
            </a:r>
            <a:r>
              <a:rPr lang="zh-CN" altLang="en-US" sz="2400" dirty="0" smtClean="0">
                <a:solidFill>
                  <a:prstClr val="black"/>
                </a:solidFill>
                <a:latin typeface="微软雅黑"/>
                <a:ea typeface="微软雅黑"/>
              </a:rPr>
              <a:t>电</a:t>
            </a:r>
            <a:r>
              <a:rPr lang="zh-CN" altLang="en-US" sz="2400" dirty="0">
                <a:solidFill>
                  <a:prstClr val="black"/>
                </a:solidFill>
                <a:latin typeface="微软雅黑"/>
                <a:ea typeface="微软雅黑"/>
              </a:rPr>
              <a:t>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cxnSp>
        <p:nvCxnSpPr>
          <p:cNvPr id="5" name="直接连接符 4">
            <a:extLst>
              <a:ext uri="{FF2B5EF4-FFF2-40B4-BE49-F238E27FC236}">
                <a16:creationId xmlns:a16="http://schemas.microsoft.com/office/drawing/2014/main" xmlns="" id="{0F6A4A75-C2EE-20C3-81C0-5D6D016275CF}"/>
              </a:ext>
            </a:extLst>
          </p:cNvPr>
          <p:cNvCxnSpPr>
            <a:cxnSpLocks/>
          </p:cNvCxnSpPr>
          <p:nvPr/>
        </p:nvCxnSpPr>
        <p:spPr>
          <a:xfrm>
            <a:off x="6333883" y="1096773"/>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矩形 1">
            <a:extLst>
              <a:ext uri="{FF2B5EF4-FFF2-40B4-BE49-F238E27FC236}">
                <a16:creationId xmlns:a16="http://schemas.microsoft.com/office/drawing/2014/main" xmlns="" id="{7A80F02A-C8A0-6123-33BC-4C338141368D}"/>
              </a:ext>
            </a:extLst>
          </p:cNvPr>
          <p:cNvSpPr/>
          <p:nvPr/>
        </p:nvSpPr>
        <p:spPr>
          <a:xfrm>
            <a:off x="194345" y="1309300"/>
            <a:ext cx="6154205" cy="4893647"/>
          </a:xfrm>
          <a:prstGeom prst="rect">
            <a:avLst/>
          </a:prstGeom>
        </p:spPr>
        <p:txBody>
          <a:bodyPr wrap="square">
            <a:spAutoFit/>
          </a:bodyPr>
          <a:lstStyle/>
          <a:p>
            <a:r>
              <a:rPr lang="en-US" altLang="zh-CN" sz="1200" b="1" dirty="0" smtClean="0">
                <a:latin typeface="微软雅黑" panose="020B0503020204020204" pitchFamily="34" charset="-122"/>
                <a:ea typeface="微软雅黑" panose="020B0503020204020204" pitchFamily="34" charset="-122"/>
              </a:rPr>
              <a:t>1</a:t>
            </a:r>
            <a:r>
              <a:rPr lang="zh-CN" altLang="en-US" sz="1200" b="1" dirty="0" smtClean="0">
                <a:latin typeface="微软雅黑" panose="020B0503020204020204" pitchFamily="34" charset="-122"/>
                <a:ea typeface="微软雅黑" panose="020B0503020204020204" pitchFamily="34" charset="-122"/>
              </a:rPr>
              <a:t>、特点：三</a:t>
            </a:r>
            <a:r>
              <a:rPr lang="zh-CN" altLang="en-US" sz="1200" b="1" dirty="0">
                <a:latin typeface="微软雅黑" panose="020B0503020204020204" pitchFamily="34" charset="-122"/>
                <a:ea typeface="微软雅黑" panose="020B0503020204020204" pitchFamily="34" charset="-122"/>
              </a:rPr>
              <a:t>个模块控制上下</a:t>
            </a:r>
            <a:r>
              <a:rPr lang="zh-CN" altLang="en-US" sz="1200" b="1" dirty="0" smtClean="0">
                <a:latin typeface="微软雅黑" panose="020B0503020204020204" pitchFamily="34" charset="-122"/>
                <a:ea typeface="微软雅黑" panose="020B0503020204020204" pitchFamily="34" charset="-122"/>
              </a:rPr>
              <a:t>电：</a:t>
            </a:r>
            <a:endParaRPr lang="en-US" altLang="zh-CN" sz="1200" b="1" dirty="0">
              <a:latin typeface="微软雅黑" panose="020B0503020204020204" pitchFamily="34" charset="-122"/>
              <a:ea typeface="微软雅黑" panose="020B0503020204020204" pitchFamily="34" charset="-122"/>
            </a:endParaRPr>
          </a:p>
          <a:p>
            <a:r>
              <a:rPr lang="en-US" altLang="zh-CN" sz="1200" dirty="0" err="1">
                <a:latin typeface="微软雅黑" panose="020B0503020204020204" pitchFamily="34" charset="-122"/>
                <a:ea typeface="微软雅黑" panose="020B0503020204020204" pitchFamily="34" charset="-122"/>
              </a:rPr>
              <a:t>master_fub</a:t>
            </a:r>
            <a:r>
              <a:rPr lang="zh-CN" altLang="en-US" sz="1200" dirty="0">
                <a:latin typeface="微软雅黑" panose="020B0503020204020204" pitchFamily="34" charset="-122"/>
                <a:ea typeface="微软雅黑" panose="020B0503020204020204" pitchFamily="34" charset="-122"/>
              </a:rPr>
              <a:t>：所有电源时序的顶层控制模块</a:t>
            </a:r>
            <a:endParaRPr lang="en-US" altLang="zh-CN" sz="1200" dirty="0">
              <a:latin typeface="微软雅黑" panose="020B0503020204020204" pitchFamily="34" charset="-122"/>
              <a:ea typeface="微软雅黑" panose="020B0503020204020204" pitchFamily="34" charset="-122"/>
            </a:endParaRPr>
          </a:p>
          <a:p>
            <a:r>
              <a:rPr lang="en-US" altLang="zh-CN" sz="1200" dirty="0" err="1">
                <a:latin typeface="微软雅黑" panose="020B0503020204020204" pitchFamily="34" charset="-122"/>
                <a:ea typeface="微软雅黑" panose="020B0503020204020204" pitchFamily="34" charset="-122"/>
              </a:rPr>
              <a:t>cpu_aux</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CPU0/1 </a:t>
            </a:r>
            <a:r>
              <a:rPr lang="zh-CN" altLang="en-US" sz="1200" dirty="0">
                <a:latin typeface="微软雅黑" panose="020B0503020204020204" pitchFamily="34" charset="-122"/>
                <a:ea typeface="微软雅黑" panose="020B0503020204020204" pitchFamily="34" charset="-122"/>
              </a:rPr>
              <a:t>的辅助电源上下电。</a:t>
            </a:r>
          </a:p>
          <a:p>
            <a:r>
              <a:rPr lang="en-US" altLang="zh-CN" sz="1200" dirty="0" err="1">
                <a:latin typeface="微软雅黑" panose="020B0503020204020204" pitchFamily="34" charset="-122"/>
                <a:ea typeface="微软雅黑" panose="020B0503020204020204" pitchFamily="34" charset="-122"/>
              </a:rPr>
              <a:t>bnc_cpu_mem_seq</a:t>
            </a:r>
            <a:r>
              <a:rPr lang="zh-CN" altLang="en-US" sz="1200" dirty="0" smtClean="0">
                <a:latin typeface="微软雅黑" panose="020B0503020204020204" pitchFamily="34" charset="-122"/>
                <a:ea typeface="微软雅黑" panose="020B0503020204020204" pitchFamily="34" charset="-122"/>
              </a:rPr>
              <a:t>：执行 </a:t>
            </a:r>
            <a:r>
              <a:rPr lang="en-US" altLang="zh-CN" sz="1200" dirty="0">
                <a:latin typeface="微软雅黑" panose="020B0503020204020204" pitchFamily="34" charset="-122"/>
                <a:ea typeface="微软雅黑" panose="020B0503020204020204" pitchFamily="34" charset="-122"/>
              </a:rPr>
              <a:t>CPU0/1 </a:t>
            </a:r>
            <a:r>
              <a:rPr lang="zh-CN" altLang="en-US" sz="1200" dirty="0">
                <a:latin typeface="微软雅黑" panose="020B0503020204020204" pitchFamily="34" charset="-122"/>
                <a:ea typeface="微软雅黑" panose="020B0503020204020204" pitchFamily="34" charset="-122"/>
              </a:rPr>
              <a:t>核心主电 </a:t>
            </a:r>
            <a:r>
              <a:rPr lang="en-US" altLang="zh-CN" sz="1200" dirty="0">
                <a:latin typeface="微软雅黑" panose="020B0503020204020204" pitchFamily="34" charset="-122"/>
                <a:ea typeface="微软雅黑" panose="020B0503020204020204" pitchFamily="34" charset="-122"/>
              </a:rPr>
              <a:t>+ DDR </a:t>
            </a:r>
            <a:r>
              <a:rPr lang="zh-CN" altLang="en-US" sz="1200" dirty="0">
                <a:latin typeface="微软雅黑" panose="020B0503020204020204" pitchFamily="34" charset="-122"/>
                <a:ea typeface="微软雅黑" panose="020B0503020204020204" pitchFamily="34" charset="-122"/>
              </a:rPr>
              <a:t>内存电源的上下电</a:t>
            </a:r>
            <a:r>
              <a:rPr lang="zh-CN" altLang="en-US" sz="1200" dirty="0" smtClean="0">
                <a:latin typeface="微软雅黑" panose="020B0503020204020204" pitchFamily="34" charset="-122"/>
                <a:ea typeface="微软雅黑" panose="020B0503020204020204" pitchFamily="34" charset="-122"/>
              </a:rPr>
              <a:t>。</a:t>
            </a:r>
            <a:endParaRPr lang="en-US" altLang="zh-CN" sz="1200" dirty="0" smtClean="0">
              <a:latin typeface="微软雅黑" panose="020B0503020204020204" pitchFamily="34" charset="-122"/>
              <a:ea typeface="微软雅黑" panose="020B0503020204020204" pitchFamily="34" charset="-122"/>
            </a:endParaRPr>
          </a:p>
          <a:p>
            <a:endParaRPr lang="en-US" altLang="zh-CN" sz="1200" b="1" dirty="0" smtClean="0">
              <a:latin typeface="微软雅黑" panose="020B0503020204020204" pitchFamily="34" charset="-122"/>
              <a:ea typeface="微软雅黑" panose="020B0503020204020204" pitchFamily="34" charset="-122"/>
            </a:endParaRPr>
          </a:p>
          <a:p>
            <a:r>
              <a:rPr lang="en-US" altLang="zh-CN" sz="1200" b="1" dirty="0" smtClean="0">
                <a:latin typeface="微软雅黑" panose="020B0503020204020204" pitchFamily="34" charset="-122"/>
                <a:ea typeface="微软雅黑" panose="020B0503020204020204" pitchFamily="34" charset="-122"/>
              </a:rPr>
              <a:t>2</a:t>
            </a:r>
            <a:r>
              <a:rPr lang="zh-CN" altLang="en-US" sz="1200" b="1" dirty="0" smtClean="0">
                <a:latin typeface="微软雅黑" panose="020B0503020204020204" pitchFamily="34" charset="-122"/>
                <a:ea typeface="微软雅黑" panose="020B0503020204020204" pitchFamily="34" charset="-122"/>
              </a:rPr>
              <a:t>、辅电状态跳转：</a:t>
            </a:r>
            <a:endParaRPr lang="en-US" altLang="zh-CN" sz="1200" b="1" dirty="0" smtClean="0">
              <a:latin typeface="微软雅黑" panose="020B0503020204020204" pitchFamily="34" charset="-122"/>
              <a:ea typeface="微软雅黑" panose="020B0503020204020204" pitchFamily="34" charset="-122"/>
            </a:endParaRPr>
          </a:p>
          <a:p>
            <a:endParaRPr lang="en-US" altLang="zh-CN" sz="1200" b="1" dirty="0" smtClean="0">
              <a:latin typeface="微软雅黑" panose="020B0503020204020204" pitchFamily="34" charset="-122"/>
              <a:ea typeface="微软雅黑" panose="020B0503020204020204" pitchFamily="34" charset="-122"/>
            </a:endParaRPr>
          </a:p>
          <a:p>
            <a:r>
              <a:rPr lang="zh-CN" altLang="en-US" sz="1200" b="1" dirty="0" smtClean="0">
                <a:latin typeface="微软雅黑" panose="020B0503020204020204" pitchFamily="34" charset="-122"/>
                <a:ea typeface="微软雅黑" panose="020B0503020204020204" pitchFamily="34" charset="-122"/>
              </a:rPr>
              <a:t>上</a:t>
            </a:r>
            <a:r>
              <a:rPr lang="zh-CN" altLang="en-US" sz="1200" b="1" dirty="0">
                <a:latin typeface="微软雅黑" panose="020B0503020204020204" pitchFamily="34" charset="-122"/>
                <a:ea typeface="微软雅黑" panose="020B0503020204020204" pitchFamily="34" charset="-122"/>
              </a:rPr>
              <a:t>电正向</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ST_INIT</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ST_PVCCFA_EHV</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ST_PVNN_MAIN</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ST_CPU_AUX_ON</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完成，输出</a:t>
            </a:r>
            <a:r>
              <a:rPr lang="en-US" altLang="zh-CN" sz="1200" dirty="0" err="1">
                <a:latin typeface="微软雅黑" panose="020B0503020204020204" pitchFamily="34" charset="-122"/>
                <a:ea typeface="微软雅黑" panose="020B0503020204020204" pitchFamily="34" charset="-122"/>
              </a:rPr>
              <a:t>PWRGD</a:t>
            </a:r>
            <a:r>
              <a:rPr lang="en-US" altLang="zh-CN" sz="1200" dirty="0">
                <a:latin typeface="微软雅黑" panose="020B0503020204020204" pitchFamily="34" charset="-122"/>
                <a:ea typeface="微软雅黑" panose="020B0503020204020204" pitchFamily="34" charset="-122"/>
              </a:rPr>
              <a:t>=1) </a:t>
            </a:r>
            <a:endParaRPr lang="en-US" altLang="zh-CN" sz="1200" dirty="0" smtClean="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下电反向</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ST_CPU_AUX_ON</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ST_PVNN_MAIN_OFF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ST_PVCCFA_EHV_OFF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ST_INIT</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完成，</a:t>
            </a:r>
            <a:r>
              <a:rPr lang="en-US" altLang="zh-CN" sz="1200" dirty="0" err="1">
                <a:latin typeface="微软雅黑" panose="020B0503020204020204" pitchFamily="34" charset="-122"/>
                <a:ea typeface="微软雅黑" panose="020B0503020204020204" pitchFamily="34" charset="-122"/>
              </a:rPr>
              <a:t>PWRGD</a:t>
            </a:r>
            <a:r>
              <a:rPr lang="en-US" altLang="zh-CN" sz="1200" dirty="0">
                <a:latin typeface="微软雅黑" panose="020B0503020204020204" pitchFamily="34" charset="-122"/>
                <a:ea typeface="微软雅黑" panose="020B0503020204020204" pitchFamily="34" charset="-122"/>
              </a:rPr>
              <a:t>=0) </a:t>
            </a:r>
            <a:endParaRPr lang="en-US" altLang="zh-CN" sz="1200" dirty="0" smtClean="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异常跳转</a:t>
            </a:r>
            <a:r>
              <a:rPr lang="zh-CN" altLang="en-US" sz="1200" dirty="0">
                <a:latin typeface="微软雅黑" panose="020B0503020204020204" pitchFamily="34" charset="-122"/>
                <a:ea typeface="微软雅黑" panose="020B0503020204020204" pitchFamily="34" charset="-122"/>
              </a:rPr>
              <a:t>：任意状态 → </a:t>
            </a:r>
            <a:r>
              <a:rPr lang="en-US" altLang="zh-CN" sz="1200" dirty="0" smtClean="0">
                <a:latin typeface="微软雅黑" panose="020B0503020204020204" pitchFamily="34" charset="-122"/>
                <a:ea typeface="微软雅黑" panose="020B0503020204020204" pitchFamily="34" charset="-122"/>
              </a:rPr>
              <a:t>ERROR/TIMEOUT</a:t>
            </a:r>
            <a:r>
              <a:rPr lang="zh-CN" altLang="en-US" sz="1200" dirty="0" smtClean="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上报</a:t>
            </a:r>
            <a:r>
              <a:rPr lang="en-US" altLang="zh-CN" sz="1200" dirty="0" err="1">
                <a:latin typeface="微软雅黑" panose="020B0503020204020204" pitchFamily="34" charset="-122"/>
                <a:ea typeface="微软雅黑" panose="020B0503020204020204" pitchFamily="34" charset="-122"/>
              </a:rPr>
              <a:t>master_fub</a:t>
            </a:r>
            <a:r>
              <a:rPr lang="zh-CN" altLang="en-US" sz="1200" dirty="0" smtClean="0">
                <a:latin typeface="微软雅黑" panose="020B0503020204020204" pitchFamily="34" charset="-122"/>
                <a:ea typeface="微软雅黑" panose="020B0503020204020204" pitchFamily="34" charset="-122"/>
              </a:rPr>
              <a:t>进入</a:t>
            </a:r>
            <a:r>
              <a:rPr lang="en-US" altLang="zh-CN" sz="1200" dirty="0" err="1" smtClean="0">
                <a:latin typeface="微软雅黑" panose="020B0503020204020204" pitchFamily="34" charset="-122"/>
                <a:ea typeface="微软雅黑" panose="020B0503020204020204" pitchFamily="34" charset="-122"/>
              </a:rPr>
              <a:t>ST_ERROR</a:t>
            </a:r>
            <a:endParaRPr lang="en-US" altLang="zh-CN" sz="1200" dirty="0" smtClean="0">
              <a:latin typeface="微软雅黑" panose="020B0503020204020204" pitchFamily="34" charset="-122"/>
              <a:ea typeface="微软雅黑" panose="020B0503020204020204" pitchFamily="34" charset="-122"/>
            </a:endParaRPr>
          </a:p>
          <a:p>
            <a:endParaRPr lang="en-US" altLang="zh-CN" sz="1200" dirty="0" smtClean="0">
              <a:latin typeface="微软雅黑" panose="020B0503020204020204" pitchFamily="34" charset="-122"/>
              <a:ea typeface="微软雅黑" panose="020B0503020204020204" pitchFamily="34" charset="-122"/>
            </a:endParaRPr>
          </a:p>
          <a:p>
            <a:r>
              <a:rPr lang="en-US" altLang="zh-CN" sz="1200" b="1" dirty="0" smtClean="0">
                <a:latin typeface="微软雅黑" panose="020B0503020204020204" pitchFamily="34" charset="-122"/>
                <a:ea typeface="微软雅黑" panose="020B0503020204020204" pitchFamily="34" charset="-122"/>
              </a:rPr>
              <a:t>3</a:t>
            </a:r>
            <a:r>
              <a:rPr lang="zh-CN" altLang="en-US" sz="1200" b="1" dirty="0" smtClean="0">
                <a:latin typeface="微软雅黑" panose="020B0503020204020204" pitchFamily="34" charset="-122"/>
                <a:ea typeface="微软雅黑" panose="020B0503020204020204" pitchFamily="34" charset="-122"/>
              </a:rPr>
              <a:t>、主电</a:t>
            </a:r>
            <a:r>
              <a:rPr lang="zh-CN" altLang="en-US" sz="1200" b="1" dirty="0">
                <a:latin typeface="微软雅黑" panose="020B0503020204020204" pitchFamily="34" charset="-122"/>
                <a:ea typeface="微软雅黑" panose="020B0503020204020204" pitchFamily="34" charset="-122"/>
              </a:rPr>
              <a:t>状态跳转：</a:t>
            </a:r>
            <a:endParaRPr lang="en-US" altLang="zh-CN" sz="1200" b="1"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上电正向</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ST_INIT</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ST_PVCCD_HV</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ST_PVCCFA_EHV_FIVRA</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ST_PVCCINFAON</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ST_PVCCIN</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ST_CPUDONE</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完成，输出</a:t>
            </a:r>
            <a:r>
              <a:rPr lang="en-US" altLang="zh-CN" sz="1200" dirty="0" err="1">
                <a:latin typeface="微软雅黑" panose="020B0503020204020204" pitchFamily="34" charset="-122"/>
                <a:ea typeface="微软雅黑" panose="020B0503020204020204" pitchFamily="34" charset="-122"/>
              </a:rPr>
              <a:t>PWR_OK</a:t>
            </a:r>
            <a:r>
              <a:rPr lang="en-US" altLang="zh-CN" sz="1200" dirty="0">
                <a:latin typeface="微软雅黑" panose="020B0503020204020204" pitchFamily="34" charset="-122"/>
                <a:ea typeface="微软雅黑" panose="020B0503020204020204" pitchFamily="34" charset="-122"/>
              </a:rPr>
              <a:t>=1) </a:t>
            </a:r>
            <a:endParaRPr lang="en-US" altLang="zh-CN" sz="1200" dirty="0" smtClean="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b="1" dirty="0" smtClean="0">
                <a:latin typeface="微软雅黑" panose="020B0503020204020204" pitchFamily="34" charset="-122"/>
                <a:ea typeface="微软雅黑" panose="020B0503020204020204" pitchFamily="34" charset="-122"/>
              </a:rPr>
              <a:t>下</a:t>
            </a:r>
            <a:r>
              <a:rPr lang="zh-CN" altLang="en-US" sz="1200" b="1" dirty="0">
                <a:latin typeface="微软雅黑" panose="020B0503020204020204" pitchFamily="34" charset="-122"/>
                <a:ea typeface="微软雅黑" panose="020B0503020204020204" pitchFamily="34" charset="-122"/>
              </a:rPr>
              <a:t>电反向</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ST_CPUDONE</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ST_PVCCIN_OFF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ST_PVCCINFAON_OFF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ST_PVCCFA_EHV_FIVRA_OFF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ST_PVCCD_HV_OFF</a:t>
            </a:r>
            <a:r>
              <a:rPr lang="en-US" altLang="zh-CN" sz="1200" dirty="0">
                <a:latin typeface="微软雅黑" panose="020B0503020204020204" pitchFamily="34" charset="-122"/>
                <a:ea typeface="微软雅黑" panose="020B0503020204020204" pitchFamily="34" charset="-122"/>
              </a:rPr>
              <a:t> → </a:t>
            </a:r>
            <a:r>
              <a:rPr lang="en-US" altLang="zh-CN" sz="1200" dirty="0" err="1">
                <a:latin typeface="微软雅黑" panose="020B0503020204020204" pitchFamily="34" charset="-122"/>
                <a:ea typeface="微软雅黑" panose="020B0503020204020204" pitchFamily="34" charset="-122"/>
              </a:rPr>
              <a:t>ST_INIT</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完成，</a:t>
            </a:r>
            <a:r>
              <a:rPr lang="en-US" altLang="zh-CN" sz="1200" dirty="0" err="1">
                <a:latin typeface="微软雅黑" panose="020B0503020204020204" pitchFamily="34" charset="-122"/>
                <a:ea typeface="微软雅黑" panose="020B0503020204020204" pitchFamily="34" charset="-122"/>
              </a:rPr>
              <a:t>PWR_OK</a:t>
            </a:r>
            <a:r>
              <a:rPr lang="en-US" altLang="zh-CN" sz="1200" dirty="0">
                <a:latin typeface="微软雅黑" panose="020B0503020204020204" pitchFamily="34" charset="-122"/>
                <a:ea typeface="微软雅黑" panose="020B0503020204020204" pitchFamily="34" charset="-122"/>
              </a:rPr>
              <a:t>=0) </a:t>
            </a:r>
            <a:endParaRPr lang="en-US" altLang="zh-CN" sz="1200" dirty="0" smtClean="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异常跳转</a:t>
            </a:r>
            <a:r>
              <a:rPr lang="zh-CN" altLang="en-US" sz="1200" dirty="0">
                <a:latin typeface="微软雅黑" panose="020B0503020204020204" pitchFamily="34" charset="-122"/>
                <a:ea typeface="微软雅黑" panose="020B0503020204020204" pitchFamily="34" charset="-122"/>
              </a:rPr>
              <a:t>：任意状态 → </a:t>
            </a:r>
            <a:r>
              <a:rPr lang="en-US" altLang="zh-CN" sz="1200" dirty="0" err="1">
                <a:latin typeface="微软雅黑" panose="020B0503020204020204" pitchFamily="34" charset="-122"/>
                <a:ea typeface="微软雅黑" panose="020B0503020204020204" pitchFamily="34" charset="-122"/>
              </a:rPr>
              <a:t>ST_PWROFF_TIMEOUT</a:t>
            </a:r>
            <a:r>
              <a:rPr lang="zh-CN" altLang="en-US" sz="1200" dirty="0">
                <a:latin typeface="微软雅黑" panose="020B0503020204020204" pitchFamily="34" charset="-122"/>
                <a:ea typeface="微软雅黑" panose="020B0503020204020204" pitchFamily="34" charset="-122"/>
              </a:rPr>
              <a:t>（下电超时）→ 上报</a:t>
            </a:r>
            <a:r>
              <a:rPr lang="en-US" altLang="zh-CN" sz="1200" dirty="0" err="1">
                <a:latin typeface="微软雅黑" panose="020B0503020204020204" pitchFamily="34" charset="-122"/>
                <a:ea typeface="微软雅黑" panose="020B0503020204020204" pitchFamily="34" charset="-122"/>
              </a:rPr>
              <a:t>master_fub</a:t>
            </a:r>
            <a:r>
              <a:rPr lang="zh-CN" altLang="en-US" sz="1200" dirty="0">
                <a:latin typeface="微软雅黑" panose="020B0503020204020204" pitchFamily="34" charset="-122"/>
                <a:ea typeface="微软雅黑" panose="020B0503020204020204" pitchFamily="34" charset="-122"/>
              </a:rPr>
              <a:t>进入错误态</a:t>
            </a:r>
          </a:p>
          <a:p>
            <a:endParaRPr lang="zh-CN" altLang="en-US" sz="12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xmlns="" id="{1D389CD6-E845-3DA2-3ADA-9C0BB02436A2}"/>
              </a:ext>
            </a:extLst>
          </p:cNvPr>
          <p:cNvPicPr>
            <a:picLocks noChangeAspect="1"/>
          </p:cNvPicPr>
          <p:nvPr/>
        </p:nvPicPr>
        <p:blipFill>
          <a:blip r:embed="rId2"/>
          <a:stretch>
            <a:fillRect/>
          </a:stretch>
        </p:blipFill>
        <p:spPr>
          <a:xfrm>
            <a:off x="6367515" y="1030622"/>
            <a:ext cx="5856567" cy="5417945"/>
          </a:xfrm>
          <a:prstGeom prst="rect">
            <a:avLst/>
          </a:prstGeom>
        </p:spPr>
      </p:pic>
    </p:spTree>
    <p:extLst>
      <p:ext uri="{BB962C8B-B14F-4D97-AF65-F5344CB8AC3E}">
        <p14:creationId xmlns:p14="http://schemas.microsoft.com/office/powerpoint/2010/main" val="398930660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B77AEF-843F-FED9-1E20-82531219CA09}"/>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14D5FC47-2423-CDE3-8CC0-80A06504430F}"/>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内容</a:t>
            </a:r>
            <a:r>
              <a:rPr kumimoji="0" lang="en-US" altLang="zh-CN" sz="2400" b="1" i="0" u="none" strike="noStrike" kern="1200" cap="none" spc="0" normalizeH="0" baseline="0" noProof="0" dirty="0" smtClean="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lang="zh-CN" altLang="en-US" sz="2400" dirty="0" smtClean="0">
                <a:solidFill>
                  <a:prstClr val="black"/>
                </a:solidFill>
                <a:latin typeface="微软雅黑"/>
                <a:ea typeface="微软雅黑"/>
              </a:rPr>
              <a:t>欧康诺逻辑功能调试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Tree>
    <p:extLst>
      <p:ext uri="{BB962C8B-B14F-4D97-AF65-F5344CB8AC3E}">
        <p14:creationId xmlns:p14="http://schemas.microsoft.com/office/powerpoint/2010/main" val="310044216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167FC13-AE83-0D31-8133-BF00331292B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5B6710D7-1A3C-9C49-E367-73AFDE59579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内容</a:t>
            </a:r>
            <a:r>
              <a:rPr lang="en-US" altLang="zh-CN" sz="2400" dirty="0">
                <a:solidFill>
                  <a:prstClr val="black"/>
                </a:solidFill>
                <a:latin typeface="微软雅黑"/>
                <a:ea typeface="微软雅黑"/>
              </a:rPr>
              <a:t>3</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lang="zh-CN" altLang="en-US" sz="2400" noProof="0" dirty="0" smtClean="0">
                <a:solidFill>
                  <a:prstClr val="black"/>
                </a:solidFill>
                <a:latin typeface="微软雅黑"/>
                <a:ea typeface="微软雅黑"/>
              </a:rPr>
              <a:t>龙芯</a:t>
            </a:r>
            <a:r>
              <a:rPr lang="en-US" altLang="zh-CN" sz="2400" noProof="0" dirty="0" smtClean="0">
                <a:solidFill>
                  <a:prstClr val="black"/>
                </a:solidFill>
                <a:latin typeface="微软雅黑"/>
                <a:ea typeface="微软雅黑"/>
              </a:rPr>
              <a:t>3E6000</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硬件</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设计方案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pic>
        <p:nvPicPr>
          <p:cNvPr id="3" name="图片 2" descr="图示, 示意图&#10;&#10;AI 生成的内容可能不正确。">
            <a:extLst>
              <a:ext uri="{FF2B5EF4-FFF2-40B4-BE49-F238E27FC236}">
                <a16:creationId xmlns:a16="http://schemas.microsoft.com/office/drawing/2014/main" xmlns="" id="{071990E3-1218-34A2-BEFE-1F826A711DE7}"/>
              </a:ext>
            </a:extLst>
          </p:cNvPr>
          <p:cNvPicPr>
            <a:picLocks noChangeAspect="1"/>
          </p:cNvPicPr>
          <p:nvPr/>
        </p:nvPicPr>
        <p:blipFill>
          <a:blip r:embed="rId2"/>
          <a:stretch>
            <a:fillRect/>
          </a:stretch>
        </p:blipFill>
        <p:spPr>
          <a:xfrm>
            <a:off x="6265799" y="1571050"/>
            <a:ext cx="5829199" cy="4003717"/>
          </a:xfrm>
          <a:prstGeom prst="rect">
            <a:avLst/>
          </a:prstGeom>
        </p:spPr>
      </p:pic>
      <p:cxnSp>
        <p:nvCxnSpPr>
          <p:cNvPr id="5" name="直接连接符 4">
            <a:extLst>
              <a:ext uri="{FF2B5EF4-FFF2-40B4-BE49-F238E27FC236}">
                <a16:creationId xmlns:a16="http://schemas.microsoft.com/office/drawing/2014/main" xmlns="" id="{7BECF130-A785-D356-EA8A-F3280894CAC1}"/>
              </a:ext>
            </a:extLst>
          </p:cNvPr>
          <p:cNvCxnSpPr>
            <a:cxnSpLocks/>
          </p:cNvCxnSpPr>
          <p:nvPr/>
        </p:nvCxnSpPr>
        <p:spPr>
          <a:xfrm>
            <a:off x="6259654" y="1052103"/>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xmlns="" id="{50131B96-1067-AAC2-2D75-9FD20C3217AA}"/>
              </a:ext>
            </a:extLst>
          </p:cNvPr>
          <p:cNvSpPr/>
          <p:nvPr/>
        </p:nvSpPr>
        <p:spPr>
          <a:xfrm>
            <a:off x="34183" y="1188380"/>
            <a:ext cx="6207057" cy="4873835"/>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、计算存储</a:t>
            </a:r>
            <a:r>
              <a:rPr lang="zh-CN" altLang="en-US" sz="1200" dirty="0">
                <a:solidFill>
                  <a:prstClr val="black"/>
                </a:solidFill>
                <a:latin typeface="微软雅黑" panose="020B0503020204020204" pitchFamily="34" charset="-122"/>
                <a:ea typeface="微软雅黑" panose="020B0503020204020204" pitchFamily="34" charset="-122"/>
              </a:rPr>
              <a:t>：双</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架构，</a:t>
            </a:r>
            <a:r>
              <a:rPr lang="en-US" altLang="zh-CN" sz="1200" dirty="0"/>
              <a:t> </a:t>
            </a:r>
            <a:r>
              <a:rPr lang="en-US" altLang="zh-CN" sz="1200" dirty="0">
                <a:solidFill>
                  <a:prstClr val="black"/>
                </a:solidFill>
                <a:latin typeface="微软雅黑" panose="020B0503020204020204" pitchFamily="34" charset="-122"/>
                <a:ea typeface="微软雅黑" panose="020B0503020204020204" pitchFamily="34" charset="-122"/>
              </a:rPr>
              <a:t>CPU0 </a:t>
            </a:r>
            <a:r>
              <a:rPr lang="zh-CN" altLang="en-US" sz="1200" dirty="0">
                <a:solidFill>
                  <a:prstClr val="black"/>
                </a:solidFill>
                <a:latin typeface="微软雅黑" panose="020B0503020204020204" pitchFamily="34" charset="-122"/>
                <a:ea typeface="微软雅黑" panose="020B0503020204020204" pitchFamily="34" charset="-122"/>
              </a:rPr>
              <a:t>和 </a:t>
            </a:r>
            <a:r>
              <a:rPr lang="en-US" altLang="zh-CN" sz="1200" dirty="0">
                <a:solidFill>
                  <a:prstClr val="black"/>
                </a:solidFill>
                <a:latin typeface="微软雅黑" panose="020B0503020204020204" pitchFamily="34" charset="-122"/>
                <a:ea typeface="微软雅黑" panose="020B0503020204020204" pitchFamily="34" charset="-122"/>
              </a:rPr>
              <a:t>CPU1 </a:t>
            </a:r>
            <a:r>
              <a:rPr lang="zh-CN" altLang="en-US" sz="1200" dirty="0">
                <a:solidFill>
                  <a:prstClr val="black"/>
                </a:solidFill>
                <a:latin typeface="微软雅黑" panose="020B0503020204020204" pitchFamily="34" charset="-122"/>
                <a:ea typeface="微软雅黑" panose="020B0503020204020204" pitchFamily="34" charset="-122"/>
              </a:rPr>
              <a:t>均支持 </a:t>
            </a:r>
            <a:r>
              <a:rPr lang="en-US" altLang="zh-CN" sz="1200" dirty="0">
                <a:solidFill>
                  <a:prstClr val="black"/>
                </a:solidFill>
                <a:latin typeface="微软雅黑" panose="020B0503020204020204" pitchFamily="34" charset="-122"/>
                <a:ea typeface="微软雅黑" panose="020B0503020204020204" pitchFamily="34" charset="-122"/>
              </a:rPr>
              <a:t>12 </a:t>
            </a:r>
            <a:r>
              <a:rPr lang="zh-CN" altLang="en-US" sz="1200" dirty="0">
                <a:solidFill>
                  <a:prstClr val="black"/>
                </a:solidFill>
                <a:latin typeface="微软雅黑" panose="020B0503020204020204" pitchFamily="34" charset="-122"/>
                <a:ea typeface="微软雅黑" panose="020B0503020204020204" pitchFamily="34" charset="-122"/>
              </a:rPr>
              <a:t>个内存通道（</a:t>
            </a:r>
            <a:r>
              <a:rPr lang="en-US" altLang="zh-CN" sz="1200" dirty="0">
                <a:solidFill>
                  <a:prstClr val="black"/>
                </a:solidFill>
                <a:latin typeface="微软雅黑" panose="020B0503020204020204" pitchFamily="34" charset="-122"/>
                <a:ea typeface="微软雅黑" panose="020B0503020204020204" pitchFamily="34" charset="-122"/>
              </a:rPr>
              <a:t>CHA-CHL</a:t>
            </a:r>
            <a:r>
              <a:rPr lang="zh-CN" altLang="en-US" sz="1200" dirty="0">
                <a:solidFill>
                  <a:prstClr val="black"/>
                </a:solidFill>
                <a:latin typeface="微软雅黑" panose="020B0503020204020204" pitchFamily="34" charset="-122"/>
                <a:ea typeface="微软雅黑" panose="020B0503020204020204" pitchFamily="34" charset="-122"/>
              </a:rPr>
              <a:t>），对应独立的 </a:t>
            </a:r>
            <a:r>
              <a:rPr lang="en-US" altLang="zh-CN" sz="1200" dirty="0">
                <a:solidFill>
                  <a:prstClr val="black"/>
                </a:solidFill>
                <a:latin typeface="微软雅黑" panose="020B0503020204020204" pitchFamily="34" charset="-122"/>
                <a:ea typeface="微软雅黑" panose="020B0503020204020204" pitchFamily="34" charset="-122"/>
              </a:rPr>
              <a:t>DIMM </a:t>
            </a:r>
            <a:r>
              <a:rPr lang="zh-CN" altLang="en-US" sz="1200" dirty="0">
                <a:solidFill>
                  <a:prstClr val="black"/>
                </a:solidFill>
                <a:latin typeface="微软雅黑" panose="020B0503020204020204" pitchFamily="34" charset="-122"/>
                <a:ea typeface="微软雅黑" panose="020B0503020204020204" pitchFamily="34" charset="-122"/>
              </a:rPr>
              <a:t>通道；</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、总线拓扑</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高速：</a:t>
            </a:r>
            <a:r>
              <a:rPr lang="en-US" altLang="zh-CN" sz="1200" dirty="0">
                <a:solidFill>
                  <a:prstClr val="black"/>
                </a:solidFill>
                <a:latin typeface="微软雅黑" panose="020B0503020204020204" pitchFamily="34" charset="-122"/>
                <a:ea typeface="微软雅黑" panose="020B0503020204020204" pitchFamily="34" charset="-122"/>
              </a:rPr>
              <a:t>XGMI 0~3 </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接口；</a:t>
            </a:r>
            <a:r>
              <a:rPr lang="en-US" altLang="zh-CN" sz="1200" dirty="0">
                <a:solidFill>
                  <a:prstClr val="black"/>
                </a:solidFill>
                <a:latin typeface="微软雅黑" panose="020B0503020204020204" pitchFamily="34" charset="-122"/>
                <a:ea typeface="微软雅黑" panose="020B0503020204020204" pitchFamily="34" charset="-122"/>
              </a:rPr>
              <a:t>XGMI 0~2</a:t>
            </a:r>
            <a:r>
              <a:rPr lang="zh-CN" altLang="en-US" sz="1200" dirty="0">
                <a:solidFill>
                  <a:prstClr val="black"/>
                </a:solidFill>
                <a:latin typeface="微软雅黑" panose="020B0503020204020204" pitchFamily="34" charset="-122"/>
                <a:ea typeface="微软雅黑" panose="020B0503020204020204" pitchFamily="34" charset="-122"/>
              </a:rPr>
              <a:t>用于 </a:t>
            </a:r>
            <a:r>
              <a:rPr lang="en-US" altLang="zh-CN" sz="1200" dirty="0">
                <a:solidFill>
                  <a:prstClr val="black"/>
                </a:solidFill>
                <a:latin typeface="微软雅黑" panose="020B0503020204020204" pitchFamily="34" charset="-122"/>
                <a:ea typeface="微软雅黑" panose="020B0503020204020204" pitchFamily="34" charset="-122"/>
              </a:rPr>
              <a:t>AMD</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间互联；</a:t>
            </a:r>
            <a:r>
              <a:rPr lang="en-US" altLang="zh-CN" sz="1200" dirty="0">
                <a:solidFill>
                  <a:prstClr val="black"/>
                </a:solidFill>
                <a:latin typeface="微软雅黑" panose="020B0503020204020204" pitchFamily="34" charset="-122"/>
                <a:ea typeface="微软雅黑" panose="020B0503020204020204" pitchFamily="34" charset="-122"/>
              </a:rPr>
              <a:t>XGMI 3</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USB2.0/3.0</a:t>
            </a:r>
            <a:r>
              <a:rPr lang="zh-CN" altLang="en-US" sz="1200" dirty="0">
                <a:solidFill>
                  <a:prstClr val="black"/>
                </a:solidFill>
                <a:latin typeface="微软雅黑" panose="020B0503020204020204" pitchFamily="34" charset="-122"/>
                <a:ea typeface="微软雅黑" panose="020B0503020204020204" pitchFamily="34" charset="-122"/>
              </a:rPr>
              <a:t> 通过</a:t>
            </a:r>
            <a:r>
              <a:rPr lang="en-US" altLang="zh-CN" sz="1200" dirty="0">
                <a:solidFill>
                  <a:prstClr val="black"/>
                </a:solidFill>
                <a:latin typeface="微软雅黑" panose="020B0503020204020204" pitchFamily="34" charset="-122"/>
                <a:ea typeface="微软雅黑" panose="020B0503020204020204" pitchFamily="34" charset="-122"/>
              </a:rPr>
              <a:t>MCIO</a:t>
            </a:r>
            <a:r>
              <a:rPr lang="zh-CN" altLang="en-US" sz="1200" dirty="0">
                <a:solidFill>
                  <a:prstClr val="black"/>
                </a:solidFill>
                <a:latin typeface="微软雅黑" panose="020B0503020204020204" pitchFamily="34" charset="-122"/>
                <a:ea typeface="微软雅黑" panose="020B0503020204020204" pitchFamily="34" charset="-122"/>
              </a:rPr>
              <a:t>或连接芯片连接网卡、显卡、存储器、</a:t>
            </a:r>
            <a:r>
              <a:rPr lang="en-US" altLang="zh-CN" sz="1200" dirty="0">
                <a:solidFill>
                  <a:prstClr val="black"/>
                </a:solidFill>
                <a:latin typeface="微软雅黑" panose="020B0503020204020204" pitchFamily="34" charset="-122"/>
                <a:ea typeface="微软雅黑" panose="020B0503020204020204" pitchFamily="34" charset="-122"/>
              </a:rPr>
              <a:t>USB</a:t>
            </a:r>
            <a:r>
              <a:rPr lang="zh-CN" altLang="en-US" sz="1200" dirty="0">
                <a:solidFill>
                  <a:prstClr val="black"/>
                </a:solidFill>
                <a:latin typeface="微软雅黑" panose="020B0503020204020204" pitchFamily="34" charset="-122"/>
                <a:ea typeface="微软雅黑" panose="020B0503020204020204" pitchFamily="34" charset="-122"/>
              </a:rPr>
              <a:t>等外部高速设备以及</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间的控制类信息交互。</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低速：</a:t>
            </a:r>
            <a:r>
              <a:rPr lang="en-US" altLang="zh-CN" sz="1200" dirty="0">
                <a:solidFill>
                  <a:prstClr val="black"/>
                </a:solidFill>
                <a:latin typeface="微软雅黑" panose="020B0503020204020204" pitchFamily="34" charset="-122"/>
                <a:ea typeface="微软雅黑" panose="020B0503020204020204" pitchFamily="34" charset="-122"/>
              </a:rPr>
              <a:t>I3C (BMC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对 </a:t>
            </a:r>
            <a:r>
              <a:rPr lang="en-US" altLang="zh-CN" sz="1200" dirty="0">
                <a:solidFill>
                  <a:prstClr val="black"/>
                </a:solidFill>
                <a:latin typeface="微软雅黑" panose="020B0503020204020204" pitchFamily="34" charset="-122"/>
                <a:ea typeface="微软雅黑" panose="020B0503020204020204" pitchFamily="34" charset="-122"/>
              </a:rPr>
              <a:t>DDR5 DIMM </a:t>
            </a:r>
            <a:r>
              <a:rPr lang="zh-CN" altLang="en-US" sz="1200" dirty="0">
                <a:solidFill>
                  <a:prstClr val="black"/>
                </a:solidFill>
                <a:latin typeface="微软雅黑" panose="020B0503020204020204" pitchFamily="34" charset="-122"/>
                <a:ea typeface="微软雅黑" panose="020B0503020204020204" pitchFamily="34" charset="-122"/>
              </a:rPr>
              <a:t>通信</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I2C</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a:solidFill>
                  <a:prstClr val="black"/>
                </a:solidFill>
                <a:latin typeface="微软雅黑" panose="020B0503020204020204" pitchFamily="34" charset="-122"/>
                <a:ea typeface="微软雅黑" panose="020B0503020204020204" pitchFamily="34" charset="-122"/>
              </a:rPr>
              <a:t>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 TPM</a:t>
            </a:r>
            <a:r>
              <a:rPr lang="zh-CN" altLang="en-US" sz="1200" dirty="0">
                <a:solidFill>
                  <a:prstClr val="black"/>
                </a:solidFill>
                <a:latin typeface="微软雅黑" panose="020B0503020204020204" pitchFamily="34" charset="-122"/>
                <a:ea typeface="微软雅黑" panose="020B0503020204020204" pitchFamily="34" charset="-122"/>
              </a:rPr>
              <a:t>芯片、</a:t>
            </a:r>
            <a:r>
              <a:rPr lang="en-US" altLang="zh-CN" sz="1200" dirty="0">
                <a:solidFill>
                  <a:prstClr val="black"/>
                </a:solidFill>
                <a:latin typeface="微软雅黑" panose="020B0503020204020204" pitchFamily="34" charset="-122"/>
                <a:ea typeface="微软雅黑" panose="020B0503020204020204" pitchFamily="34" charset="-122"/>
              </a:rPr>
              <a:t>BIOS_FLASH </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err="1">
                <a:solidFill>
                  <a:prstClr val="black"/>
                </a:solidFill>
                <a:latin typeface="微软雅黑" panose="020B0503020204020204" pitchFamily="34" charset="-122"/>
                <a:ea typeface="微软雅黑" panose="020B0503020204020204" pitchFamily="34" charset="-122"/>
              </a:rPr>
              <a:t>eSPI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UART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JTAG</a:t>
            </a:r>
            <a:r>
              <a:rPr lang="zh-CN" altLang="en-US" sz="1200" dirty="0">
                <a:solidFill>
                  <a:prstClr val="black"/>
                </a:solidFill>
                <a:latin typeface="微软雅黑" panose="020B0503020204020204" pitchFamily="34" charset="-122"/>
                <a:ea typeface="微软雅黑" panose="020B0503020204020204" pitchFamily="34" charset="-122"/>
              </a:rPr>
              <a:t>接口</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、时钟复位</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一级</a:t>
            </a:r>
            <a:r>
              <a:rPr lang="en-US" altLang="zh-CN" sz="1200" dirty="0">
                <a:solidFill>
                  <a:prstClr val="black"/>
                </a:solidFill>
                <a:latin typeface="微软雅黑" panose="020B0503020204020204" pitchFamily="34" charset="-122"/>
                <a:ea typeface="微软雅黑" panose="020B0503020204020204" pitchFamily="34" charset="-122"/>
              </a:rPr>
              <a:t>AUS615</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CMU</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P0/P1</a:t>
            </a:r>
            <a:r>
              <a:rPr lang="zh-CN" altLang="en-US" sz="1200" dirty="0">
                <a:solidFill>
                  <a:prstClr val="black"/>
                </a:solidFill>
                <a:latin typeface="微软雅黑" panose="020B0503020204020204" pitchFamily="34" charset="-122"/>
                <a:ea typeface="微软雅黑" panose="020B0503020204020204" pitchFamily="34" charset="-122"/>
              </a:rPr>
              <a:t>、部分</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使用；二级</a:t>
            </a:r>
            <a:r>
              <a:rPr lang="en-US" altLang="zh-CN" sz="1200" dirty="0">
                <a:solidFill>
                  <a:prstClr val="black"/>
                </a:solidFill>
                <a:latin typeface="微软雅黑" panose="020B0503020204020204" pitchFamily="34" charset="-122"/>
                <a:ea typeface="微软雅黑" panose="020B0503020204020204" pitchFamily="34" charset="-122"/>
              </a:rPr>
              <a:t>CLK_DB2000</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系统复位（</a:t>
            </a:r>
            <a:r>
              <a:rPr lang="en-US" altLang="zh-CN" sz="1200" dirty="0">
                <a:solidFill>
                  <a:prstClr val="black"/>
                </a:solidFill>
                <a:latin typeface="微软雅黑" panose="020B0503020204020204" pitchFamily="34" charset="-122"/>
                <a:ea typeface="微软雅黑" panose="020B0503020204020204" pitchFamily="34" charset="-122"/>
              </a:rPr>
              <a:t>SYS_RESET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a:t>
            </a:r>
            <a:r>
              <a:rPr lang="zh-CN" altLang="en-US" sz="1200" dirty="0">
                <a:solidFill>
                  <a:prstClr val="black"/>
                </a:solidFill>
                <a:latin typeface="微软雅黑" panose="020B0503020204020204" pitchFamily="34" charset="-122"/>
                <a:ea typeface="微软雅黑" panose="020B0503020204020204" pitchFamily="34" charset="-122"/>
              </a:rPr>
              <a:t>复位（</a:t>
            </a:r>
            <a:r>
              <a:rPr lang="en-US" altLang="zh-CN" sz="1200" dirty="0">
                <a:solidFill>
                  <a:prstClr val="black"/>
                </a:solidFill>
                <a:latin typeface="微软雅黑" panose="020B0503020204020204" pitchFamily="34" charset="-122"/>
                <a:ea typeface="微软雅黑" panose="020B0503020204020204" pitchFamily="34" charset="-122"/>
              </a:rPr>
              <a:t>PCIE_RST_N</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RSMRST </a:t>
            </a:r>
            <a:r>
              <a:rPr lang="zh-CN" altLang="en-US" sz="1200" dirty="0">
                <a:solidFill>
                  <a:prstClr val="black"/>
                </a:solidFill>
                <a:latin typeface="微软雅黑" panose="020B0503020204020204" pitchFamily="34" charset="-122"/>
                <a:ea typeface="微软雅黑" panose="020B0503020204020204" pitchFamily="34" charset="-122"/>
              </a:rPr>
              <a:t>等，由 </a:t>
            </a:r>
            <a:r>
              <a:rPr lang="en-US" altLang="zh-CN" sz="1200" dirty="0">
                <a:solidFill>
                  <a:prstClr val="black"/>
                </a:solidFill>
                <a:latin typeface="微软雅黑" panose="020B0503020204020204" pitchFamily="34" charset="-122"/>
                <a:ea typeface="微软雅黑" panose="020B0503020204020204" pitchFamily="34" charset="-122"/>
              </a:rPr>
              <a:t>CPLD </a:t>
            </a:r>
            <a:r>
              <a:rPr lang="zh-CN" altLang="en-US" sz="1200" dirty="0">
                <a:solidFill>
                  <a:prstClr val="black"/>
                </a:solidFill>
                <a:latin typeface="微软雅黑" panose="020B0503020204020204" pitchFamily="34" charset="-122"/>
                <a:ea typeface="微软雅黑" panose="020B0503020204020204" pitchFamily="34" charset="-122"/>
              </a:rPr>
              <a:t>与 </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协同管理，结合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r>
              <a:rPr lang="zh-CN" altLang="en-US" sz="1200" b="1" dirty="0">
                <a:solidFill>
                  <a:prstClr val="black"/>
                </a:solidFill>
                <a:latin typeface="微软雅黑" panose="020B0503020204020204" pitchFamily="34" charset="-122"/>
                <a:ea typeface="微软雅黑" panose="020B0503020204020204" pitchFamily="34" charset="-122"/>
              </a:rPr>
              <a:t>；</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、电源和监控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辅电供电</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核心供电；硬件状态监控；</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强相关，结合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358497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A3AE70-9581-A6CE-FB57-D606A42AA9C4}"/>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2025E29C-3DB3-4716-0C1D-D211000B0971}"/>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a:t>
            </a:r>
            <a:r>
              <a:rPr lang="zh-CN" altLang="en-US" sz="2400" dirty="0">
                <a:solidFill>
                  <a:prstClr val="black"/>
                </a:solidFill>
                <a:latin typeface="微软雅黑"/>
                <a:ea typeface="微软雅黑"/>
              </a:rPr>
              <a:t>东湖一号逻辑方案设计</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xmlns="" id="{2BC0A0A8-0C9C-2D51-D930-A3AB6D1663CB}"/>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逻辑设计方案</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5" name="直接连接符 4">
            <a:extLst>
              <a:ext uri="{FF2B5EF4-FFF2-40B4-BE49-F238E27FC236}">
                <a16:creationId xmlns:a16="http://schemas.microsoft.com/office/drawing/2014/main" xmlns="" id="{51869E89-D624-D4A4-243B-3799A8F546CB}"/>
              </a:ext>
            </a:extLst>
          </p:cNvPr>
          <p:cNvCxnSpPr>
            <a:cxnSpLocks/>
          </p:cNvCxnSpPr>
          <p:nvPr/>
        </p:nvCxnSpPr>
        <p:spPr>
          <a:xfrm>
            <a:off x="3191389" y="110119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xmlns="" id="{57A52783-686B-AA09-B339-0D77F83E901E}"/>
              </a:ext>
            </a:extLst>
          </p:cNvPr>
          <p:cNvSpPr/>
          <p:nvPr/>
        </p:nvSpPr>
        <p:spPr>
          <a:xfrm>
            <a:off x="30268" y="1826623"/>
            <a:ext cx="2884718" cy="3360600"/>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、电源时序控制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、电源状态监测</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、硬件故障监控与检测</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、芯片的通信交互</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5</a:t>
            </a:r>
            <a:r>
              <a:rPr lang="zh-CN" altLang="en-US" sz="1200" b="1" dirty="0">
                <a:solidFill>
                  <a:prstClr val="black"/>
                </a:solidFill>
                <a:latin typeface="微软雅黑" panose="020B0503020204020204" pitchFamily="34" charset="-122"/>
                <a:ea typeface="微软雅黑" panose="020B0503020204020204" pitchFamily="34" charset="-122"/>
              </a:rPr>
              <a:t>、按钮控制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6</a:t>
            </a:r>
            <a:r>
              <a:rPr lang="zh-CN" altLang="en-US" sz="1200" b="1" dirty="0">
                <a:solidFill>
                  <a:prstClr val="black"/>
                </a:solidFill>
                <a:latin typeface="微软雅黑" panose="020B0503020204020204" pitchFamily="34" charset="-122"/>
                <a:ea typeface="微软雅黑" panose="020B0503020204020204" pitchFamily="34" charset="-122"/>
              </a:rPr>
              <a:t>、风扇控制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7</a:t>
            </a:r>
            <a:r>
              <a:rPr lang="zh-CN" altLang="en-US" sz="1200" b="1" dirty="0">
                <a:solidFill>
                  <a:prstClr val="black"/>
                </a:solidFill>
                <a:latin typeface="微软雅黑" panose="020B0503020204020204" pitchFamily="34" charset="-122"/>
                <a:ea typeface="微软雅黑" panose="020B0503020204020204" pitchFamily="34" charset="-122"/>
              </a:rPr>
              <a:t>、指示灯控制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7</a:t>
            </a:r>
            <a:r>
              <a:rPr lang="zh-CN" altLang="en-US" sz="1200" b="1" dirty="0">
                <a:solidFill>
                  <a:prstClr val="black"/>
                </a:solidFill>
                <a:latin typeface="微软雅黑" panose="020B0503020204020204" pitchFamily="34" charset="-122"/>
                <a:ea typeface="微软雅黑" panose="020B0503020204020204" pitchFamily="34" charset="-122"/>
              </a:rPr>
              <a:t>、</a:t>
            </a:r>
            <a:r>
              <a:rPr lang="en-US" altLang="zh-CN" sz="1200" b="1" dirty="0">
                <a:solidFill>
                  <a:prstClr val="black"/>
                </a:solidFill>
                <a:latin typeface="微软雅黑" panose="020B0503020204020204" pitchFamily="34" charset="-122"/>
                <a:ea typeface="微软雅黑" panose="020B0503020204020204" pitchFamily="34" charset="-122"/>
              </a:rPr>
              <a:t>CPLD</a:t>
            </a:r>
            <a:r>
              <a:rPr lang="zh-CN" altLang="en-US" sz="1200" b="1" dirty="0">
                <a:solidFill>
                  <a:prstClr val="black"/>
                </a:solidFill>
                <a:latin typeface="微软雅黑" panose="020B0503020204020204" pitchFamily="34" charset="-122"/>
                <a:ea typeface="微软雅黑" panose="020B0503020204020204" pitchFamily="34" charset="-122"/>
              </a:rPr>
              <a:t>复位控制</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8</a:t>
            </a:r>
            <a:r>
              <a:rPr lang="zh-CN" altLang="en-US" sz="1200" b="1" dirty="0">
                <a:solidFill>
                  <a:prstClr val="black"/>
                </a:solidFill>
                <a:latin typeface="微软雅黑" panose="020B0503020204020204" pitchFamily="34" charset="-122"/>
                <a:ea typeface="微软雅黑" panose="020B0503020204020204" pitchFamily="34" charset="-122"/>
              </a:rPr>
              <a:t>、</a:t>
            </a:r>
            <a:r>
              <a:rPr lang="en-US" altLang="zh-CN" sz="1200" b="1" dirty="0">
                <a:solidFill>
                  <a:prstClr val="black"/>
                </a:solidFill>
                <a:latin typeface="微软雅黑" panose="020B0503020204020204" pitchFamily="34" charset="-122"/>
                <a:ea typeface="微软雅黑" panose="020B0503020204020204" pitchFamily="34" charset="-122"/>
              </a:rPr>
              <a:t>CPLD</a:t>
            </a:r>
            <a:r>
              <a:rPr lang="zh-CN" altLang="en-US" sz="1200" b="1" dirty="0">
                <a:solidFill>
                  <a:prstClr val="black"/>
                </a:solidFill>
                <a:latin typeface="微软雅黑" panose="020B0503020204020204" pitchFamily="34" charset="-122"/>
                <a:ea typeface="微软雅黑" panose="020B0503020204020204" pitchFamily="34" charset="-122"/>
              </a:rPr>
              <a:t>在线升级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xmlns="" id="{95028011-DBC2-C3EA-C248-CED458F0CD95}"/>
              </a:ext>
            </a:extLst>
          </p:cNvPr>
          <p:cNvPicPr>
            <a:picLocks noChangeAspect="1"/>
          </p:cNvPicPr>
          <p:nvPr/>
        </p:nvPicPr>
        <p:blipFill>
          <a:blip r:embed="rId2"/>
          <a:stretch>
            <a:fillRect/>
          </a:stretch>
        </p:blipFill>
        <p:spPr>
          <a:xfrm>
            <a:off x="3424877" y="1000312"/>
            <a:ext cx="7491101" cy="5526290"/>
          </a:xfrm>
          <a:prstGeom prst="rect">
            <a:avLst/>
          </a:prstGeom>
        </p:spPr>
      </p:pic>
    </p:spTree>
    <p:extLst>
      <p:ext uri="{BB962C8B-B14F-4D97-AF65-F5344CB8AC3E}">
        <p14:creationId xmlns:p14="http://schemas.microsoft.com/office/powerpoint/2010/main" val="364758123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C470C7D-3446-8BFD-D29C-E5CB50161FF3}"/>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60CB0C96-0DF0-A989-5C0A-E938908FA0B2}"/>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a:t>
            </a:r>
            <a:r>
              <a:rPr lang="zh-CN" altLang="en-US" sz="2400" dirty="0">
                <a:solidFill>
                  <a:prstClr val="black"/>
                </a:solidFill>
                <a:latin typeface="微软雅黑"/>
                <a:ea typeface="微软雅黑"/>
              </a:rPr>
              <a:t>东湖一号电源上下</a:t>
            </a:r>
            <a:r>
              <a:rPr lang="zh-CN" altLang="en-US" sz="2400" dirty="0" smtClean="0">
                <a:solidFill>
                  <a:prstClr val="black"/>
                </a:solidFill>
                <a:latin typeface="微软雅黑"/>
                <a:ea typeface="微软雅黑"/>
              </a:rPr>
              <a:t>电</a:t>
            </a:r>
            <a:r>
              <a:rPr lang="zh-CN" altLang="en-US" sz="2400" dirty="0">
                <a:solidFill>
                  <a:prstClr val="black"/>
                </a:solidFill>
                <a:latin typeface="微软雅黑"/>
                <a:ea typeface="微软雅黑"/>
              </a:rPr>
              <a:t>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cxnSp>
        <p:nvCxnSpPr>
          <p:cNvPr id="5" name="直接连接符 4">
            <a:extLst>
              <a:ext uri="{FF2B5EF4-FFF2-40B4-BE49-F238E27FC236}">
                <a16:creationId xmlns:a16="http://schemas.microsoft.com/office/drawing/2014/main" xmlns="" id="{3F612B68-85B8-D7DF-6FDF-9FA88DD78519}"/>
              </a:ext>
            </a:extLst>
          </p:cNvPr>
          <p:cNvCxnSpPr>
            <a:cxnSpLocks/>
          </p:cNvCxnSpPr>
          <p:nvPr/>
        </p:nvCxnSpPr>
        <p:spPr>
          <a:xfrm>
            <a:off x="5553270" y="105674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9" name="图片 8">
            <a:extLst>
              <a:ext uri="{FF2B5EF4-FFF2-40B4-BE49-F238E27FC236}">
                <a16:creationId xmlns:a16="http://schemas.microsoft.com/office/drawing/2014/main" xmlns="" id="{B0EB4A4D-84ED-949C-02A8-C65834402C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4424" y="5221037"/>
            <a:ext cx="2994862" cy="1280304"/>
          </a:xfrm>
          <a:prstGeom prst="rect">
            <a:avLst/>
          </a:prstGeom>
        </p:spPr>
      </p:pic>
      <p:sp>
        <p:nvSpPr>
          <p:cNvPr id="2" name="矩形 1">
            <a:extLst>
              <a:ext uri="{FF2B5EF4-FFF2-40B4-BE49-F238E27FC236}">
                <a16:creationId xmlns:a16="http://schemas.microsoft.com/office/drawing/2014/main" xmlns="" id="{55DDFED4-781E-9C16-ABE1-1F823FA2EE35}"/>
              </a:ext>
            </a:extLst>
          </p:cNvPr>
          <p:cNvSpPr/>
          <p:nvPr/>
        </p:nvSpPr>
        <p:spPr>
          <a:xfrm>
            <a:off x="5181599" y="895881"/>
            <a:ext cx="6860147" cy="5848461"/>
          </a:xfrm>
          <a:prstGeom prst="rect">
            <a:avLst/>
          </a:prstGeom>
        </p:spPr>
        <p:txBody>
          <a:bodyPr wrap="square">
            <a:spAutoFit/>
          </a:bodyPr>
          <a:lstStyle/>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、各电源状态机上电使能条件：上电阶段电源吴故障，延时后依次上电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各电源下电使能条件：任一电源故障触发下电，延时后依次下电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F0"/>
                </a:solidFill>
                <a:latin typeface="微软雅黑" panose="020B0503020204020204" pitchFamily="34" charset="-122"/>
                <a:ea typeface="微软雅黑" panose="020B0503020204020204" pitchFamily="34" charset="-122"/>
              </a:rPr>
              <a:t>2</a:t>
            </a:r>
            <a:r>
              <a:rPr lang="zh-CN" altLang="en-US" sz="1200" dirty="0">
                <a:solidFill>
                  <a:srgbClr val="00B0F0"/>
                </a:solidFill>
                <a:latin typeface="微软雅黑" panose="020B0503020204020204" pitchFamily="34" charset="-122"/>
                <a:ea typeface="微软雅黑" panose="020B0503020204020204" pitchFamily="34" charset="-122"/>
              </a:rPr>
              <a:t>、蓝色状态控制 </a:t>
            </a:r>
            <a:r>
              <a:rPr lang="en-US" altLang="zh-CN" sz="1200" dirty="0" err="1">
                <a:solidFill>
                  <a:srgbClr val="00B0F0"/>
                </a:solidFill>
                <a:latin typeface="微软雅黑" panose="020B0503020204020204" pitchFamily="34" charset="-122"/>
                <a:ea typeface="微软雅黑" panose="020B0503020204020204" pitchFamily="34" charset="-122"/>
              </a:rPr>
              <a:t>GroupA</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和 </a:t>
            </a:r>
            <a:r>
              <a:rPr lang="en-US" altLang="zh-CN" sz="1200" dirty="0" err="1">
                <a:solidFill>
                  <a:srgbClr val="00B0F0"/>
                </a:solidFill>
                <a:latin typeface="微软雅黑" panose="020B0503020204020204" pitchFamily="34" charset="-122"/>
                <a:ea typeface="微软雅黑" panose="020B0503020204020204" pitchFamily="34" charset="-122"/>
              </a:rPr>
              <a:t>GroupB</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电源域的使能：</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rgbClr val="00B0F0"/>
                </a:solidFill>
                <a:latin typeface="微软雅黑" panose="020B0503020204020204" pitchFamily="34" charset="-122"/>
                <a:ea typeface="微软雅黑" panose="020B0503020204020204" pitchFamily="34" charset="-122"/>
              </a:rPr>
              <a:t>复位状态</a:t>
            </a:r>
            <a:r>
              <a:rPr lang="en-US" altLang="zh-CN" sz="1200" dirty="0">
                <a:solidFill>
                  <a:srgbClr val="00B0F0"/>
                </a:solidFill>
                <a:latin typeface="微软雅黑" panose="020B0503020204020204" pitchFamily="34" charset="-122"/>
                <a:ea typeface="微软雅黑" panose="020B0503020204020204" pitchFamily="34" charset="-122"/>
              </a:rPr>
              <a:t>(0x00)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RTC</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(0x01) → </a:t>
            </a:r>
            <a:r>
              <a:rPr lang="zh-CN" altLang="en-US" sz="1200" dirty="0">
                <a:solidFill>
                  <a:srgbClr val="00B0F0"/>
                </a:solidFill>
                <a:latin typeface="微软雅黑" panose="020B0503020204020204" pitchFamily="34" charset="-122"/>
                <a:ea typeface="微软雅黑" panose="020B0503020204020204" pitchFamily="34" charset="-122"/>
              </a:rPr>
              <a:t>南桥复位保持</a:t>
            </a:r>
            <a:r>
              <a:rPr lang="en-US" altLang="zh-CN" sz="1200" dirty="0">
                <a:solidFill>
                  <a:srgbClr val="00B0F0"/>
                </a:solidFill>
                <a:latin typeface="微软雅黑" panose="020B0503020204020204" pitchFamily="34" charset="-122"/>
                <a:ea typeface="微软雅黑" panose="020B0503020204020204" pitchFamily="34" charset="-122"/>
              </a:rPr>
              <a:t>(0x02)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CPU3.3V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(0x03)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CPU1.8V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(0x04)→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USB</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(0x05) → </a:t>
            </a:r>
            <a:r>
              <a:rPr lang="zh-CN" altLang="en-US" sz="1200" dirty="0">
                <a:solidFill>
                  <a:srgbClr val="00B0F0"/>
                </a:solidFill>
                <a:latin typeface="微软雅黑" panose="020B0503020204020204" pitchFamily="34" charset="-122"/>
                <a:ea typeface="微软雅黑" panose="020B0503020204020204" pitchFamily="34" charset="-122"/>
              </a:rPr>
              <a:t>释放南桥复位</a:t>
            </a:r>
            <a:r>
              <a:rPr lang="en-US" altLang="zh-CN" sz="1200" dirty="0">
                <a:solidFill>
                  <a:srgbClr val="00B0F0"/>
                </a:solidFill>
                <a:latin typeface="微软雅黑" panose="020B0503020204020204" pitchFamily="34" charset="-122"/>
                <a:ea typeface="微软雅黑" panose="020B0503020204020204" pitchFamily="34" charset="-122"/>
              </a:rPr>
              <a:t>(0x06) → S5</a:t>
            </a:r>
            <a:r>
              <a:rPr lang="zh-CN" altLang="en-US" sz="1200" dirty="0">
                <a:solidFill>
                  <a:srgbClr val="00B0F0"/>
                </a:solidFill>
                <a:latin typeface="微软雅黑" panose="020B0503020204020204" pitchFamily="34" charset="-122"/>
                <a:ea typeface="微软雅黑" panose="020B0503020204020204" pitchFamily="34" charset="-122"/>
              </a:rPr>
              <a:t>设备上电</a:t>
            </a:r>
            <a:r>
              <a:rPr lang="en-US" altLang="zh-CN" sz="1200" dirty="0">
                <a:solidFill>
                  <a:srgbClr val="00B0F0"/>
                </a:solidFill>
                <a:latin typeface="微软雅黑" panose="020B0503020204020204" pitchFamily="34" charset="-122"/>
                <a:ea typeface="微软雅黑" panose="020B0503020204020204" pitchFamily="34" charset="-122"/>
              </a:rPr>
              <a:t>(0x07) → </a:t>
            </a:r>
            <a:r>
              <a:rPr lang="zh-CN" altLang="en-US" sz="1200" dirty="0">
                <a:solidFill>
                  <a:srgbClr val="E325C3"/>
                </a:solidFill>
                <a:latin typeface="微软雅黑" panose="020B0503020204020204" pitchFamily="34" charset="-122"/>
                <a:ea typeface="微软雅黑" panose="020B0503020204020204" pitchFamily="34" charset="-122"/>
              </a:rPr>
              <a:t>待机就绪</a:t>
            </a:r>
            <a:r>
              <a:rPr lang="en-US" altLang="zh-CN" sz="1200" dirty="0">
                <a:solidFill>
                  <a:srgbClr val="E325C3"/>
                </a:solidFill>
                <a:latin typeface="微软雅黑" panose="020B0503020204020204" pitchFamily="34" charset="-122"/>
                <a:ea typeface="微软雅黑" panose="020B0503020204020204" pitchFamily="34" charset="-122"/>
              </a:rPr>
              <a:t>(0x08)</a:t>
            </a:r>
            <a:r>
              <a:rPr lang="en-US" altLang="zh-CN" sz="1200" dirty="0">
                <a:solidFill>
                  <a:schemeClr val="tx2">
                    <a:lumMod val="90000"/>
                    <a:lumOff val="10000"/>
                  </a:schemeClr>
                </a:solidFill>
                <a:latin typeface="微软雅黑" panose="020B0503020204020204" pitchFamily="34" charset="-122"/>
                <a:ea typeface="微软雅黑" panose="020B0503020204020204" pitchFamily="34" charset="-122"/>
              </a:rPr>
              <a:t> </a:t>
            </a:r>
            <a:r>
              <a:rPr lang="en-US" altLang="zh-CN" sz="1200" dirty="0">
                <a:solidFill>
                  <a:srgbClr val="E325C3"/>
                </a:solidFill>
                <a:latin typeface="微软雅黑" panose="020B0503020204020204" pitchFamily="34" charset="-122"/>
                <a:ea typeface="微软雅黑" panose="020B0503020204020204" pitchFamily="34" charset="-122"/>
              </a:rPr>
              <a:t>→</a:t>
            </a:r>
            <a:r>
              <a:rPr lang="en-US" altLang="zh-CN" sz="1200" dirty="0">
                <a:solidFill>
                  <a:srgbClr val="00B0F0"/>
                </a:solidFill>
                <a:latin typeface="微软雅黑" panose="020B0503020204020204" pitchFamily="34" charset="-122"/>
                <a:ea typeface="微软雅黑" panose="020B0503020204020204" pitchFamily="34" charset="-122"/>
              </a:rPr>
              <a:t>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3</a:t>
            </a:r>
            <a:r>
              <a:rPr lang="zh-CN" altLang="en-US" sz="1200" dirty="0">
                <a:solidFill>
                  <a:srgbClr val="00B050"/>
                </a:solidFill>
                <a:latin typeface="微软雅黑" panose="020B0503020204020204" pitchFamily="34" charset="-122"/>
                <a:ea typeface="微软雅黑" panose="020B0503020204020204" pitchFamily="34" charset="-122"/>
              </a:rPr>
              <a:t>、深绿色状态控制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GroupC</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主电源模块使能</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(0x09)→ </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遥测功能开启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(0x0A) → </a:t>
            </a:r>
            <a:r>
              <a:rPr lang="en-US" altLang="zh-CN" sz="1200" dirty="0">
                <a:solidFill>
                  <a:srgbClr val="00B050"/>
                </a:solidFill>
                <a:latin typeface="微软雅黑" panose="020B0503020204020204" pitchFamily="34" charset="-122"/>
                <a:ea typeface="微软雅黑" panose="020B0503020204020204" pitchFamily="34" charset="-122"/>
              </a:rPr>
              <a:t>EFUSE12V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(0x0B) </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 ATX</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电源开启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(0x0C)</a:t>
            </a:r>
            <a:r>
              <a:rPr lang="en-US" altLang="zh-CN" sz="1200" dirty="0">
                <a:solidFill>
                  <a:srgbClr val="00B050"/>
                </a:solidFill>
                <a:latin typeface="微软雅黑" panose="020B0503020204020204" pitchFamily="34" charset="-122"/>
                <a:ea typeface="微软雅黑" panose="020B0503020204020204" pitchFamily="34" charset="-122"/>
              </a:rPr>
              <a:t> → CPU1.1V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(0x0D)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4</a:t>
            </a:r>
            <a:r>
              <a:rPr lang="zh-CN" altLang="en-US" sz="1200" dirty="0">
                <a:solidFill>
                  <a:srgbClr val="00B050"/>
                </a:solidFill>
                <a:latin typeface="微软雅黑" panose="020B0503020204020204" pitchFamily="34" charset="-122"/>
                <a:ea typeface="微软雅黑" panose="020B0503020204020204" pitchFamily="34" charset="-122"/>
              </a:rPr>
              <a:t>、浅绿色状态控制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GroupD</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5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 </a:t>
            </a:r>
            <a:r>
              <a:rPr lang="en-US" altLang="zh-CN" sz="1200" dirty="0">
                <a:solidFill>
                  <a:srgbClr val="92D050"/>
                </a:solidFill>
                <a:latin typeface="微软雅黑" panose="020B0503020204020204" pitchFamily="34" charset="-122"/>
                <a:ea typeface="微软雅黑" panose="020B0503020204020204" pitchFamily="34" charset="-122"/>
              </a:rPr>
              <a:t>CPU_IO</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(0x0E)→ CPU_SOC</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(0x0F) → CPU_CORE0</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(0x10) → CPU_CORE1</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(0x11) → </a:t>
            </a:r>
            <a:r>
              <a:rPr lang="zh-CN" altLang="en-US" sz="1200" dirty="0">
                <a:solidFill>
                  <a:srgbClr val="92D050"/>
                </a:solidFill>
                <a:latin typeface="微软雅黑" panose="020B0503020204020204" pitchFamily="34" charset="-122"/>
                <a:ea typeface="微软雅黑" panose="020B0503020204020204" pitchFamily="34" charset="-122"/>
              </a:rPr>
              <a:t>释放</a:t>
            </a:r>
            <a:r>
              <a:rPr lang="en-US" altLang="zh-CN" sz="1200" dirty="0">
                <a:solidFill>
                  <a:srgbClr val="92D050"/>
                </a:solidFill>
                <a:latin typeface="微软雅黑" panose="020B0503020204020204" pitchFamily="34" charset="-122"/>
                <a:ea typeface="微软雅黑" panose="020B0503020204020204" pitchFamily="34" charset="-122"/>
              </a:rPr>
              <a:t>CPU PWR_GOOD(0x12)→ </a:t>
            </a:r>
            <a:r>
              <a:rPr lang="zh-CN" altLang="en-US" sz="1200" dirty="0">
                <a:solidFill>
                  <a:srgbClr val="92D050"/>
                </a:solidFill>
                <a:latin typeface="微软雅黑" panose="020B0503020204020204" pitchFamily="34" charset="-122"/>
                <a:ea typeface="微软雅黑" panose="020B0503020204020204" pitchFamily="34" charset="-122"/>
              </a:rPr>
              <a:t>等待电源稳定</a:t>
            </a:r>
            <a:r>
              <a:rPr lang="en-US" altLang="zh-CN" sz="1200" dirty="0">
                <a:solidFill>
                  <a:srgbClr val="92D050"/>
                </a:solidFill>
                <a:latin typeface="微软雅黑" panose="020B0503020204020204" pitchFamily="34" charset="-122"/>
                <a:ea typeface="微软雅黑" panose="020B0503020204020204" pitchFamily="34" charset="-122"/>
              </a:rPr>
              <a:t>(0x13) →</a:t>
            </a: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5</a:t>
            </a:r>
            <a:r>
              <a:rPr lang="zh-CN" altLang="en-US" sz="1200" dirty="0">
                <a:solidFill>
                  <a:srgbClr val="FFC000"/>
                </a:solidFill>
                <a:latin typeface="微软雅黑" panose="020B0503020204020204" pitchFamily="34" charset="-122"/>
                <a:ea typeface="微软雅黑" panose="020B0503020204020204" pitchFamily="34" charset="-122"/>
              </a:rPr>
              <a:t>、橙色是故障触发下电流程</a:t>
            </a:r>
            <a:endParaRPr lang="en-US" altLang="zh-CN" sz="1200" dirty="0">
              <a:solidFill>
                <a:srgbClr val="FFC00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 </a:t>
            </a:r>
            <a:r>
              <a:rPr lang="zh-CN" altLang="en-US" sz="1200" dirty="0">
                <a:solidFill>
                  <a:srgbClr val="FFC000"/>
                </a:solidFill>
                <a:latin typeface="微软雅黑" panose="020B0503020204020204" pitchFamily="34" charset="-122"/>
                <a:ea typeface="微软雅黑" panose="020B0503020204020204" pitchFamily="34" charset="-122"/>
              </a:rPr>
              <a:t>系统稳定运行</a:t>
            </a:r>
            <a:r>
              <a:rPr lang="en-US" altLang="zh-CN" sz="1200" dirty="0">
                <a:solidFill>
                  <a:srgbClr val="FFC000"/>
                </a:solidFill>
                <a:latin typeface="微软雅黑" panose="020B0503020204020204" pitchFamily="34" charset="-122"/>
                <a:ea typeface="微软雅黑" panose="020B0503020204020204" pitchFamily="34" charset="-122"/>
              </a:rPr>
              <a:t>(0x20</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SM_STEADY_PWROK)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 PWR_GOOD(0x21)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CPU_CORE1</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(0x22)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CPU_CORE0</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(0x23)→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CPU_SOC</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(0x24)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CPU_IO</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(0x25)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CPU_VDD_1.1V</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(0x26)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EFUSE</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(0x28) → S5</a:t>
            </a:r>
            <a:r>
              <a:rPr lang="zh-CN" altLang="en-US" sz="1200" dirty="0">
                <a:solidFill>
                  <a:srgbClr val="FFC000"/>
                </a:solidFill>
                <a:latin typeface="微软雅黑" panose="020B0503020204020204" pitchFamily="34" charset="-122"/>
                <a:ea typeface="微软雅黑" panose="020B0503020204020204" pitchFamily="34" charset="-122"/>
              </a:rPr>
              <a:t>设备下电</a:t>
            </a:r>
            <a:r>
              <a:rPr lang="en-US" altLang="zh-CN" sz="1200" dirty="0">
                <a:solidFill>
                  <a:srgbClr val="FFC000"/>
                </a:solidFill>
                <a:latin typeface="微软雅黑" panose="020B0503020204020204" pitchFamily="34" charset="-122"/>
                <a:ea typeface="微软雅黑" panose="020B0503020204020204" pitchFamily="34" charset="-122"/>
              </a:rPr>
              <a:t>(0x2B)→ </a:t>
            </a:r>
            <a:r>
              <a:rPr lang="zh-CN" altLang="en-US" sz="1200" dirty="0">
                <a:solidFill>
                  <a:srgbClr val="FFC000"/>
                </a:solidFill>
                <a:latin typeface="微软雅黑" panose="020B0503020204020204" pitchFamily="34" charset="-122"/>
                <a:ea typeface="微软雅黑" panose="020B0503020204020204" pitchFamily="34" charset="-122"/>
              </a:rPr>
              <a:t>待机状态</a:t>
            </a:r>
            <a:r>
              <a:rPr lang="en-US" altLang="zh-CN" sz="1200" dirty="0">
                <a:solidFill>
                  <a:srgbClr val="FFC000"/>
                </a:solidFill>
                <a:latin typeface="微软雅黑" panose="020B0503020204020204" pitchFamily="34" charset="-122"/>
                <a:ea typeface="微软雅黑" panose="020B0503020204020204" pitchFamily="34" charset="-122"/>
              </a:rPr>
              <a:t>(0x08</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SM_OFF_STANDBY) </a:t>
            </a:r>
          </a:p>
          <a:p>
            <a:pPr lvl="1">
              <a:lnSpc>
                <a:spcPts val="2400"/>
              </a:lnSpc>
              <a:spcBef>
                <a:spcPts val="100"/>
              </a:spcBef>
              <a:spcAft>
                <a:spcPts val="100"/>
              </a:spcAft>
              <a:defRPr/>
            </a:pPr>
            <a:endParaRPr lang="en-US" altLang="zh-CN" sz="1200" dirty="0">
              <a:solidFill>
                <a:srgbClr val="00B0F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xmlns="" id="{1AE1DFCD-1015-3C95-9646-7FC96E54976F}"/>
              </a:ext>
            </a:extLst>
          </p:cNvPr>
          <p:cNvPicPr>
            <a:picLocks noChangeAspect="1"/>
          </p:cNvPicPr>
          <p:nvPr/>
        </p:nvPicPr>
        <p:blipFill>
          <a:blip r:embed="rId3"/>
          <a:stretch>
            <a:fillRect/>
          </a:stretch>
        </p:blipFill>
        <p:spPr>
          <a:xfrm>
            <a:off x="420402" y="1114817"/>
            <a:ext cx="4761197" cy="3984958"/>
          </a:xfrm>
          <a:prstGeom prst="rect">
            <a:avLst/>
          </a:prstGeom>
        </p:spPr>
      </p:pic>
    </p:spTree>
    <p:extLst>
      <p:ext uri="{BB962C8B-B14F-4D97-AF65-F5344CB8AC3E}">
        <p14:creationId xmlns:p14="http://schemas.microsoft.com/office/powerpoint/2010/main" val="248403955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1C1419-120D-DC1F-C21A-56303716ED90}"/>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BF62F1C8-BD5E-AB89-0E19-C79DD8E1455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东湖一号</a:t>
            </a:r>
            <a:r>
              <a:rPr kumimoji="0" lang="zh-CN" altLang="en-US" sz="2400" b="1" i="0" u="none" strike="noStrike" kern="1200" cap="none" spc="0" normalizeH="0" baseline="0" noProof="0" dirty="0" smtClean="0">
                <a:ln>
                  <a:noFill/>
                </a:ln>
                <a:solidFill>
                  <a:prstClr val="black"/>
                </a:solidFill>
                <a:effectLst/>
                <a:uLnTx/>
                <a:uFillTx/>
                <a:latin typeface="微软雅黑"/>
                <a:ea typeface="微软雅黑"/>
                <a:cs typeface="+mj-cs"/>
              </a:rPr>
              <a:t>逻辑功能</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Tree>
    <p:extLst>
      <p:ext uri="{BB962C8B-B14F-4D97-AF65-F5344CB8AC3E}">
        <p14:creationId xmlns:p14="http://schemas.microsoft.com/office/powerpoint/2010/main" val="309939774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674715-FBEB-BF1B-8742-62792FD6E8A7}"/>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xmlns="" id="{3B9356B7-25ED-1173-456B-B509FD7FEC5A}"/>
              </a:ext>
            </a:extLst>
          </p:cNvPr>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、学习及工作回顾 </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2" name="矩形 11">
            <a:extLst>
              <a:ext uri="{FF2B5EF4-FFF2-40B4-BE49-F238E27FC236}">
                <a16:creationId xmlns:a16="http://schemas.microsoft.com/office/drawing/2014/main" xmlns="" id="{C3EBDB82-AC7F-1674-DE50-04FF6160D96F}"/>
              </a:ext>
            </a:extLst>
          </p:cNvPr>
          <p:cNvSpPr/>
          <p:nvPr/>
        </p:nvSpPr>
        <p:spPr>
          <a:xfrm>
            <a:off x="135012" y="1493355"/>
            <a:ext cx="11979254" cy="4373120"/>
          </a:xfrm>
          <a:prstGeom prst="rect">
            <a:avLst/>
          </a:prstGeom>
        </p:spPr>
        <p:txBody>
          <a:bodyPr wrap="square">
            <a:spAutoFit/>
          </a:bodyPr>
          <a:lstStyle/>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完成硬件工程师</a:t>
            </a:r>
            <a:r>
              <a:rPr lang="zh-CN" altLang="en-US" sz="1600" dirty="0" smtClean="0">
                <a:solidFill>
                  <a:prstClr val="black"/>
                </a:solidFill>
                <a:latin typeface="微软雅黑" panose="020B0503020204020204" pitchFamily="34" charset="-122"/>
                <a:ea typeface="微软雅黑" panose="020B0503020204020204" pitchFamily="34" charset="-122"/>
              </a:rPr>
              <a:t>上、岗</a:t>
            </a:r>
            <a:r>
              <a:rPr lang="zh-CN" altLang="en-US" sz="1600" dirty="0">
                <a:solidFill>
                  <a:prstClr val="black"/>
                </a:solidFill>
                <a:latin typeface="微软雅黑" panose="020B0503020204020204" pitchFamily="34" charset="-122"/>
                <a:ea typeface="微软雅黑" panose="020B0503020204020204" pitchFamily="34" charset="-122"/>
              </a:rPr>
              <a:t>考试，完成公司新人入职培训</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了解部门定制化服务器和卡类相关知识，熟悉负责项目的基本业务</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b="1" dirty="0">
                <a:solidFill>
                  <a:prstClr val="black"/>
                </a:solidFill>
                <a:latin typeface="微软雅黑" panose="020B0503020204020204" pitchFamily="34" charset="-122"/>
                <a:ea typeface="微软雅黑" panose="020B0503020204020204" pitchFamily="34" charset="-122"/>
              </a:rPr>
              <a:t>完成所属项目的</a:t>
            </a:r>
            <a:r>
              <a:rPr lang="en-US" altLang="zh-CN" sz="1600" b="1" dirty="0">
                <a:solidFill>
                  <a:prstClr val="black"/>
                </a:solidFill>
                <a:latin typeface="微软雅黑" panose="020B0503020204020204" pitchFamily="34" charset="-122"/>
                <a:ea typeface="微软雅黑" panose="020B0503020204020204" pitchFamily="34" charset="-122"/>
              </a:rPr>
              <a:t>CPLD</a:t>
            </a:r>
            <a:r>
              <a:rPr lang="zh-CN" altLang="en-US" sz="1600" b="1" dirty="0">
                <a:solidFill>
                  <a:prstClr val="black"/>
                </a:solidFill>
                <a:latin typeface="微软雅黑" panose="020B0503020204020204" pitchFamily="34" charset="-122"/>
                <a:ea typeface="微软雅黑" panose="020B0503020204020204" pitchFamily="34" charset="-122"/>
              </a:rPr>
              <a:t>逻辑开发和维护工作：</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参与开发与维护的项目：</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服务器：东湖一号、欧康诺、龙芯</a:t>
            </a:r>
            <a:r>
              <a:rPr lang="en-US" altLang="zh-CN" sz="1600" dirty="0">
                <a:solidFill>
                  <a:prstClr val="black"/>
                </a:solidFill>
                <a:latin typeface="微软雅黑" panose="020B0503020204020204" pitchFamily="34" charset="-122"/>
                <a:ea typeface="微软雅黑" panose="020B0503020204020204" pitchFamily="34" charset="-122"/>
              </a:rPr>
              <a:t>3E6000</a:t>
            </a:r>
            <a:r>
              <a:rPr lang="zh-CN" altLang="en-US" sz="1600" dirty="0">
                <a:solidFill>
                  <a:prstClr val="black"/>
                </a:solidFill>
                <a:latin typeface="微软雅黑" panose="020B0503020204020204" pitchFamily="34" charset="-122"/>
                <a:ea typeface="微软雅黑" panose="020B0503020204020204" pitchFamily="34" charset="-122"/>
              </a:rPr>
              <a:t>、希奥端、 铁塔</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飞腾</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卡类：异格</a:t>
            </a:r>
            <a:r>
              <a:rPr lang="en-US" altLang="zh-CN" sz="1600" dirty="0">
                <a:solidFill>
                  <a:prstClr val="black"/>
                </a:solidFill>
                <a:latin typeface="微软雅黑" panose="020B0503020204020204" pitchFamily="34" charset="-122"/>
                <a:ea typeface="微软雅黑" panose="020B0503020204020204" pitchFamily="34" charset="-122"/>
              </a:rPr>
              <a:t>FPGA</a:t>
            </a:r>
            <a:r>
              <a:rPr lang="zh-CN" altLang="en-US" sz="1600" dirty="0">
                <a:solidFill>
                  <a:prstClr val="black"/>
                </a:solidFill>
                <a:latin typeface="微软雅黑" panose="020B0503020204020204" pitchFamily="34" charset="-122"/>
                <a:ea typeface="微软雅黑" panose="020B0503020204020204" pitchFamily="34" charset="-122"/>
              </a:rPr>
              <a:t>加速卡（</a:t>
            </a:r>
            <a:r>
              <a:rPr lang="en-US" altLang="zh-CN" sz="1600" dirty="0">
                <a:solidFill>
                  <a:prstClr val="black"/>
                </a:solidFill>
                <a:latin typeface="微软雅黑" panose="020B0503020204020204" pitchFamily="34" charset="-122"/>
                <a:ea typeface="微软雅黑" panose="020B0503020204020204" pitchFamily="34" charset="-122"/>
              </a:rPr>
              <a:t>X16</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X8</a:t>
            </a:r>
            <a:r>
              <a:rPr lang="zh-CN" altLang="en-US" sz="1600" dirty="0">
                <a:solidFill>
                  <a:prstClr val="black"/>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PCIE</a:t>
            </a:r>
            <a:r>
              <a:rPr lang="zh-CN" altLang="en-US" sz="1600" dirty="0">
                <a:latin typeface="微软雅黑" panose="020B0503020204020204" pitchFamily="34" charset="-122"/>
                <a:ea typeface="微软雅黑" panose="020B0503020204020204" pitchFamily="34" charset="-122"/>
              </a:rPr>
              <a:t>卡类测试治具、</a:t>
            </a:r>
            <a:r>
              <a:rPr lang="en-US" altLang="zh-CN" sz="1600" dirty="0">
                <a:latin typeface="微软雅黑" panose="020B0503020204020204" pitchFamily="34" charset="-122"/>
                <a:ea typeface="微软雅黑" panose="020B0503020204020204" pitchFamily="34" charset="-122"/>
              </a:rPr>
              <a:t>OCP</a:t>
            </a:r>
            <a:r>
              <a:rPr lang="zh-CN" altLang="en-US" sz="1600" dirty="0">
                <a:latin typeface="微软雅黑" panose="020B0503020204020204" pitchFamily="34" charset="-122"/>
                <a:ea typeface="微软雅黑" panose="020B0503020204020204" pitchFamily="34" charset="-122"/>
              </a:rPr>
              <a:t>卡类测试治具</a:t>
            </a:r>
            <a:endParaRPr lang="en-US" altLang="zh-CN" sz="1600" dirty="0">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endParaRPr lang="en-US" altLang="zh-CN" sz="1600" dirty="0">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主要工作内容：</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熟悉硬件总体设计方案和硬件架构；</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整理逻辑需求点和功能点，根据需求点完成逻辑总体方案；</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配合硬件工程师完成</a:t>
            </a:r>
            <a:r>
              <a:rPr lang="en-US" altLang="zh-CN" sz="1600" dirty="0">
                <a:solidFill>
                  <a:prstClr val="black"/>
                </a:solidFill>
                <a:latin typeface="微软雅黑" panose="020B0503020204020204" pitchFamily="34" charset="-122"/>
                <a:ea typeface="微软雅黑" panose="020B0503020204020204" pitchFamily="34" charset="-122"/>
              </a:rPr>
              <a:t>IO</a:t>
            </a:r>
            <a:r>
              <a:rPr lang="zh-CN" altLang="en-US" sz="1600" dirty="0">
                <a:solidFill>
                  <a:prstClr val="black"/>
                </a:solidFill>
                <a:latin typeface="微软雅黑" panose="020B0503020204020204" pitchFamily="34" charset="-122"/>
                <a:ea typeface="微软雅黑" panose="020B0503020204020204" pitchFamily="34" charset="-122"/>
              </a:rPr>
              <a:t>资源和逻辑资源的评估和</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的选型；</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完成逻辑</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代码编写、仿真、调试；</a:t>
            </a:r>
            <a:endPar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600079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945530"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项目案例及经验分享</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03</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61661509"/>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09810" y="1057699"/>
            <a:ext cx="11053870" cy="3631763"/>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项目概述</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参与东湖一号项目逻辑调试工作，核心围绕主板与备板电源上下电控制、</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在位检测、电源按钮长短按功能、</a:t>
            </a:r>
            <a:r>
              <a:rPr lang="en-US" altLang="zh-CN" dirty="0">
                <a:latin typeface="微软雅黑" panose="020B0503020204020204" pitchFamily="34" charset="-122"/>
                <a:ea typeface="微软雅黑" panose="020B0503020204020204" pitchFamily="34" charset="-122"/>
              </a:rPr>
              <a:t>BMC I2C</a:t>
            </a:r>
            <a:r>
              <a:rPr lang="zh-CN" altLang="en-US" dirty="0">
                <a:latin typeface="微软雅黑" panose="020B0503020204020204" pitchFamily="34" charset="-122"/>
                <a:ea typeface="微软雅黑" panose="020B0503020204020204" pitchFamily="34" charset="-122"/>
              </a:rPr>
              <a:t>交互等关键模块展开，涉及逻辑代码开发、功能仿真、时序优化及上板联调全流程，保障设备电源系统稳定可靠运行基础功能测试</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逻辑开发</a:t>
            </a:r>
            <a:r>
              <a:rPr lang="en-US" altLang="zh-CN" dirty="0">
                <a:latin typeface="微软雅黑" panose="020B0503020204020204" pitchFamily="34" charset="-122"/>
                <a:ea typeface="微软雅黑" panose="020B0503020204020204" pitchFamily="34" charset="-122"/>
              </a:rPr>
              <a:t>——Lattice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VSCode</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功能仿真</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Modulesim</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上板联调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实际硬件环境</a:t>
            </a:r>
            <a:endParaRPr lang="en-US" altLang="zh-CN" dirty="0">
              <a:latin typeface="微软雅黑" panose="020B0503020204020204" pitchFamily="34" charset="-122"/>
              <a:ea typeface="微软雅黑" panose="020B0503020204020204" pitchFamily="34" charset="-122"/>
            </a:endParaRPr>
          </a:p>
          <a:p>
            <a:pPr marL="285750" lvl="1"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核心职责</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负责电源控制模块逻辑调试，包括测试用例设计与执行、缺陷定位与修复、代码优化迭代，同时协同硬件、</a:t>
            </a:r>
            <a:r>
              <a:rPr lang="en-US" altLang="zh-CN" dirty="0">
                <a:latin typeface="微软雅黑" panose="020B0503020204020204" pitchFamily="34" charset="-122"/>
                <a:ea typeface="微软雅黑" panose="020B0503020204020204" pitchFamily="34" charset="-122"/>
              </a:rPr>
              <a:t>BMC</a:t>
            </a:r>
            <a:r>
              <a:rPr lang="zh-CN" altLang="en-US" dirty="0">
                <a:latin typeface="微软雅黑" panose="020B0503020204020204" pitchFamily="34" charset="-122"/>
                <a:ea typeface="微软雅黑" panose="020B0503020204020204" pitchFamily="34" charset="-122"/>
              </a:rPr>
              <a:t>等推进问题解决，确保项目按进度达成调试目标</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991489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375831"/>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o_PAL_PVCC_HPMOS_EN_R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信号无输出修复（</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电源域适配）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在项目初期强制上电版本中，</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PAL_PVCC_HPMOS </a:t>
            </a:r>
            <a:r>
              <a:rPr lang="zh-CN" altLang="en-US" dirty="0">
                <a:latin typeface="微软雅黑" panose="020B0503020204020204" pitchFamily="34" charset="-122"/>
                <a:ea typeface="微软雅黑" panose="020B0503020204020204" pitchFamily="34" charset="-122"/>
              </a:rPr>
              <a:t>电源使能信号）始终无输出，导致该电源模块无法启动，进而影响后续 </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组其他电源的时序联动，阻塞整体上电流程。</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查阅前期代码版本记录，发现该信号在强制上电逻辑中被暂存，未添加拉高控制语句，属于初期开发时的功能遗漏。</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第二步：硬件协同</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对接硬件同事，明确</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归属</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电源域，需满足该组 “先 </a:t>
            </a:r>
            <a:r>
              <a:rPr lang="en-US" altLang="zh-CN" dirty="0">
                <a:latin typeface="微软雅黑" panose="020B0503020204020204" pitchFamily="34" charset="-122"/>
                <a:ea typeface="微软雅黑" panose="020B0503020204020204" pitchFamily="34" charset="-122"/>
              </a:rPr>
              <a:t>PG</a:t>
            </a:r>
            <a:r>
              <a:rPr lang="zh-CN" altLang="en-US" dirty="0">
                <a:latin typeface="微软雅黑" panose="020B0503020204020204" pitchFamily="34" charset="-122"/>
                <a:ea typeface="微软雅黑" panose="020B0503020204020204" pitchFamily="34" charset="-122"/>
              </a:rPr>
              <a:t>（电源就绪）后 </a:t>
            </a:r>
            <a:r>
              <a:rPr lang="en-US" altLang="zh-CN" dirty="0">
                <a:latin typeface="微软雅黑" panose="020B0503020204020204" pitchFamily="34" charset="-122"/>
                <a:ea typeface="微软雅黑" panose="020B0503020204020204" pitchFamily="34" charset="-122"/>
              </a:rPr>
              <a:t>EN</a:t>
            </a:r>
            <a:r>
              <a:rPr lang="zh-CN" altLang="en-US" dirty="0">
                <a:latin typeface="微软雅黑" panose="020B0503020204020204" pitchFamily="34" charset="-122"/>
                <a:ea typeface="微软雅黑" panose="020B0503020204020204" pitchFamily="34" charset="-122"/>
              </a:rPr>
              <a:t>（使能）” 的时序要求：必须先检测到该电源的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信号，再输出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使能，避免电源空载启动。</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2535049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298886"/>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第三步：代码迭代</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模块中完成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项关键修改：</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新增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信号输入接口：添加</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PAL_PVCC_HPMOS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信号，经去抖处理），确保硬件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状态能准确传入逻辑；</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设计时序控制逻辑：在状态机中新增判断条件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仅当</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为高（电源就绪）时，才触发</a:t>
            </a:r>
            <a:r>
              <a:rPr lang="en-US" altLang="zh-CN" dirty="0" err="1">
                <a:latin typeface="微软雅黑" panose="020B0503020204020204" pitchFamily="34" charset="-122"/>
                <a:ea typeface="微软雅黑" panose="020B0503020204020204" pitchFamily="34" charset="-122"/>
              </a:rPr>
              <a:t>w_grp_b_pal_pvcc_hpmos_en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组内该电源的使能中间信号）；</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关联输出信号：将</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w_grp_b_pal_pvcc_hpmos_en</a:t>
            </a:r>
            <a:r>
              <a:rPr lang="zh-CN" altLang="en-US" dirty="0">
                <a:latin typeface="微软雅黑" panose="020B0503020204020204" pitchFamily="34" charset="-122"/>
                <a:ea typeface="微软雅黑" panose="020B0503020204020204" pitchFamily="34" charset="-122"/>
              </a:rPr>
              <a:t>绑定，确保使能信号按时序输出。</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联合硬件同事进行上电测试，使用示波器监测</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的时序关系：</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信号拉高后 </a:t>
            </a:r>
            <a:r>
              <a:rPr lang="en-US" altLang="zh-CN" dirty="0">
                <a:latin typeface="微软雅黑" panose="020B0503020204020204" pitchFamily="34" charset="-122"/>
                <a:ea typeface="微软雅黑" panose="020B0503020204020204" pitchFamily="34" charset="-122"/>
              </a:rPr>
              <a:t>500ns </a:t>
            </a:r>
            <a:r>
              <a:rPr lang="zh-CN" altLang="en-US" dirty="0">
                <a:latin typeface="微软雅黑" panose="020B0503020204020204" pitchFamily="34" charset="-122"/>
                <a:ea typeface="微软雅黑" panose="020B0503020204020204" pitchFamily="34" charset="-122"/>
              </a:rPr>
              <a:t>内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信号稳定输出，完全符合 </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组时序要求，该电源模块正常启动。</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478001451"/>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068328"/>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Group C/D </a:t>
            </a:r>
            <a:r>
              <a:rPr lang="zh-CN" altLang="en-US" dirty="0">
                <a:latin typeface="微软雅黑" panose="020B0503020204020204" pitchFamily="34" charset="-122"/>
                <a:ea typeface="微软雅黑" panose="020B0503020204020204" pitchFamily="34" charset="-122"/>
              </a:rPr>
              <a:t>电源上电失败（多轮排查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故障逻辑定位）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项目进入多电源域联调阶段时，出现严重阻塞：</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电源域（</a:t>
            </a:r>
            <a:r>
              <a:rPr lang="en-US" altLang="zh-CN" dirty="0">
                <a:latin typeface="微软雅黑" panose="020B0503020204020204" pitchFamily="34" charset="-122"/>
                <a:ea typeface="微软雅黑" panose="020B0503020204020204" pitchFamily="34" charset="-122"/>
              </a:rPr>
              <a:t>1.8V/3.3V</a:t>
            </a:r>
            <a:r>
              <a:rPr lang="zh-CN" altLang="en-US" dirty="0">
                <a:latin typeface="微软雅黑" panose="020B0503020204020204" pitchFamily="34" charset="-122"/>
                <a:ea typeface="微软雅黑" panose="020B0503020204020204" pitchFamily="34" charset="-122"/>
              </a:rPr>
              <a:t>）能正常启动，但</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内的 </a:t>
            </a:r>
            <a:r>
              <a:rPr lang="en-US" altLang="zh-CN" dirty="0">
                <a:latin typeface="微软雅黑" panose="020B0503020204020204" pitchFamily="34" charset="-122"/>
                <a:ea typeface="微软雅黑" panose="020B0503020204020204" pitchFamily="34" charset="-122"/>
              </a:rPr>
              <a:t>S3/S0 </a:t>
            </a:r>
            <a:r>
              <a:rPr lang="zh-CN" altLang="en-US" dirty="0">
                <a:latin typeface="微软雅黑" panose="020B0503020204020204" pitchFamily="34" charset="-122"/>
                <a:ea typeface="微软雅黑" panose="020B0503020204020204" pitchFamily="34" charset="-122"/>
              </a:rPr>
              <a:t>状态电源均无启动迹象，上电流程卡在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的过渡阶段，多次重试后问题复现率 </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多轮排查过程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：怀疑 </a:t>
            </a:r>
            <a:r>
              <a:rPr lang="en-US" altLang="zh-CN" b="1" dirty="0">
                <a:latin typeface="微软雅黑" panose="020B0503020204020204" pitchFamily="34" charset="-122"/>
                <a:ea typeface="微软雅黑" panose="020B0503020204020204" pitchFamily="34" charset="-122"/>
              </a:rPr>
              <a:t>PG </a:t>
            </a:r>
            <a:r>
              <a:rPr lang="zh-CN" altLang="en-US" b="1" dirty="0">
                <a:latin typeface="微软雅黑" panose="020B0503020204020204" pitchFamily="34" charset="-122"/>
                <a:ea typeface="微软雅黑" panose="020B0503020204020204" pitchFamily="34" charset="-122"/>
              </a:rPr>
              <a:t>信号交互错误</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（主模块）与</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（从模块）间的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信号交互异常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若 </a:t>
            </a:r>
            <a:r>
              <a:rPr lang="en-US" altLang="zh-CN" dirty="0">
                <a:latin typeface="微软雅黑" panose="020B0503020204020204" pitchFamily="34" charset="-122"/>
                <a:ea typeface="微软雅黑" panose="020B0503020204020204" pitchFamily="34" charset="-122"/>
              </a:rPr>
              <a:t>slave </a:t>
            </a:r>
            <a:r>
              <a:rPr lang="zh-CN" altLang="en-US" dirty="0">
                <a:latin typeface="微软雅黑" panose="020B0503020204020204" pitchFamily="34" charset="-122"/>
                <a:ea typeface="微软雅黑" panose="020B0503020204020204" pitchFamily="34" charset="-122"/>
              </a:rPr>
              <a:t>模块未正确接收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反馈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a:t>
            </a:r>
            <a:r>
              <a:rPr lang="en-US" altLang="zh-CN" dirty="0">
                <a:latin typeface="微软雅黑" panose="020B0503020204020204" pitchFamily="34" charset="-122"/>
                <a:ea typeface="微软雅黑" panose="020B0503020204020204" pitchFamily="34" charset="-122"/>
              </a:rPr>
              <a:t>master </a:t>
            </a:r>
            <a:r>
              <a:rPr lang="zh-CN" altLang="en-US" dirty="0">
                <a:latin typeface="微软雅黑" panose="020B0503020204020204" pitchFamily="34" charset="-122"/>
                <a:ea typeface="微软雅黑" panose="020B0503020204020204" pitchFamily="34" charset="-122"/>
              </a:rPr>
              <a:t>会判定电源未就绪，不触发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使能。</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梳理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内所有电源（共 </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路）的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信号链路，修改</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a:t>
            </a:r>
            <a:r>
              <a:rPr lang="en-US" altLang="zh-CN" dirty="0">
                <a:latin typeface="微软雅黑" panose="020B0503020204020204" pitchFamily="34" charset="-122"/>
                <a:ea typeface="微软雅黑" panose="020B0503020204020204" pitchFamily="34" charset="-122"/>
              </a:rPr>
              <a:t>db_i_pgd_c1/db_i_pgd_d2</a:t>
            </a:r>
            <a:r>
              <a:rPr lang="zh-CN" altLang="en-US" dirty="0">
                <a:latin typeface="微软雅黑" panose="020B0503020204020204" pitchFamily="34" charset="-122"/>
                <a:ea typeface="微软雅黑" panose="020B0503020204020204" pitchFamily="34" charset="-122"/>
              </a:rPr>
              <a:t>等 </a:t>
            </a:r>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个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信号的输入逻辑（如增加去抖延时、修正信号极性），重新上板测试。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电源仍无启动迹象，排除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信号交互错误的可能。</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99340977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299160"/>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：参考仿真 </a:t>
            </a:r>
            <a:r>
              <a:rPr lang="en-US" altLang="zh-CN" b="1" dirty="0">
                <a:latin typeface="微软雅黑" panose="020B0503020204020204" pitchFamily="34" charset="-122"/>
                <a:ea typeface="微软雅黑" panose="020B0503020204020204" pitchFamily="34" charset="-122"/>
              </a:rPr>
              <a:t>TB </a:t>
            </a:r>
            <a:r>
              <a:rPr lang="zh-CN" altLang="en-US" b="1" dirty="0">
                <a:latin typeface="微软雅黑" panose="020B0503020204020204" pitchFamily="34" charset="-122"/>
                <a:ea typeface="微软雅黑" panose="020B0503020204020204" pitchFamily="34" charset="-122"/>
              </a:rPr>
              <a:t>设置输入（排除内部状态机逻辑问题）</a:t>
            </a: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的状态机逻辑存在漏洞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仿真时基于 </a:t>
            </a:r>
            <a:r>
              <a:rPr lang="en-US" altLang="zh-CN" dirty="0">
                <a:latin typeface="微软雅黑" panose="020B0503020204020204" pitchFamily="34" charset="-122"/>
                <a:ea typeface="微软雅黑" panose="020B0503020204020204" pitchFamily="34" charset="-122"/>
              </a:rPr>
              <a:t>TB</a:t>
            </a:r>
            <a:r>
              <a:rPr lang="zh-CN" altLang="en-US" dirty="0">
                <a:latin typeface="微软雅黑" panose="020B0503020204020204" pitchFamily="34" charset="-122"/>
                <a:ea typeface="微软雅黑" panose="020B0503020204020204" pitchFamily="34" charset="-122"/>
              </a:rPr>
              <a:t>（测试平台）写死输入信号，状态机能正常跳转（</a:t>
            </a:r>
            <a:r>
              <a:rPr lang="en-US" altLang="zh-CN" dirty="0">
                <a:latin typeface="微软雅黑" panose="020B0503020204020204" pitchFamily="34" charset="-122"/>
                <a:ea typeface="微软雅黑" panose="020B0503020204020204" pitchFamily="34" charset="-122"/>
              </a:rPr>
              <a:t>S5→S3→S0</a:t>
            </a:r>
            <a:r>
              <a:rPr lang="zh-CN" altLang="en-US" dirty="0">
                <a:latin typeface="微软雅黑" panose="020B0503020204020204" pitchFamily="34" charset="-122"/>
                <a:ea typeface="微软雅黑" panose="020B0503020204020204" pitchFamily="34" charset="-122"/>
              </a:rPr>
              <a:t>），但上板时输入信号动态变化，可能导致状态机卡壳。</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top</a:t>
            </a:r>
            <a:r>
              <a:rPr lang="zh-CN" altLang="en-US" dirty="0">
                <a:latin typeface="微软雅黑" panose="020B0503020204020204" pitchFamily="34" charset="-122"/>
                <a:ea typeface="微软雅黑" panose="020B0503020204020204" pitchFamily="34" charset="-122"/>
              </a:rPr>
              <a:t>模块中模拟 </a:t>
            </a:r>
            <a:r>
              <a:rPr lang="en-US" altLang="zh-CN" dirty="0">
                <a:latin typeface="微软雅黑" panose="020B0503020204020204" pitchFamily="34" charset="-122"/>
                <a:ea typeface="微软雅黑" panose="020B0503020204020204" pitchFamily="34" charset="-122"/>
              </a:rPr>
              <a:t>TB </a:t>
            </a:r>
            <a:r>
              <a:rPr lang="zh-CN" altLang="en-US" dirty="0">
                <a:latin typeface="微软雅黑" panose="020B0503020204020204" pitchFamily="34" charset="-122"/>
                <a:ea typeface="微软雅黑" panose="020B0503020204020204" pitchFamily="34" charset="-122"/>
              </a:rPr>
              <a:t>的输入配置，将</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的关键输入信号（如</a:t>
            </a:r>
            <a:r>
              <a:rPr lang="en-US" altLang="zh-CN" dirty="0" err="1">
                <a:latin typeface="微软雅黑" panose="020B0503020204020204" pitchFamily="34" charset="-122"/>
                <a:ea typeface="微软雅黑" panose="020B0503020204020204" pitchFamily="34" charset="-122"/>
              </a:rPr>
              <a:t>i_sys_rst_n</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i_bmc_pwr_ctl</a:t>
            </a:r>
            <a:r>
              <a:rPr lang="zh-CN" altLang="en-US" dirty="0">
                <a:latin typeface="微软雅黑" panose="020B0503020204020204" pitchFamily="34" charset="-122"/>
                <a:ea typeface="微软雅黑" panose="020B0503020204020204" pitchFamily="34" charset="-122"/>
              </a:rPr>
              <a:t>）强制写死为仿真时的有效状态（如复位信号拉高、</a:t>
            </a:r>
            <a:r>
              <a:rPr lang="en-US" altLang="zh-CN" dirty="0">
                <a:latin typeface="微软雅黑" panose="020B0503020204020204" pitchFamily="34" charset="-122"/>
                <a:ea typeface="微软雅黑" panose="020B0503020204020204" pitchFamily="34" charset="-122"/>
              </a:rPr>
              <a:t>BMC </a:t>
            </a:r>
            <a:r>
              <a:rPr lang="zh-CN" altLang="en-US" dirty="0">
                <a:latin typeface="微软雅黑" panose="020B0503020204020204" pitchFamily="34" charset="-122"/>
                <a:ea typeface="微软雅黑" panose="020B0503020204020204" pitchFamily="34" charset="-122"/>
              </a:rPr>
              <a:t>允许上电），屏蔽动态输入干扰。</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zh-CN" altLang="en-US" dirty="0">
                <a:latin typeface="微软雅黑" panose="020B0503020204020204" pitchFamily="34" charset="-122"/>
                <a:ea typeface="微软雅黑" panose="020B0503020204020204" pitchFamily="34" charset="-122"/>
              </a:rPr>
              <a:t>状态机仍卡在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过渡阶段，</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电源无响应，说明内部状态机逻辑无问题，问题出在 “动态输入信号” 或 “外部触发条件”。</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：新增 </a:t>
            </a:r>
            <a:r>
              <a:rPr lang="en-US" altLang="zh-CN" b="1" dirty="0" err="1">
                <a:latin typeface="微软雅黑" panose="020B0503020204020204" pitchFamily="34" charset="-122"/>
                <a:ea typeface="微软雅黑" panose="020B0503020204020204" pitchFamily="34" charset="-122"/>
              </a:rPr>
              <a:t>slave→master</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使能信号（补充上电触发条件）</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怀疑点：上电触发信号不足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上板时依赖 “物理按钮输入（</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+BMC </a:t>
            </a:r>
            <a:r>
              <a:rPr lang="zh-CN" altLang="en-US" dirty="0">
                <a:latin typeface="微软雅黑" panose="020B0503020204020204" pitchFamily="34" charset="-122"/>
                <a:ea typeface="微软雅黑" panose="020B0503020204020204" pitchFamily="34" charset="-122"/>
              </a:rPr>
              <a:t>控制信号” 双触发，但实际板子中</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（物理按钮经前端模块处理后的信号）无法正常给到</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，导致 </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之后无后续触发。</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04141116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7299434"/>
          </a:xfrm>
          <a:prstGeom prst="rect">
            <a:avLst/>
          </a:prstGeom>
          <a:noFill/>
        </p:spPr>
        <p:txBody>
          <a:bodyPr wrap="square" rtlCol="0">
            <a:spAutoFit/>
          </a:bodyPr>
          <a:lstStyle/>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模块中新增</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（从模块向主模块的上电启动使能信号），逻辑设计为：</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电源域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信号全拉高后，</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自动拉高，替代</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触发 </a:t>
            </a:r>
            <a:r>
              <a:rPr lang="en-US" altLang="zh-CN" dirty="0">
                <a:latin typeface="微软雅黑" panose="020B0503020204020204" pitchFamily="34" charset="-122"/>
                <a:ea typeface="微软雅黑" panose="020B0503020204020204" pitchFamily="34" charset="-122"/>
              </a:rPr>
              <a:t>S3 </a:t>
            </a:r>
            <a:r>
              <a:rPr lang="zh-CN" altLang="en-US" dirty="0">
                <a:latin typeface="微软雅黑" panose="020B0503020204020204" pitchFamily="34" charset="-122"/>
                <a:ea typeface="微软雅黑" panose="020B0503020204020204" pitchFamily="34" charset="-122"/>
              </a:rPr>
              <a:t>阶段启动；在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中添加该信号的判断条件，作为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的触发依据之一。</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能正常拉高，但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电源仍未启动，排除触发信号不足的问题。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：修改状态机跳转逻辑</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过渡阶段的判断条件冗余 </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的状态机在该阶段需同时满足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信号就绪”“无故障”“复位信号释放”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个条件，若其中某一条件误判，会导致跳转失败。</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简化过渡阶段逻辑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SM_S5_TO_S3</a:t>
            </a:r>
            <a:r>
              <a:rPr lang="zh-CN" altLang="en-US" dirty="0">
                <a:latin typeface="微软雅黑" panose="020B0503020204020204" pitchFamily="34" charset="-122"/>
                <a:ea typeface="微软雅黑" panose="020B0503020204020204" pitchFamily="34" charset="-122"/>
              </a:rPr>
              <a:t>状态中，暂时注释 “无故障”“复位释放” 的判断条件，仅保留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信号就绪”，强制状态机向 </a:t>
            </a:r>
            <a:r>
              <a:rPr lang="en-US" altLang="zh-CN" dirty="0">
                <a:latin typeface="微软雅黑" panose="020B0503020204020204" pitchFamily="34" charset="-122"/>
                <a:ea typeface="微软雅黑" panose="020B0503020204020204" pitchFamily="34" charset="-122"/>
              </a:rPr>
              <a:t>S3 </a:t>
            </a:r>
            <a:r>
              <a:rPr lang="zh-CN" altLang="en-US" dirty="0">
                <a:latin typeface="微软雅黑" panose="020B0503020204020204" pitchFamily="34" charset="-122"/>
                <a:ea typeface="微软雅黑" panose="020B0503020204020204" pitchFamily="34" charset="-122"/>
              </a:rPr>
              <a:t>跳转，上板测试。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zh-CN" altLang="en-US" dirty="0">
                <a:latin typeface="微软雅黑" panose="020B0503020204020204" pitchFamily="34" charset="-122"/>
                <a:ea typeface="微软雅黑" panose="020B0503020204020204" pitchFamily="34" charset="-122"/>
              </a:rPr>
              <a:t>出现突破性变化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电源瞬间上电后立即掉电（示波器监测到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信号拉高 </a:t>
            </a:r>
            <a:r>
              <a:rPr lang="en-US" altLang="zh-CN" dirty="0">
                <a:latin typeface="微软雅黑" panose="020B0503020204020204" pitchFamily="34" charset="-122"/>
                <a:ea typeface="微软雅黑" panose="020B0503020204020204" pitchFamily="34" charset="-122"/>
              </a:rPr>
              <a:t>10ms </a:t>
            </a:r>
            <a:r>
              <a:rPr lang="zh-CN" altLang="en-US" dirty="0">
                <a:latin typeface="微软雅黑" panose="020B0503020204020204" pitchFamily="34" charset="-122"/>
                <a:ea typeface="微软雅黑" panose="020B0503020204020204" pitchFamily="34" charset="-122"/>
              </a:rPr>
              <a:t>后复位），说明状态机跳转无问题，但存在 “上电后立即触发下电” 的新问题。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640765885"/>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453049"/>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：定位下电触发源（故障检测逻辑排查）</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怀疑点：根据</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的稳定状态（</a:t>
            </a:r>
            <a:r>
              <a:rPr lang="en-US" altLang="zh-CN" dirty="0">
                <a:latin typeface="微软雅黑" panose="020B0503020204020204" pitchFamily="34" charset="-122"/>
                <a:ea typeface="微软雅黑" panose="020B0503020204020204" pitchFamily="34" charset="-122"/>
              </a:rPr>
              <a:t>SM_STEADY_PWROK</a:t>
            </a:r>
            <a:r>
              <a:rPr lang="zh-CN" altLang="en-US" dirty="0">
                <a:latin typeface="微软雅黑" panose="020B0503020204020204" pitchFamily="34" charset="-122"/>
                <a:ea typeface="微软雅黑" panose="020B0503020204020204" pitchFamily="34" charset="-122"/>
              </a:rPr>
              <a:t>）逻辑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电源全启动后，仅当 “故障检测（</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热跳变”“正常下电请求” 三者之一满足时，才会触发下电。当前场景中，</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信号固定（无热跳变）、无下电请求，因此故障检测逻辑误判的概率极高。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中暂时注释</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（故障检测总信号）的判断逻辑，即强制</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电源成功启动并稳定运行，上电流程从 </a:t>
            </a:r>
            <a:r>
              <a:rPr lang="en-US" altLang="zh-CN" dirty="0">
                <a:latin typeface="微软雅黑" panose="020B0503020204020204" pitchFamily="34" charset="-122"/>
                <a:ea typeface="微软雅黑" panose="020B0503020204020204" pitchFamily="34" charset="-122"/>
              </a:rPr>
              <a:t>S5→S3→S0 </a:t>
            </a:r>
            <a:r>
              <a:rPr lang="zh-CN" altLang="en-US" dirty="0">
                <a:latin typeface="微软雅黑" panose="020B0503020204020204" pitchFamily="34" charset="-122"/>
                <a:ea typeface="微软雅黑" panose="020B0503020204020204" pitchFamily="34" charset="-122"/>
              </a:rPr>
              <a:t>完全通畅，确认问题根源为</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误判导致下电。</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：追溯 </a:t>
            </a:r>
            <a:r>
              <a:rPr lang="en-US" altLang="zh-CN" b="1" dirty="0" err="1">
                <a:latin typeface="微软雅黑" panose="020B0503020204020204" pitchFamily="34" charset="-122"/>
                <a:ea typeface="微软雅黑" panose="020B0503020204020204" pitchFamily="34" charset="-122"/>
              </a:rPr>
              <a:t>fault_det</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误判原因（最终定位）</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由多个分故障信号（如</a:t>
            </a:r>
            <a:r>
              <a:rPr lang="en-US" altLang="zh-CN" dirty="0" err="1">
                <a:latin typeface="微软雅黑" panose="020B0503020204020204" pitchFamily="34" charset="-122"/>
                <a:ea typeface="微软雅黑" panose="020B0503020204020204" pitchFamily="34" charset="-122"/>
              </a:rPr>
              <a:t>fault_c_pg</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fault_d_en</a:t>
            </a:r>
            <a:r>
              <a:rPr lang="zh-CN" altLang="en-US" dirty="0">
                <a:latin typeface="微软雅黑" panose="020B0503020204020204" pitchFamily="34" charset="-122"/>
                <a:ea typeface="微软雅黑" panose="020B0503020204020204" pitchFamily="34" charset="-122"/>
              </a:rPr>
              <a:t>）或逻辑与得到，需找到具体哪个分信号误触发。</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28355192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145272"/>
          </a:xfrm>
          <a:prstGeom prst="rect">
            <a:avLst/>
          </a:prstGeom>
          <a:noFill/>
        </p:spPr>
        <p:txBody>
          <a:bodyPr wrap="square" rtlCol="0">
            <a:spAutoFit/>
          </a:bodyPr>
          <a:lstStyle/>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发现</a:t>
            </a:r>
            <a:r>
              <a:rPr lang="en-US" altLang="zh-CN" dirty="0" err="1">
                <a:latin typeface="微软雅黑" panose="020B0503020204020204" pitchFamily="34" charset="-122"/>
                <a:ea typeface="微软雅黑" panose="020B0503020204020204" pitchFamily="34" charset="-122"/>
              </a:rPr>
              <a:t>fault_c_pg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C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故障信号）在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阶段被误拉高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进一步追溯到</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a:t>
            </a:r>
            <a:r>
              <a:rPr lang="en-US" altLang="zh-CN" dirty="0">
                <a:latin typeface="微软雅黑" panose="020B0503020204020204" pitchFamily="34" charset="-122"/>
                <a:ea typeface="微软雅黑" panose="020B0503020204020204" pitchFamily="34" charset="-122"/>
              </a:rPr>
              <a:t>Group C </a:t>
            </a:r>
            <a:r>
              <a:rPr lang="zh-CN" altLang="en-US" dirty="0">
                <a:latin typeface="微软雅黑" panose="020B0503020204020204" pitchFamily="34" charset="-122"/>
                <a:ea typeface="微软雅黑" panose="020B0503020204020204" pitchFamily="34" charset="-122"/>
              </a:rPr>
              <a:t>内某路电源（</a:t>
            </a:r>
            <a:r>
              <a:rPr lang="en-US" altLang="zh-CN" dirty="0">
                <a:latin typeface="微软雅黑" panose="020B0503020204020204" pitchFamily="34" charset="-122"/>
                <a:ea typeface="微软雅黑" panose="020B0503020204020204" pitchFamily="34" charset="-122"/>
              </a:rPr>
              <a:t>C3_5V</a:t>
            </a:r>
            <a:r>
              <a:rPr lang="zh-CN" altLang="en-US" dirty="0">
                <a:latin typeface="微软雅黑" panose="020B0503020204020204" pitchFamily="34" charset="-122"/>
                <a:ea typeface="微软雅黑" panose="020B0503020204020204" pitchFamily="34" charset="-122"/>
              </a:rPr>
              <a:t>）的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信号已使能，但对应的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a:t>
            </a:r>
            <a:r>
              <a:rPr lang="en-US" altLang="zh-CN" dirty="0">
                <a:latin typeface="微软雅黑" panose="020B0503020204020204" pitchFamily="34" charset="-122"/>
                <a:ea typeface="微软雅黑" panose="020B0503020204020204" pitchFamily="34" charset="-122"/>
              </a:rPr>
              <a:t>db_i_pgd_c3</a:t>
            </a:r>
            <a:r>
              <a:rPr lang="zh-CN" altLang="en-US" dirty="0">
                <a:latin typeface="微软雅黑" panose="020B0503020204020204" pitchFamily="34" charset="-122"/>
                <a:ea typeface="微软雅黑" panose="020B0503020204020204" pitchFamily="34" charset="-122"/>
              </a:rPr>
              <a:t>）未接入，导致 </a:t>
            </a:r>
            <a:r>
              <a:rPr lang="en-US" altLang="zh-CN" dirty="0">
                <a:latin typeface="微软雅黑" panose="020B0503020204020204" pitchFamily="34" charset="-122"/>
                <a:ea typeface="微软雅黑" panose="020B0503020204020204" pitchFamily="34" charset="-122"/>
              </a:rPr>
              <a:t>slave </a:t>
            </a:r>
            <a:r>
              <a:rPr lang="zh-CN" altLang="en-US" dirty="0">
                <a:latin typeface="微软雅黑" panose="020B0503020204020204" pitchFamily="34" charset="-122"/>
                <a:ea typeface="微软雅黑" panose="020B0503020204020204" pitchFamily="34" charset="-122"/>
              </a:rPr>
              <a:t>模块判定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已输出但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未就绪”，触发</a:t>
            </a:r>
            <a:r>
              <a:rPr lang="en-US" altLang="zh-CN" dirty="0" err="1">
                <a:latin typeface="微软雅黑" panose="020B0503020204020204" pitchFamily="34" charset="-122"/>
                <a:ea typeface="微软雅黑" panose="020B0503020204020204" pitchFamily="34" charset="-122"/>
              </a:rPr>
              <a:t>fault_c_pg</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，最终导致</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模块中为</a:t>
            </a:r>
            <a:r>
              <a:rPr lang="en-US" altLang="zh-CN" dirty="0">
                <a:latin typeface="微软雅黑" panose="020B0503020204020204" pitchFamily="34" charset="-122"/>
                <a:ea typeface="微软雅黑" panose="020B0503020204020204" pitchFamily="34" charset="-122"/>
              </a:rPr>
              <a:t>db_i_pgd_c3</a:t>
            </a:r>
            <a:r>
              <a:rPr lang="zh-CN" altLang="en-US" dirty="0">
                <a:latin typeface="微软雅黑" panose="020B0503020204020204" pitchFamily="34" charset="-122"/>
                <a:ea typeface="微软雅黑" panose="020B0503020204020204" pitchFamily="34" charset="-122"/>
              </a:rPr>
              <a:t>添加 “默认拉高” 的备用逻辑，重新上板测试。 </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err="1">
                <a:latin typeface="微软雅黑" panose="020B0503020204020204" pitchFamily="34" charset="-122"/>
                <a:ea typeface="微软雅黑" panose="020B0503020204020204" pitchFamily="34" charset="-122"/>
              </a:rPr>
              <a:t>fault_c_pg</a:t>
            </a:r>
            <a:r>
              <a:rPr lang="zh-CN" altLang="en-US" dirty="0">
                <a:latin typeface="微软雅黑" panose="020B0503020204020204" pitchFamily="34" charset="-122"/>
                <a:ea typeface="微软雅黑" panose="020B0503020204020204" pitchFamily="34" charset="-122"/>
              </a:rPr>
              <a:t>恢复低电平，</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电源稳定启动，上电流程 </a:t>
            </a:r>
            <a:r>
              <a:rPr lang="en-US" altLang="zh-CN" dirty="0">
                <a:latin typeface="微软雅黑" panose="020B0503020204020204" pitchFamily="34" charset="-122"/>
                <a:ea typeface="微软雅黑" panose="020B0503020204020204" pitchFamily="34" charset="-122"/>
              </a:rPr>
              <a:t>100% </a:t>
            </a:r>
            <a:r>
              <a:rPr lang="zh-CN" altLang="en-US" dirty="0">
                <a:latin typeface="微软雅黑" panose="020B0503020204020204" pitchFamily="34" charset="-122"/>
                <a:ea typeface="微软雅黑" panose="020B0503020204020204" pitchFamily="34" charset="-122"/>
              </a:rPr>
              <a:t>通畅。</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95062529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068054"/>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CPU </a:t>
            </a:r>
            <a:r>
              <a:rPr lang="zh-CN" altLang="en-US" dirty="0">
                <a:latin typeface="微软雅黑" panose="020B0503020204020204" pitchFamily="34" charset="-122"/>
                <a:ea typeface="微软雅黑" panose="020B0503020204020204" pitchFamily="34" charset="-122"/>
              </a:rPr>
              <a:t>在位检测逻辑优化</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初始版本中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在位信号识别异常，无法准确根据 </a:t>
            </a:r>
            <a:r>
              <a:rPr lang="en-US" altLang="zh-CN" dirty="0">
                <a:latin typeface="微软雅黑" panose="020B0503020204020204" pitchFamily="34" charset="-122"/>
                <a:ea typeface="微软雅黑" panose="020B0503020204020204" pitchFamily="34" charset="-122"/>
              </a:rPr>
              <a:t>CPU0/CPU1 </a:t>
            </a:r>
            <a:r>
              <a:rPr lang="zh-CN" altLang="en-US" dirty="0">
                <a:latin typeface="微软雅黑" panose="020B0503020204020204" pitchFamily="34" charset="-122"/>
                <a:ea typeface="微软雅黑" panose="020B0503020204020204" pitchFamily="34" charset="-122"/>
              </a:rPr>
              <a:t>的在位状态控制对应电源域上电，存在误上电或漏上电风险，影响设备运行稳定性。</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通过将 </a:t>
            </a:r>
            <a:r>
              <a:rPr lang="en-US" altLang="zh-CN" dirty="0" err="1">
                <a:latin typeface="微软雅黑" panose="020B0503020204020204" pitchFamily="34" charset="-122"/>
                <a:ea typeface="微软雅黑" panose="020B0503020204020204" pitchFamily="34" charset="-122"/>
              </a:rPr>
              <a:t>db_cpu_prsnt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强制写死为 </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，观察 </a:t>
            </a:r>
            <a:r>
              <a:rPr lang="en-US" altLang="zh-CN" dirty="0">
                <a:latin typeface="微软雅黑" panose="020B0503020204020204" pitchFamily="34" charset="-122"/>
                <a:ea typeface="微软雅黑" panose="020B0503020204020204" pitchFamily="34" charset="-122"/>
              </a:rPr>
              <a:t>CPU0/CPU1 </a:t>
            </a:r>
            <a:r>
              <a:rPr lang="zh-CN" altLang="en-US" dirty="0">
                <a:latin typeface="微软雅黑" panose="020B0503020204020204" pitchFamily="34" charset="-122"/>
                <a:ea typeface="微软雅黑" panose="020B0503020204020204" pitchFamily="34" charset="-122"/>
              </a:rPr>
              <a:t>上电状态，确认问题根源为去抖输入模块异常，导致在位信号识别不准确。。</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第二步：代码优化</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重构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在位检测代码及电源域启动控制逻辑，明确上电规则：</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在位且 </a:t>
            </a:r>
            <a:r>
              <a:rPr lang="en-US" altLang="zh-CN" dirty="0">
                <a:latin typeface="微软雅黑" panose="020B0503020204020204" pitchFamily="34" charset="-122"/>
                <a:ea typeface="微软雅黑" panose="020B0503020204020204" pitchFamily="34" charset="-122"/>
              </a:rPr>
              <a:t>CPU1 </a:t>
            </a:r>
            <a:r>
              <a:rPr lang="zh-CN" altLang="en-US" dirty="0">
                <a:latin typeface="微软雅黑" panose="020B0503020204020204" pitchFamily="34" charset="-122"/>
                <a:ea typeface="微软雅黑" panose="020B0503020204020204" pitchFamily="34" charset="-122"/>
              </a:rPr>
              <a:t>不在位时仅启动 </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电源；</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不在位时无论 </a:t>
            </a:r>
            <a:r>
              <a:rPr lang="en-US" altLang="zh-CN" dirty="0">
                <a:latin typeface="微软雅黑" panose="020B0503020204020204" pitchFamily="34" charset="-122"/>
                <a:ea typeface="微软雅黑" panose="020B0503020204020204" pitchFamily="34" charset="-122"/>
              </a:rPr>
              <a:t>CPU1 </a:t>
            </a:r>
            <a:r>
              <a:rPr lang="zh-CN" altLang="en-US" dirty="0">
                <a:latin typeface="微软雅黑" panose="020B0503020204020204" pitchFamily="34" charset="-122"/>
                <a:ea typeface="微软雅黑" panose="020B0503020204020204" pitchFamily="34" charset="-122"/>
              </a:rPr>
              <a:t>状态均不上电；两者均在位时启动双电源。</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664438755"/>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2605842"/>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经多轮仿真与上板测试，优化后的逻辑完全符合预期，上电控制精准无异常。</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项目成果</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电源域误控问题，保障设备根据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实际在位状态动态调整电源输出，提升系统功耗控制合理性与运行稳定性。</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1742824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683607"/>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电源按钮信号控制异常修复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电源按钮（</a:t>
            </a:r>
            <a:r>
              <a:rPr lang="en-US" altLang="zh-CN" dirty="0" err="1">
                <a:latin typeface="微软雅黑" panose="020B0503020204020204" pitchFamily="34" charset="-122"/>
                <a:ea typeface="微软雅黑" panose="020B0503020204020204" pitchFamily="34" charset="-122"/>
              </a:rPr>
              <a:t>pwrbtn</a:t>
            </a:r>
            <a:r>
              <a:rPr lang="zh-CN" altLang="en-US" dirty="0">
                <a:latin typeface="微软雅黑" panose="020B0503020204020204" pitchFamily="34" charset="-122"/>
                <a:ea typeface="微软雅黑" panose="020B0503020204020204" pitchFamily="34" charset="-122"/>
              </a:rPr>
              <a:t>）输入信号传输异常，存在信号连接错误、按键状态识别失效问题，表现为无论是否按下按钮，设备均会异常上电，且长按下电后会自动重启。</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梳理 </a:t>
            </a:r>
            <a:r>
              <a:rPr lang="en-US" altLang="zh-CN" dirty="0" err="1">
                <a:latin typeface="微软雅黑" panose="020B0503020204020204" pitchFamily="34" charset="-122"/>
                <a:ea typeface="微软雅黑" panose="020B0503020204020204" pitchFamily="34" charset="-122"/>
              </a:rPr>
              <a:t>pwrbtn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信号在 </a:t>
            </a:r>
            <a:r>
              <a:rPr lang="en-US" altLang="zh-CN" dirty="0" err="1">
                <a:latin typeface="微软雅黑" panose="020B0503020204020204" pitchFamily="34" charset="-122"/>
                <a:ea typeface="微软雅黑" panose="020B0503020204020204" pitchFamily="34" charset="-122"/>
              </a:rPr>
              <a:t>cpu_module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等模块的传输路径，发现信号连接错误（如错连 </a:t>
            </a:r>
            <a:r>
              <a:rPr lang="en-US" altLang="zh-CN" dirty="0" err="1">
                <a:latin typeface="微软雅黑" panose="020B0503020204020204" pitchFamily="34" charset="-122"/>
                <a:ea typeface="微软雅黑" panose="020B0503020204020204" pitchFamily="34" charset="-122"/>
              </a:rPr>
              <a:t>w_pwr_btn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与 </a:t>
            </a:r>
            <a:r>
              <a:rPr lang="en-US" altLang="zh-CN" dirty="0" err="1">
                <a:latin typeface="微软雅黑" panose="020B0503020204020204" pitchFamily="34" charset="-122"/>
                <a:ea typeface="微软雅黑" panose="020B0503020204020204" pitchFamily="34" charset="-122"/>
              </a:rPr>
              <a:t>w_pal_pwrbtn_n_r</a:t>
            </a:r>
            <a:r>
              <a:rPr lang="zh-CN" altLang="en-US" dirty="0">
                <a:latin typeface="微软雅黑" panose="020B0503020204020204" pitchFamily="34" charset="-122"/>
                <a:ea typeface="微软雅黑" panose="020B0503020204020204" pitchFamily="34" charset="-122"/>
              </a:rPr>
              <a:t>），以及进入到</a:t>
            </a:r>
            <a:r>
              <a:rPr lang="en-US" altLang="zh-CN" dirty="0" err="1">
                <a:latin typeface="微软雅黑" panose="020B0503020204020204" pitchFamily="34" charset="-122"/>
                <a:ea typeface="微软雅黑" panose="020B0503020204020204" pitchFamily="34" charset="-122"/>
              </a:rPr>
              <a:t>pwr_but_ctrl</a:t>
            </a:r>
            <a:r>
              <a:rPr lang="zh-CN" altLang="en-US" dirty="0">
                <a:latin typeface="微软雅黑" panose="020B0503020204020204" pitchFamily="34" charset="-122"/>
                <a:ea typeface="微软雅黑" panose="020B0503020204020204" pitchFamily="34" charset="-122"/>
              </a:rPr>
              <a:t>模块内的输入信号输出按键无效，替换为输入的</a:t>
            </a:r>
            <a:r>
              <a:rPr lang="en-US" altLang="zh-CN" dirty="0" err="1">
                <a:latin typeface="微软雅黑" panose="020B0503020204020204" pitchFamily="34" charset="-122"/>
                <a:ea typeface="微软雅黑" panose="020B0503020204020204" pitchFamily="34" charset="-122"/>
              </a:rPr>
              <a:t>w_pal_pwrbtn_n_r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第二步：代码优化</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调整各模块信号连接关系，将 </a:t>
            </a:r>
            <a:r>
              <a:rPr lang="en-US" altLang="zh-CN" dirty="0" err="1">
                <a:latin typeface="微软雅黑" panose="020B0503020204020204" pitchFamily="34" charset="-122"/>
                <a:ea typeface="微软雅黑" panose="020B0503020204020204" pitchFamily="34" charset="-122"/>
              </a:rPr>
              <a:t>pwrseq_master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模块内 </a:t>
            </a:r>
            <a:r>
              <a:rPr lang="en-US" altLang="zh-CN" dirty="0">
                <a:latin typeface="微软雅黑" panose="020B0503020204020204" pitchFamily="34" charset="-122"/>
                <a:ea typeface="微软雅黑" panose="020B0503020204020204" pitchFamily="34" charset="-122"/>
              </a:rPr>
              <a:t>p0_pwrbtn_n </a:t>
            </a:r>
            <a:r>
              <a:rPr lang="zh-CN" altLang="en-US" dirty="0">
                <a:latin typeface="微软雅黑" panose="020B0503020204020204" pitchFamily="34" charset="-122"/>
                <a:ea typeface="微软雅黑" panose="020B0503020204020204" pitchFamily="34" charset="-122"/>
              </a:rPr>
              <a:t>信号由写死改为动态关联～</a:t>
            </a:r>
            <a:r>
              <a:rPr lang="en-US" altLang="zh-CN" dirty="0" err="1">
                <a:latin typeface="微软雅黑" panose="020B0503020204020204" pitchFamily="34" charset="-122"/>
                <a:ea typeface="微软雅黑" panose="020B0503020204020204" pitchFamily="34" charset="-122"/>
              </a:rPr>
              <a:t>w_pal_pwrbtn_n_r</a:t>
            </a:r>
            <a:r>
              <a:rPr lang="zh-CN" altLang="en-US" dirty="0">
                <a:latin typeface="微软雅黑" panose="020B0503020204020204" pitchFamily="34" charset="-122"/>
                <a:ea typeface="微软雅黑" panose="020B0503020204020204" pitchFamily="34" charset="-122"/>
              </a:rPr>
              <a:t>，修正 </a:t>
            </a:r>
            <a:r>
              <a:rPr lang="en-US" altLang="zh-CN" dirty="0" err="1">
                <a:latin typeface="微软雅黑" panose="020B0503020204020204" pitchFamily="34" charset="-122"/>
                <a:ea typeface="微软雅黑" panose="020B0503020204020204" pitchFamily="34" charset="-122"/>
              </a:rPr>
              <a:t>db_i_fm_pwrbtn_out_n_r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声明类型为 </a:t>
            </a:r>
            <a:r>
              <a:rPr lang="en-US" altLang="zh-CN" dirty="0">
                <a:latin typeface="微软雅黑" panose="020B0503020204020204" pitchFamily="34" charset="-122"/>
                <a:ea typeface="微软雅黑" panose="020B0503020204020204" pitchFamily="34" charset="-122"/>
              </a:rPr>
              <a:t>wire</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14726149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3221395"/>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第三步：功能完善</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 </a:t>
            </a:r>
            <a:r>
              <a:rPr lang="en-US" altLang="zh-CN" dirty="0" err="1">
                <a:latin typeface="微软雅黑" panose="020B0503020204020204" pitchFamily="34" charset="-122"/>
                <a:ea typeface="微软雅黑" panose="020B0503020204020204" pitchFamily="34" charset="-122"/>
              </a:rPr>
              <a:t>pwr_master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模块新增长短按检测逻辑，针对长按下电后自动重启问题，在 </a:t>
            </a:r>
            <a:r>
              <a:rPr lang="en-US" altLang="zh-CN" dirty="0">
                <a:latin typeface="微软雅黑" panose="020B0503020204020204" pitchFamily="34" charset="-122"/>
                <a:ea typeface="微软雅黑" panose="020B0503020204020204" pitchFamily="34" charset="-122"/>
              </a:rPr>
              <a:t>standby </a:t>
            </a:r>
            <a:r>
              <a:rPr lang="zh-CN" altLang="en-US" dirty="0">
                <a:latin typeface="微软雅黑" panose="020B0503020204020204" pitchFamily="34" charset="-122"/>
                <a:ea typeface="微软雅黑" panose="020B0503020204020204" pitchFamily="34" charset="-122"/>
              </a:rPr>
              <a:t>状态添加长按时间 </a:t>
            </a:r>
            <a:r>
              <a:rPr lang="en-US" altLang="zh-CN" dirty="0">
                <a:latin typeface="微软雅黑" panose="020B0503020204020204" pitchFamily="34" charset="-122"/>
                <a:ea typeface="微软雅黑" panose="020B0503020204020204" pitchFamily="34" charset="-122"/>
              </a:rPr>
              <a:t>flag </a:t>
            </a:r>
            <a:r>
              <a:rPr lang="zh-CN" altLang="en-US" dirty="0">
                <a:latin typeface="微软雅黑" panose="020B0503020204020204" pitchFamily="34" charset="-122"/>
                <a:ea typeface="微软雅黑" panose="020B0503020204020204" pitchFamily="34" charset="-122"/>
              </a:rPr>
              <a:t>判断，确保长按期间保持待机状态，等待新指令触发上电。</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项目成果</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解决电源按钮控制异常问题，实现短按上电、长按正常下电功能，按键响应精准无异常循环，提升设备操作可靠性。。</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34754141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017032"/>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电源时序逻辑优化</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pal_pvcc_hpmos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CPU 0/1 </a:t>
            </a:r>
            <a:r>
              <a:rPr lang="zh-CN" altLang="en-US" dirty="0">
                <a:latin typeface="微软雅黑" panose="020B0503020204020204" pitchFamily="34" charset="-122"/>
                <a:ea typeface="微软雅黑" panose="020B0503020204020204" pitchFamily="34" charset="-122"/>
              </a:rPr>
              <a:t>的 </a:t>
            </a:r>
            <a:r>
              <a:rPr lang="en-US" altLang="zh-CN" dirty="0">
                <a:latin typeface="微软雅黑" panose="020B0503020204020204" pitchFamily="34" charset="-122"/>
                <a:ea typeface="微软雅黑" panose="020B0503020204020204" pitchFamily="34" charset="-122"/>
              </a:rPr>
              <a:t>12V </a:t>
            </a:r>
            <a:r>
              <a:rPr lang="zh-CN" altLang="en-US" dirty="0">
                <a:latin typeface="微软雅黑" panose="020B0503020204020204" pitchFamily="34" charset="-122"/>
                <a:ea typeface="微软雅黑" panose="020B0503020204020204" pitchFamily="34" charset="-122"/>
              </a:rPr>
              <a:t>及 </a:t>
            </a:r>
            <a:r>
              <a:rPr lang="en-US" altLang="zh-CN" dirty="0">
                <a:latin typeface="微软雅黑" panose="020B0503020204020204" pitchFamily="34" charset="-122"/>
                <a:ea typeface="微软雅黑" panose="020B0503020204020204" pitchFamily="34" charset="-122"/>
              </a:rPr>
              <a:t>dimm_12V </a:t>
            </a:r>
            <a:r>
              <a:rPr lang="zh-CN" altLang="en-US" dirty="0">
                <a:latin typeface="微软雅黑" panose="020B0503020204020204" pitchFamily="34" charset="-122"/>
                <a:ea typeface="微软雅黑" panose="020B0503020204020204" pitchFamily="34" charset="-122"/>
              </a:rPr>
              <a:t>使能信号时序混乱，未遵循电源树上下电顺序要求，存在电源模块损坏风险。</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第一步：时序梳理</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明确电源树规定的上下电顺序，梳理各使能信号的依赖关系与启动时序要求。</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第二步：逻辑调整</a:t>
            </a: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在状态机逻辑中添加时序控制机制，按电源树顺序规划各使能信号的输出时机，确保信号触发符合时序规范。</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第三步：测试验证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t>	</a:t>
            </a:r>
            <a:r>
              <a:rPr lang="zh-CN" altLang="en-US" dirty="0">
                <a:latin typeface="微软雅黑" panose="020B0503020204020204" pitchFamily="34" charset="-122"/>
                <a:ea typeface="微软雅黑" panose="020B0503020204020204" pitchFamily="34" charset="-122"/>
              </a:rPr>
              <a:t>通过上板测试验证时序优化效果，确保各电源模块按预期顺序启动与关闭。</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79096179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09810" y="1057699"/>
            <a:ext cx="11053870" cy="3400931"/>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项目概述</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欧康诺目前的逻辑环境，卡在上电初始环节，导致项目进展停顿，上电时序强相关逻辑代码，需要去在逻辑代码中定位解决问题</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逻辑开发</a:t>
            </a:r>
            <a:r>
              <a:rPr lang="en-US" altLang="zh-CN" dirty="0">
                <a:latin typeface="微软雅黑" panose="020B0503020204020204" pitchFamily="34" charset="-122"/>
                <a:ea typeface="微软雅黑" panose="020B0503020204020204" pitchFamily="34" charset="-122"/>
              </a:rPr>
              <a:t>——Lattice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VSCode</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功能仿真</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Modulesim</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上板联调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实际硬件环境</a:t>
            </a:r>
            <a:endParaRPr lang="en-US" altLang="zh-CN" dirty="0">
              <a:latin typeface="微软雅黑" panose="020B0503020204020204" pitchFamily="34" charset="-122"/>
              <a:ea typeface="微软雅黑" panose="020B0503020204020204" pitchFamily="34" charset="-122"/>
            </a:endParaRPr>
          </a:p>
          <a:p>
            <a:pPr marL="285750" lvl="1"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核心职责</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解决上电问题，同时确保按照时序的严格要求按序上电，确保该流程无误，正常进行硬件的下个步骤</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梳理单板逻辑功能需求，继续处理调试并提供测试启动的逻辑版本，后续跟进</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790460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299160"/>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o_PAL_PWRGD_AUX_CPU0</a:t>
            </a:r>
            <a:r>
              <a:rPr lang="zh-CN" altLang="en-US" dirty="0">
                <a:latin typeface="微软雅黑" panose="020B0503020204020204" pitchFamily="34" charset="-122"/>
                <a:ea typeface="微软雅黑" panose="020B0503020204020204" pitchFamily="34" charset="-122"/>
              </a:rPr>
              <a:t>输出信号来回在</a:t>
            </a:r>
            <a:r>
              <a:rPr lang="en-US" altLang="zh-CN" dirty="0">
                <a:latin typeface="微软雅黑" panose="020B0503020204020204" pitchFamily="34" charset="-122"/>
                <a:ea typeface="微软雅黑" panose="020B0503020204020204" pitchFamily="34" charset="-122"/>
              </a:rPr>
              <a:t>4ms</a:t>
            </a:r>
            <a:r>
              <a:rPr lang="zh-CN" altLang="en-US" dirty="0">
                <a:latin typeface="微软雅黑" panose="020B0503020204020204" pitchFamily="34" charset="-122"/>
                <a:ea typeface="微软雅黑" panose="020B0503020204020204" pitchFamily="34" charset="-122"/>
              </a:rPr>
              <a:t>周期内高低电平跳转</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AUX_PWRGD</a:t>
            </a:r>
            <a:r>
              <a:rPr lang="zh-CN" altLang="en-US" dirty="0">
                <a:latin typeface="微软雅黑" panose="020B0503020204020204" pitchFamily="34" charset="-122"/>
                <a:ea typeface="微软雅黑" panose="020B0503020204020204" pitchFamily="34" charset="-122"/>
              </a:rPr>
              <a:t>关联的是该项目的辅电，是在起电流程之前就需要输出开启完成的，而输出的</a:t>
            </a:r>
            <a:r>
              <a:rPr lang="en-US" altLang="zh-CN" dirty="0">
                <a:latin typeface="微软雅黑" panose="020B0503020204020204" pitchFamily="34" charset="-122"/>
                <a:ea typeface="微软雅黑" panose="020B0503020204020204" pitchFamily="34" charset="-122"/>
              </a:rPr>
              <a:t>o_PAL_PWRGD_AUX_CPU0</a:t>
            </a:r>
            <a:r>
              <a:rPr lang="zh-CN" altLang="en-US" dirty="0">
                <a:latin typeface="微软雅黑" panose="020B0503020204020204" pitchFamily="34" charset="-122"/>
                <a:ea typeface="微软雅黑" panose="020B0503020204020204" pitchFamily="34" charset="-122"/>
              </a:rPr>
              <a:t>信号作为告知</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辅电准备完成，逻辑需在</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上电完成后开启主电上电流程，但是目前该信号不稳定，来回跳转，导致无法进入主电的上电流程，进而阻塞整体上电流程。</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通过硬件同事示波器测量的该信号，在逻辑代码中关于</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部分的状态机跳转定位，在</a:t>
            </a:r>
            <a:r>
              <a:rPr lang="en-US" altLang="zh-CN" dirty="0" err="1">
                <a:latin typeface="微软雅黑" panose="020B0503020204020204" pitchFamily="34" charset="-122"/>
                <a:ea typeface="微软雅黑" panose="020B0503020204020204" pitchFamily="34" charset="-122"/>
              </a:rPr>
              <a:t>mater_fub</a:t>
            </a:r>
            <a:r>
              <a:rPr lang="zh-CN" altLang="en-US" dirty="0">
                <a:latin typeface="微软雅黑" panose="020B0503020204020204" pitchFamily="34" charset="-122"/>
                <a:ea typeface="微软雅黑" panose="020B0503020204020204" pitchFamily="34" charset="-122"/>
              </a:rPr>
              <a:t>主控制状态机模块</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状态下，会进行</a:t>
            </a:r>
            <a:r>
              <a:rPr lang="en-US" altLang="zh-CN" dirty="0">
                <a:latin typeface="微软雅黑" panose="020B0503020204020204" pitchFamily="34" charset="-122"/>
                <a:ea typeface="微软雅黑" panose="020B0503020204020204" pitchFamily="34" charset="-122"/>
              </a:rPr>
              <a:t>rAUX_PWRGD_CPU0</a:t>
            </a:r>
            <a:r>
              <a:rPr lang="zh-CN" altLang="en-US" dirty="0">
                <a:latin typeface="微软雅黑" panose="020B0503020204020204" pitchFamily="34" charset="-122"/>
                <a:ea typeface="微软雅黑" panose="020B0503020204020204" pitchFamily="34" charset="-122"/>
              </a:rPr>
              <a:t>的赋值拉高，同时查看后续的代码跳转确定位置。</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第二步：修改尝试</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对在该状态下，发现会先将</a:t>
            </a:r>
            <a:r>
              <a:rPr lang="en-US" altLang="zh-CN" dirty="0">
                <a:latin typeface="微软雅黑" panose="020B0503020204020204" pitchFamily="34" charset="-122"/>
                <a:ea typeface="微软雅黑" panose="020B0503020204020204" pitchFamily="34" charset="-122"/>
              </a:rPr>
              <a:t>rAUX_PWRGD_CPU0 </a:t>
            </a:r>
            <a:r>
              <a:rPr lang="zh-CN" altLang="en-US" dirty="0">
                <a:latin typeface="微软雅黑" panose="020B0503020204020204" pitchFamily="34" charset="-122"/>
                <a:ea typeface="微软雅黑" panose="020B0503020204020204" pitchFamily="34" charset="-122"/>
              </a:rPr>
              <a:t>信号输出拉高，然后会经过</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判断以及</a:t>
            </a:r>
            <a:r>
              <a:rPr lang="en-US" altLang="zh-CN" dirty="0">
                <a:latin typeface="微软雅黑" panose="020B0503020204020204" pitchFamily="34" charset="-122"/>
                <a:ea typeface="微软雅黑" panose="020B0503020204020204" pitchFamily="34" charset="-122"/>
              </a:rPr>
              <a:t>SLP_S3</a:t>
            </a:r>
            <a:r>
              <a:rPr lang="zh-CN" altLang="en-US" dirty="0">
                <a:latin typeface="微软雅黑" panose="020B0503020204020204" pitchFamily="34" charset="-122"/>
                <a:ea typeface="微软雅黑" panose="020B0503020204020204" pitchFamily="34" charset="-122"/>
              </a:rPr>
              <a:t>状态检测再通过</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辅电模块传回来的</a:t>
            </a:r>
            <a:r>
              <a:rPr lang="en-US" altLang="zh-CN" dirty="0" err="1">
                <a:latin typeface="微软雅黑" panose="020B0503020204020204" pitchFamily="34" charset="-122"/>
                <a:ea typeface="微软雅黑" panose="020B0503020204020204" pitchFamily="34" charset="-122"/>
              </a:rPr>
              <a:t>AUX_Done</a:t>
            </a:r>
            <a:r>
              <a:rPr lang="zh-CN" altLang="en-US" dirty="0">
                <a:latin typeface="微软雅黑" panose="020B0503020204020204" pitchFamily="34" charset="-122"/>
                <a:ea typeface="微软雅黑" panose="020B0503020204020204" pitchFamily="34" charset="-122"/>
              </a:rPr>
              <a:t>信号共同去判定是否进入下一状态，如果出现</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事件或者系统还处于</a:t>
            </a:r>
            <a:r>
              <a:rPr lang="en-US" altLang="zh-CN" dirty="0">
                <a:latin typeface="微软雅黑" panose="020B0503020204020204" pitchFamily="34" charset="-122"/>
                <a:ea typeface="微软雅黑" panose="020B0503020204020204" pitchFamily="34" charset="-122"/>
              </a:rPr>
              <a:t>S3</a:t>
            </a:r>
            <a:r>
              <a:rPr lang="zh-CN" altLang="en-US" dirty="0">
                <a:latin typeface="微软雅黑" panose="020B0503020204020204" pitchFamily="34" charset="-122"/>
                <a:ea typeface="微软雅黑" panose="020B0503020204020204" pitchFamily="34" charset="-122"/>
              </a:rPr>
              <a:t>状态，就会拉低，并且该状态的判断条件延时也符合示波器测量的跳转周期。</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79930301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2554545"/>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第三步：初步修改</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目前首要问题是进行上电流程，先将其余部分的判定代码注释，查看是否能够保持住信号的拉高，尝试进入下一状态。</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在注释之前部分的判定条件代码之后，测量</a:t>
            </a:r>
            <a:r>
              <a:rPr lang="en-US" altLang="zh-CN" dirty="0">
                <a:latin typeface="微软雅黑" panose="020B0503020204020204" pitchFamily="34" charset="-122"/>
                <a:ea typeface="微软雅黑" panose="020B0503020204020204" pitchFamily="34" charset="-122"/>
              </a:rPr>
              <a:t>o_PAL_PWRGD_AUX_CPU0</a:t>
            </a:r>
            <a:r>
              <a:rPr lang="zh-CN" altLang="en-US" dirty="0">
                <a:latin typeface="微软雅黑" panose="020B0503020204020204" pitchFamily="34" charset="-122"/>
                <a:ea typeface="微软雅黑" panose="020B0503020204020204" pitchFamily="34" charset="-122"/>
              </a:rPr>
              <a:t>，持续拉高，满足后续上电流程以及</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响应条件。</a:t>
            </a: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3921559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324535"/>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主电经测量无上电使能以及电压显示</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AUX_PWRGD</a:t>
            </a:r>
            <a:r>
              <a:rPr lang="zh-CN" altLang="en-US" dirty="0">
                <a:latin typeface="微软雅黑" panose="020B0503020204020204" pitchFamily="34" charset="-122"/>
                <a:ea typeface="微软雅黑" panose="020B0503020204020204" pitchFamily="34" charset="-122"/>
              </a:rPr>
              <a:t>问题解决之后，按照状态机跳转的流程，会进行主电的上电流程，但是目前经过硬件测量，主电未起。</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在逻辑代码中，</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状态之后，会通过判断条件是否进入到</a:t>
            </a:r>
            <a:r>
              <a:rPr lang="en-US" altLang="zh-CN" dirty="0">
                <a:latin typeface="微软雅黑" panose="020B0503020204020204" pitchFamily="34" charset="-122"/>
                <a:ea typeface="微软雅黑" panose="020B0503020204020204" pitchFamily="34" charset="-122"/>
              </a:rPr>
              <a:t>ST_PSU</a:t>
            </a:r>
            <a:r>
              <a:rPr lang="zh-CN" altLang="en-US" dirty="0">
                <a:latin typeface="微软雅黑" panose="020B0503020204020204" pitchFamily="34" charset="-122"/>
                <a:ea typeface="微软雅黑" panose="020B0503020204020204" pitchFamily="34" charset="-122"/>
              </a:rPr>
              <a:t>模块，该模块会输出一个</a:t>
            </a:r>
            <a:r>
              <a:rPr lang="en-US" altLang="zh-CN" dirty="0" err="1">
                <a:latin typeface="微软雅黑" panose="020B0503020204020204" pitchFamily="34" charset="-122"/>
                <a:ea typeface="微软雅黑" panose="020B0503020204020204" pitchFamily="34" charset="-122"/>
              </a:rPr>
              <a:t>oCPU_MEM_EN</a:t>
            </a:r>
            <a:r>
              <a:rPr lang="zh-CN" altLang="en-US" dirty="0">
                <a:latin typeface="微软雅黑" panose="020B0503020204020204" pitchFamily="34" charset="-122"/>
                <a:ea typeface="微软雅黑" panose="020B0503020204020204" pitchFamily="34" charset="-122"/>
              </a:rPr>
              <a:t>信号，该信号会传输到</a:t>
            </a:r>
            <a:r>
              <a:rPr lang="en-US" altLang="zh-CN" dirty="0" err="1">
                <a:latin typeface="微软雅黑" panose="020B0503020204020204" pitchFamily="34" charset="-122"/>
                <a:ea typeface="微软雅黑" panose="020B0503020204020204" pitchFamily="34" charset="-122"/>
              </a:rPr>
              <a:t>avc_cpu_mem_seq</a:t>
            </a:r>
            <a:r>
              <a:rPr lang="zh-CN" altLang="en-US" dirty="0">
                <a:latin typeface="微软雅黑" panose="020B0503020204020204" pitchFamily="34" charset="-122"/>
                <a:ea typeface="微软雅黑" panose="020B0503020204020204" pitchFamily="34" charset="-122"/>
              </a:rPr>
              <a:t>模块进行主电流程的跳转和使能输出。</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第二步：修改尝试</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由于在</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该状态下，需要判断触发跳转下一步骤的条件较多，尝试先将一些输入进来的判断信号或者</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触发信号都先写死，只保留</a:t>
            </a:r>
            <a:r>
              <a:rPr lang="en-US" altLang="zh-CN" dirty="0">
                <a:latin typeface="微软雅黑" panose="020B0503020204020204" pitchFamily="34" charset="-122"/>
                <a:ea typeface="微软雅黑" panose="020B0503020204020204" pitchFamily="34" charset="-122"/>
              </a:rPr>
              <a:t>iCPU0_AUX_Done</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传到</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信号，生成版本让硬件同时进行测量，发现与之前一致，主电均未上电。</a:t>
            </a: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8480609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4016484"/>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第三步：精准定位</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在对</a:t>
            </a:r>
            <a:r>
              <a:rPr lang="en-US" altLang="zh-CN" dirty="0" err="1">
                <a:latin typeface="微软雅黑" panose="020B0503020204020204" pitchFamily="34" charset="-122"/>
                <a:ea typeface="微软雅黑" panose="020B0503020204020204" pitchFamily="34" charset="-122"/>
              </a:rPr>
              <a:t>cpu_aux</a:t>
            </a:r>
            <a:r>
              <a:rPr lang="zh-CN" altLang="en-US" dirty="0">
                <a:latin typeface="微软雅黑" panose="020B0503020204020204" pitchFamily="34" charset="-122"/>
                <a:ea typeface="微软雅黑" panose="020B0503020204020204" pitchFamily="34" charset="-122"/>
              </a:rPr>
              <a:t>模块进行简单的仿真之后，发现</a:t>
            </a:r>
            <a:r>
              <a:rPr lang="en-US" altLang="zh-CN" dirty="0">
                <a:latin typeface="微软雅黑" panose="020B0503020204020204" pitchFamily="34" charset="-122"/>
                <a:ea typeface="微软雅黑" panose="020B0503020204020204" pitchFamily="34" charset="-122"/>
              </a:rPr>
              <a:t>iCPU0_AUX_Done</a:t>
            </a:r>
            <a:r>
              <a:rPr lang="zh-CN" altLang="en-US" dirty="0">
                <a:latin typeface="微软雅黑" panose="020B0503020204020204" pitchFamily="34" charset="-122"/>
                <a:ea typeface="微软雅黑" panose="020B0503020204020204" pitchFamily="34" charset="-122"/>
              </a:rPr>
              <a:t>是作为改模块的输出，</a:t>
            </a:r>
            <a:r>
              <a:rPr lang="en-US" altLang="zh-CN" dirty="0" err="1">
                <a:latin typeface="微软雅黑" panose="020B0503020204020204" pitchFamily="34" charset="-122"/>
                <a:ea typeface="微软雅黑" panose="020B0503020204020204" pitchFamily="34" charset="-122"/>
              </a:rPr>
              <a:t>master_fub</a:t>
            </a:r>
            <a:r>
              <a:rPr lang="zh-CN" altLang="en-US" dirty="0">
                <a:latin typeface="微软雅黑" panose="020B0503020204020204" pitchFamily="34" charset="-122"/>
                <a:ea typeface="微软雅黑" panose="020B0503020204020204" pitchFamily="34" charset="-122"/>
              </a:rPr>
              <a:t>的输入，该输入信号是确定无误的，那就是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反馈给我们的</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信号的问题，导致无法跳转到下一状态。经讨论，该信号是通过反馈给</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AUX_pg</a:t>
            </a:r>
            <a:r>
              <a:rPr lang="zh-CN" altLang="en-US" dirty="0">
                <a:latin typeface="微软雅黑" panose="020B0503020204020204" pitchFamily="34" charset="-122"/>
                <a:ea typeface="微软雅黑" panose="020B0503020204020204" pitchFamily="34" charset="-122"/>
              </a:rPr>
              <a:t>信号之后，会退出</a:t>
            </a:r>
            <a:r>
              <a:rPr lang="en-US" altLang="zh-CN" dirty="0">
                <a:latin typeface="微软雅黑" panose="020B0503020204020204" pitchFamily="34" charset="-122"/>
                <a:ea typeface="微软雅黑" panose="020B0503020204020204" pitchFamily="34" charset="-122"/>
              </a:rPr>
              <a:t>S3</a:t>
            </a:r>
            <a:r>
              <a:rPr lang="zh-CN" altLang="en-US" dirty="0">
                <a:latin typeface="微软雅黑" panose="020B0503020204020204" pitchFamily="34" charset="-122"/>
                <a:ea typeface="微软雅黑" panose="020B0503020204020204" pitchFamily="34" charset="-122"/>
              </a:rPr>
              <a:t>状态，进入上电流程，但是经过硬件同事测量，发现改信号暂未拉高，逻辑对改判定条件做修改，发现主电可上，该信号是</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的输入</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自己内部进行判定处理的，所以它的这个输入信号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逻辑不可控，初步定位为可能是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在更换</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之后，经过测量，</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会在接收到</a:t>
            </a:r>
            <a:r>
              <a:rPr lang="en-US" altLang="zh-CN" dirty="0">
                <a:latin typeface="微软雅黑" panose="020B0503020204020204" pitchFamily="34" charset="-122"/>
                <a:ea typeface="微软雅黑" panose="020B0503020204020204" pitchFamily="34" charset="-122"/>
              </a:rPr>
              <a:t>PG</a:t>
            </a:r>
            <a:r>
              <a:rPr lang="zh-CN" altLang="en-US" dirty="0">
                <a:latin typeface="微软雅黑" panose="020B0503020204020204" pitchFamily="34" charset="-122"/>
                <a:ea typeface="微软雅黑" panose="020B0503020204020204" pitchFamily="34" charset="-122"/>
              </a:rPr>
              <a:t>信号之后把</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拉高，符合上电前的时序步骤，于是将正常判定条件加入，发现已可以正常进行跳转，明确就是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存在问题。</a:t>
            </a:r>
            <a:endParaRPr lang="zh-CN" altLang="zh-CN" sz="1600" dirty="0"/>
          </a:p>
        </p:txBody>
      </p:sp>
    </p:spTree>
    <p:extLst>
      <p:ext uri="{BB962C8B-B14F-4D97-AF65-F5344CB8AC3E}">
        <p14:creationId xmlns:p14="http://schemas.microsoft.com/office/powerpoint/2010/main" val="165604052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144029"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工作总结及建议</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04</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4</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88958015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工作总结及建议</a:t>
            </a:r>
          </a:p>
        </p:txBody>
      </p:sp>
      <p:sp>
        <p:nvSpPr>
          <p:cNvPr id="3" name="矩形 2"/>
          <p:cNvSpPr/>
          <p:nvPr/>
        </p:nvSpPr>
        <p:spPr>
          <a:xfrm>
            <a:off x="835913" y="1196424"/>
            <a:ext cx="9962226" cy="5417830"/>
          </a:xfrm>
          <a:prstGeom prst="rect">
            <a:avLst/>
          </a:prstGeom>
        </p:spPr>
        <p:txBody>
          <a:bodyPr wrap="square">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项目总结</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技术层面</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逻辑调试需注重信号链路全流程核查，尤其是多模块间信号交互，需明确各节点信号定义与连接关系，避免因信号错连导致功能异常。</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时序优化与硬件特性强相关，需结合电源树等硬件设计规范，确保逻辑代码与硬件特性匹配，减少潜在硬件风险。</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复杂功能（如长短按检测）需拆分逻辑层级，先解决信号识别问题，再优化状态机控制逻辑，逐步实现功能闭环。</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流程层面</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缺陷修复需遵循 “定位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验证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优化” 闭环，通过强制写死信号、分段测试等方法快速定位问题根源，避免盲目修改代码。</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多轮测试迭代中需做好版本管理与修订记录，明确各版本修改内容与验证结果，便于回退版本与问题追溯。</a:t>
            </a:r>
            <a:endParaRPr lang="en-US" altLang="zh-CN" dirty="0">
              <a:latin typeface="微软雅黑" panose="020B0503020204020204" pitchFamily="34" charset="-122"/>
              <a:ea typeface="微软雅黑" panose="020B0503020204020204" pitchFamily="34" charset="-122"/>
            </a:endParaRPr>
          </a:p>
          <a:p>
            <a:pPr marL="0" lvl="1">
              <a:lnSpc>
                <a:spcPts val="2400"/>
              </a:lnSpc>
              <a:spcBef>
                <a:spcPts val="600"/>
              </a:spcBef>
              <a:spcAft>
                <a:spcPts val="600"/>
              </a:spcAft>
            </a:pPr>
            <a:endParaRPr lang="en-US" altLang="zh-CN" b="1" dirty="0"/>
          </a:p>
        </p:txBody>
      </p:sp>
    </p:spTree>
    <p:extLst>
      <p:ext uri="{BB962C8B-B14F-4D97-AF65-F5344CB8AC3E}">
        <p14:creationId xmlns:p14="http://schemas.microsoft.com/office/powerpoint/2010/main" val="350396792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工作总结及建议</a:t>
            </a:r>
          </a:p>
        </p:txBody>
      </p:sp>
      <p:sp>
        <p:nvSpPr>
          <p:cNvPr id="3" name="矩形 2"/>
          <p:cNvSpPr/>
          <p:nvPr/>
        </p:nvSpPr>
        <p:spPr>
          <a:xfrm>
            <a:off x="609810" y="1227955"/>
            <a:ext cx="9962226" cy="4610045"/>
          </a:xfrm>
          <a:prstGeom prst="rect">
            <a:avLst/>
          </a:prstGeom>
        </p:spPr>
        <p:txBody>
          <a:bodyPr wrap="square">
            <a:spAutoFit/>
          </a:bodyPr>
          <a:lstStyle/>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跨团队协作需明确沟通节点，及时同步调试进度与问题，尤其是与硬件、驱动团队的协同，确保问题高效解决。</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个人成长</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通过项目实践，熟练掌握 </a:t>
            </a:r>
            <a:r>
              <a:rPr lang="en-US" altLang="zh-CN" dirty="0">
                <a:latin typeface="微软雅黑" panose="020B0503020204020204" pitchFamily="34" charset="-122"/>
                <a:ea typeface="微软雅黑" panose="020B0503020204020204" pitchFamily="34" charset="-122"/>
              </a:rPr>
              <a:t>Lattice </a:t>
            </a:r>
            <a:r>
              <a:rPr lang="zh-CN" altLang="en-US" dirty="0">
                <a:latin typeface="微软雅黑" panose="020B0503020204020204" pitchFamily="34" charset="-122"/>
                <a:ea typeface="微软雅黑" panose="020B0503020204020204" pitchFamily="34" charset="-122"/>
              </a:rPr>
              <a:t>逻辑开发、</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仿真及上板联调技能，提升复杂问题定位与解决能力，深化对电源控制逻辑与硬件特性的理解，学会在多模块交互场景下统筹功能实现与稳定性保障。</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后续规划</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后续将持续优化电源控制模块逻辑，提升代码可读性与可维护性；针对调试过程中发现的共性问题，整理成规范文档，为同类项目提供参考；同时加强与跨团队的协作效率，提前规避潜在风险，助力项目高效推进。</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560220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302727"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未来目标和计划</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04</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5</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53626251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defTabSz="1219080" fontAlgn="auto">
              <a:spcAft>
                <a:spcPts val="0"/>
              </a:spcAft>
              <a:defRPr/>
            </a:pPr>
            <a:r>
              <a:rPr lang="en-US" altLang="zh-CN" sz="2400" kern="0" dirty="0">
                <a:solidFill>
                  <a:srgbClr val="000000"/>
                </a:solidFill>
                <a:latin typeface="微软雅黑"/>
                <a:ea typeface="微软雅黑"/>
              </a:rPr>
              <a:t>5</a:t>
            </a:r>
            <a:r>
              <a:rPr lang="zh-CN" altLang="en-US" sz="2400" kern="0" dirty="0">
                <a:solidFill>
                  <a:srgbClr val="000000"/>
                </a:solidFill>
                <a:latin typeface="微软雅黑"/>
                <a:ea typeface="微软雅黑"/>
              </a:rPr>
              <a:t>、未来目标和计划</a:t>
            </a:r>
          </a:p>
        </p:txBody>
      </p:sp>
      <p:sp>
        <p:nvSpPr>
          <p:cNvPr id="2" name="矩形 1"/>
          <p:cNvSpPr/>
          <p:nvPr/>
        </p:nvSpPr>
        <p:spPr>
          <a:xfrm>
            <a:off x="940316" y="1066302"/>
            <a:ext cx="9316388" cy="3426579"/>
          </a:xfrm>
          <a:prstGeom prst="rect">
            <a:avLst/>
          </a:prstGeom>
        </p:spPr>
        <p:txBody>
          <a:bodyPr wrap="square">
            <a:spAutoFit/>
          </a:bodyPr>
          <a:lstStyle/>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endParaRPr lang="en-US" altLang="zh-CN" dirty="0">
              <a:latin typeface="微软雅黑" panose="020B0503020204020204" pitchFamily="34" charset="-122"/>
              <a:ea typeface="微软雅黑" panose="020B0503020204020204" pitchFamily="34" charset="-122"/>
            </a:endParaRPr>
          </a:p>
          <a:p>
            <a:pPr algn="just" eaLnBrk="0" fontAlgn="base" hangingPunct="0">
              <a:lnSpc>
                <a:spcPts val="2400"/>
              </a:lnSpc>
              <a:spcBef>
                <a:spcPts val="200"/>
              </a:spcBef>
              <a:spcAft>
                <a:spcPts val="200"/>
              </a:spcAft>
              <a:buClr>
                <a:prstClr val="black"/>
              </a:buClr>
              <a:defRPr/>
            </a:pP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通过这段时间实际参与到</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逻辑代码的调试工作中，吸取到了很多方面的调试经验，首先要完成现有项目收尾工作，确保电源系统稳定可靠，形成可复用的调试规范。</a:t>
            </a: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关于</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逻辑代码的仿真问题，在之后整理相关的技术文档输出，协助其他硬件同事在项目初期可以先进行仿真去验证一下模块内的输入输出是否存在问题，提前规避一些错误，确保后续整体流程的按时推进。</a:t>
            </a: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持续学习硬件以及</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相关知识，综合多方面成长，提升复杂系统问题解决能力，提高工作效率。</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46566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85956" y="1479113"/>
            <a:ext cx="5724644" cy="2585323"/>
          </a:xfrm>
          <a:prstGeom prst="rect">
            <a:avLst/>
          </a:prstGeom>
          <a:noFill/>
        </p:spPr>
        <p:txBody>
          <a:bodyPr wrap="none" lIns="91440" tIns="45720" rIns="91440" bIns="45720">
            <a:spAutoFit/>
          </a:bodyPr>
          <a:lstStyle/>
          <a:p>
            <a:pPr marL="0" lvl="1" algn="ctr" defTabSz="1218565">
              <a:defRPr/>
            </a:pPr>
            <a:r>
              <a:rPr lang="zh-CN" altLang="en-US"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欢迎各位专家指正</a:t>
            </a:r>
            <a:endParaRPr lang="en-US" altLang="zh-CN"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marL="0" lvl="1" algn="ctr" defTabSz="1218565">
              <a:defRPr/>
            </a:pPr>
            <a:endParaRPr lang="en-US" altLang="zh-CN"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marL="0" lvl="1" algn="ctr" defTabSz="1218565">
              <a:defRPr/>
            </a:pPr>
            <a:r>
              <a:rPr lang="zh-CN" altLang="en-US"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谢谢各位评委！</a:t>
            </a:r>
            <a:endParaRPr lang="zh-CN" altLang="en-US" sz="5400" b="0" cap="none" spc="0" dirty="0">
              <a:ln w="0"/>
              <a:solidFill>
                <a:srgbClr val="2F66C2"/>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1518950792"/>
      </p:ext>
    </p:extLst>
  </p:cSld>
  <p:clrMapOvr>
    <a:masterClrMapping/>
  </p:clrMapOvr>
  <p:transition/>
</p:sld>
</file>

<file path=ppt/theme/theme1.xml><?xml version="1.0" encoding="utf-8"?>
<a:theme xmlns:a="http://schemas.openxmlformats.org/drawingml/2006/main" name="模板-Confidential 秘密">
  <a:themeElements>
    <a:clrScheme name="主题颜色-1">
      <a:dk1>
        <a:srgbClr val="262626"/>
      </a:dk1>
      <a:lt1>
        <a:srgbClr val="FFFFFF"/>
      </a:lt1>
      <a:dk2>
        <a:srgbClr val="262626"/>
      </a:dk2>
      <a:lt2>
        <a:srgbClr val="BFBFBF"/>
      </a:lt2>
      <a:accent1>
        <a:srgbClr val="2C4155"/>
      </a:accent1>
      <a:accent2>
        <a:srgbClr val="2290B3"/>
      </a:accent2>
      <a:accent3>
        <a:srgbClr val="6EADA7"/>
      </a:accent3>
      <a:accent4>
        <a:srgbClr val="ADB378"/>
      </a:accent4>
      <a:accent5>
        <a:srgbClr val="EB6161"/>
      </a:accent5>
      <a:accent6>
        <a:srgbClr val="CF7B0F"/>
      </a:accent6>
      <a:hlink>
        <a:srgbClr val="598486"/>
      </a:hlink>
      <a:folHlink>
        <a:srgbClr val="007272"/>
      </a:folHlink>
    </a:clrScheme>
    <a:fontScheme name="自定义设计方案">
      <a:majorFont>
        <a:latin typeface="Arial"/>
        <a:ea typeface="华文细黑"/>
        <a:cs typeface=""/>
      </a:majorFont>
      <a:minorFont>
        <a:latin typeface="华文中宋"/>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688B6"/>
        </a:solidFill>
        <a:ln w="12700" cap="flat" cmpd="sng" algn="ctr">
          <a:noFill/>
          <a:prstDash val="dash"/>
        </a:ln>
      </a:spPr>
      <a:bodyPr rtlCol="0" anchor="ctr"/>
      <a:lstStyle>
        <a:defPPr marL="0" marR="0" indent="0" algn="ctr" defTabSz="914400" eaLnBrk="1" fontAlgn="auto" latinLnBrk="0" hangingPunct="1">
          <a:lnSpc>
            <a:spcPct val="100000"/>
          </a:lnSpc>
          <a:spcBef>
            <a:spcPts val="0"/>
          </a:spcBef>
          <a:spcAft>
            <a:spcPts val="0"/>
          </a:spcAft>
          <a:buClrTx/>
          <a:buSzTx/>
          <a:buFontTx/>
          <a:buNone/>
          <a:defRPr kumimoji="0"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mn-cs"/>
          </a:defRPr>
        </a:defPPr>
      </a:lstStyle>
    </a:sp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89614</TotalTime>
  <Words>3364</Words>
  <Application>Microsoft Office PowerPoint</Application>
  <PresentationFormat>宽屏</PresentationFormat>
  <Paragraphs>340</Paragraphs>
  <Slides>42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华文细黑</vt:lpstr>
      <vt:lpstr>华文中宋</vt:lpstr>
      <vt:lpstr>宋体</vt:lpstr>
      <vt:lpstr>微软雅黑</vt:lpstr>
      <vt:lpstr>Arial</vt:lpstr>
      <vt:lpstr>Calibri</vt:lpstr>
      <vt:lpstr>Wingdings</vt:lpstr>
      <vt:lpstr>模板-Confidential 秘密</vt:lpstr>
      <vt:lpstr>PowerPoint 演示文稿</vt:lpstr>
      <vt:lpstr>PowerPoint 演示文稿</vt:lpstr>
      <vt:lpstr>PowerPoint 演示文稿</vt:lpstr>
      <vt:lpstr>个人介绍</vt:lpstr>
      <vt:lpstr>PowerPoint 演示文稿</vt:lpstr>
      <vt:lpstr>工作内容 — 概述</vt:lpstr>
      <vt:lpstr>工作内容1 — 东湖一号硬件设计方案</vt:lpstr>
      <vt:lpstr>工作内容1 —东湖一号逻辑方案设计</vt:lpstr>
      <vt:lpstr>工作内容 —东湖一号电源上下电方案</vt:lpstr>
      <vt:lpstr>工作内容1 — 东湖一号逻辑功能调试</vt:lpstr>
      <vt:lpstr>工作内容2 —欧康诺电源上下电方案</vt:lpstr>
      <vt:lpstr>工作内容2 — 欧康诺逻辑功能调试</vt:lpstr>
      <vt:lpstr>工作内容3 — 龙芯3E6000硬件设计方案</vt:lpstr>
      <vt:lpstr>工作内容1 —东湖一号逻辑方案设计</vt:lpstr>
      <vt:lpstr>工作内容 —东湖一号电源上下电方案</vt:lpstr>
      <vt:lpstr>工作内容1 — 东湖一号逻辑功能调试</vt:lpstr>
      <vt:lpstr>2、学习及工作回顾 </vt:lpstr>
      <vt:lpstr>PowerPoint 演示文稿</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3.2项目案例及经验分享——欧康诺上电功能逻辑调试</vt:lpstr>
      <vt:lpstr>3.2项目案例及经验分享——欧康诺上电功能逻辑调试</vt:lpstr>
      <vt:lpstr>3.2项目案例及经验分享——欧康诺上电功能逻辑调试</vt:lpstr>
      <vt:lpstr>3.2项目案例及经验分享——欧康诺上电功能逻辑调试</vt:lpstr>
      <vt:lpstr>3.2项目案例及经验分享——欧康诺上电功能逻辑调试</vt:lpstr>
      <vt:lpstr>PowerPoint 演示文稿</vt:lpstr>
      <vt:lpstr>4.工作总结及建议</vt:lpstr>
      <vt:lpstr>4.工作总结及建议</vt:lpstr>
      <vt:lpstr>PowerPoint 演示文稿</vt:lpstr>
      <vt:lpstr>5、未来目标和计划</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yangsiyuan</dc:creator>
  <cp:lastModifiedBy>zhumingjie 02665</cp:lastModifiedBy>
  <cp:revision>294</cp:revision>
  <dcterms:created xsi:type="dcterms:W3CDTF">2021-08-24T02:59:46Z</dcterms:created>
  <dcterms:modified xsi:type="dcterms:W3CDTF">2026-01-20T06:07:04Z</dcterms:modified>
</cp:coreProperties>
</file>