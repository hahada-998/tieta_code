
<file path=[Content_Types].xml><?xml version="1.0" encoding="utf-8"?>
<Types xmlns="http://schemas.openxmlformats.org/package/2006/content-types">
  <Default Extension="png" ContentType="image/png"/>
  <Default Extension="jpeg" ContentType="image/jpeg"/>
  <Default Extension="emf" ContentType="image/x-emf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2" r:id="rId1"/>
  </p:sldMasterIdLst>
  <p:notesMasterIdLst>
    <p:notesMasterId r:id="rId19"/>
  </p:notesMasterIdLst>
  <p:sldIdLst>
    <p:sldId id="368" r:id="rId2"/>
    <p:sldId id="319" r:id="rId3"/>
    <p:sldId id="320" r:id="rId4"/>
    <p:sldId id="259" r:id="rId5"/>
    <p:sldId id="321" r:id="rId6"/>
    <p:sldId id="304" r:id="rId7"/>
    <p:sldId id="349" r:id="rId8"/>
    <p:sldId id="350" r:id="rId9"/>
    <p:sldId id="351" r:id="rId10"/>
    <p:sldId id="362" r:id="rId11"/>
    <p:sldId id="363" r:id="rId12"/>
    <p:sldId id="365" r:id="rId13"/>
    <p:sldId id="367" r:id="rId14"/>
    <p:sldId id="366" r:id="rId15"/>
    <p:sldId id="323" r:id="rId16"/>
    <p:sldId id="310" r:id="rId17"/>
    <p:sldId id="260" r:id="rId18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325C3"/>
    <a:srgbClr val="2F66C2"/>
    <a:srgbClr val="527BC6"/>
    <a:srgbClr val="4371C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中度样式 2 - 强调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3B4B98B0-60AC-42C2-AFA5-B58CD77FA1E5}" styleName="浅色样式 1 - 强调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9CF1AB2-1976-4502-BF36-3FF5EA218861}" styleName="中度样式 4 - 强调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8A107856-5554-42FB-B03E-39F5DBC370BA}" styleName="中度样式 4 - 强调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  <a:tblStyle styleId="{2D5ABB26-0587-4C30-8999-92F81FD0307C}" styleName="无样式，无网格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浅色样式 2 - 强调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0660B408-B3CF-4A94-85FC-2B1E0A45F4A2}" styleName="深色样式 2 - 强调 1/强调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D7AC3CCA-C797-4891-BE02-D94E43425B78}" styleName="中度样式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569" autoAdjust="0"/>
    <p:restoredTop sz="94660" autoAdjust="0"/>
  </p:normalViewPr>
  <p:slideViewPr>
    <p:cSldViewPr snapToGrid="0">
      <p:cViewPr varScale="1">
        <p:scale>
          <a:sx n="73" d="100"/>
          <a:sy n="73" d="100"/>
        </p:scale>
        <p:origin x="780" y="78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AB1A718-2EF3-4FEF-9652-7CA90B1F98E5}" type="datetimeFigureOut">
              <a:rPr lang="zh-CN" altLang="en-US" smtClean="0"/>
              <a:t>2026/1/28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15D5CC6-AEBA-41CD-B77A-6B05C9118B8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0661938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秘密-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25"/>
          <p:cNvSpPr>
            <a:spLocks noGrp="1" noChangeArrowheads="1"/>
          </p:cNvSpPr>
          <p:nvPr>
            <p:ph idx="1"/>
          </p:nvPr>
        </p:nvSpPr>
        <p:spPr bwMode="auto">
          <a:xfrm>
            <a:off x="609600" y="1440490"/>
            <a:ext cx="10972800" cy="4484788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vert="horz" wrap="square" lIns="91440" tIns="45720" rIns="91440" bIns="45720" numCol="1" anchor="t" anchorCtr="0" compatLnSpc="1"/>
          <a:lstStyle>
            <a:lvl1pPr>
              <a:buFont typeface="Wingdings" panose="05000000000000000000" pitchFamily="2" charset="2"/>
              <a:buChar char="n"/>
              <a:defRPr/>
            </a:lvl1pPr>
            <a:lvl2pPr>
              <a:buFont typeface="Arial" panose="020B0604020202020204" pitchFamily="34" charset="0"/>
              <a:buChar char="•"/>
              <a:defRPr/>
            </a:lvl2pPr>
          </a:lstStyle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  <p:sp>
        <p:nvSpPr>
          <p:cNvPr id="5" name="Rectangle 24"/>
          <p:cNvSpPr>
            <a:spLocks noGrp="1" noChangeArrowheads="1"/>
          </p:cNvSpPr>
          <p:nvPr>
            <p:ph type="title"/>
          </p:nvPr>
        </p:nvSpPr>
        <p:spPr bwMode="auto">
          <a:xfrm>
            <a:off x="609810" y="356659"/>
            <a:ext cx="9134596" cy="609600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vert="horz" wrap="square" lIns="91440" tIns="45720" rIns="91440" bIns="45720" numCol="1" anchor="ctr" anchorCtr="0" compatLnSpc="1"/>
          <a:lstStyle/>
          <a:p>
            <a:pPr lvl="0"/>
            <a:r>
              <a:rPr lang="zh-CN" altLang="en-US" dirty="0"/>
              <a:t>单击此处编辑母版标题样式</a:t>
            </a:r>
          </a:p>
        </p:txBody>
      </p:sp>
      <p:sp>
        <p:nvSpPr>
          <p:cNvPr id="6" name="Rectangle 17"/>
          <p:cNvSpPr>
            <a:spLocks noChangeArrowheads="1"/>
          </p:cNvSpPr>
          <p:nvPr userDrawn="1"/>
        </p:nvSpPr>
        <p:spPr bwMode="auto">
          <a:xfrm>
            <a:off x="609599" y="966259"/>
            <a:ext cx="9168000" cy="60959"/>
          </a:xfrm>
          <a:prstGeom prst="rect">
            <a:avLst/>
          </a:prstGeom>
          <a:solidFill>
            <a:srgbClr val="19589F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121920" tIns="60960" rIns="121920" bIns="60960" numCol="1" anchor="t" anchorCtr="0" compatLnSpc="1"/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endParaRPr lang="zh-CN" altLang="en-US" sz="2400">
              <a:solidFill>
                <a:srgbClr val="262626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869744656"/>
      </p:ext>
    </p:extLst>
  </p:cSld>
  <p:clrMapOvr>
    <a:masterClrMapping/>
  </p:clrMapOvr>
  <p:transition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秘密-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4"/>
          <p:cNvSpPr>
            <a:spLocks noGrp="1" noChangeArrowheads="1"/>
          </p:cNvSpPr>
          <p:nvPr>
            <p:ph type="title"/>
          </p:nvPr>
        </p:nvSpPr>
        <p:spPr bwMode="auto">
          <a:xfrm>
            <a:off x="609810" y="356659"/>
            <a:ext cx="9134596" cy="609600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vert="horz" wrap="square" lIns="91440" tIns="45720" rIns="91440" bIns="45720" numCol="1" anchor="ctr" anchorCtr="0" compatLnSpc="1"/>
          <a:lstStyle/>
          <a:p>
            <a:pPr lvl="0"/>
            <a:r>
              <a:rPr lang="zh-CN" altLang="en-US" dirty="0"/>
              <a:t>单击此处编辑母版标题样式</a:t>
            </a:r>
          </a:p>
        </p:txBody>
      </p:sp>
      <p:sp>
        <p:nvSpPr>
          <p:cNvPr id="3" name="Rectangle 17"/>
          <p:cNvSpPr>
            <a:spLocks noChangeArrowheads="1"/>
          </p:cNvSpPr>
          <p:nvPr userDrawn="1"/>
        </p:nvSpPr>
        <p:spPr bwMode="auto">
          <a:xfrm>
            <a:off x="609599" y="966259"/>
            <a:ext cx="9168000" cy="60959"/>
          </a:xfrm>
          <a:prstGeom prst="rect">
            <a:avLst/>
          </a:prstGeom>
          <a:solidFill>
            <a:srgbClr val="19589F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121920" tIns="60960" rIns="121920" bIns="60960" numCol="1" anchor="t" anchorCtr="0" compatLnSpc="1"/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endParaRPr lang="zh-CN" altLang="en-US" sz="2400">
              <a:solidFill>
                <a:srgbClr val="262626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667079817"/>
      </p:ext>
    </p:extLst>
  </p:cSld>
  <p:clrMapOvr>
    <a:masterClrMapping/>
  </p:clrMapOvr>
  <p:transition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秘密-节标题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矩形 9"/>
          <p:cNvSpPr/>
          <p:nvPr userDrawn="1"/>
        </p:nvSpPr>
        <p:spPr>
          <a:xfrm>
            <a:off x="10377940" y="6556681"/>
            <a:ext cx="1308820" cy="297454"/>
          </a:xfrm>
          <a:prstGeom prst="rect">
            <a:avLst/>
          </a:prstGeom>
        </p:spPr>
        <p:txBody>
          <a:bodyPr wrap="none" anchor="ctr" anchorCtr="1">
            <a:spAutoFit/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 altLang="zh-CN" sz="1333" dirty="0">
                <a:solidFill>
                  <a:srgbClr val="262626">
                    <a:lumMod val="65000"/>
                    <a:lumOff val="35000"/>
                  </a:srgb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www.h3c.com</a:t>
            </a:r>
            <a:endParaRPr lang="zh-CN" altLang="en-US" sz="1333" dirty="0">
              <a:solidFill>
                <a:srgbClr val="262626">
                  <a:lumMod val="65000"/>
                  <a:lumOff val="35000"/>
                </a:srgb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1" name="矩形 10"/>
          <p:cNvSpPr/>
          <p:nvPr userDrawn="1"/>
        </p:nvSpPr>
        <p:spPr>
          <a:xfrm>
            <a:off x="5388537" y="6581052"/>
            <a:ext cx="1337226" cy="256545"/>
          </a:xfrm>
          <a:prstGeom prst="rect">
            <a:avLst/>
          </a:prstGeom>
        </p:spPr>
        <p:txBody>
          <a:bodyPr wrap="none" anchor="ctr" anchorCtr="1">
            <a:spAutoFit/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 altLang="zh-CN" sz="1067" b="1" dirty="0">
                <a:solidFill>
                  <a:srgbClr val="262626">
                    <a:lumMod val="50000"/>
                    <a:lumOff val="50000"/>
                  </a:srgb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Confidential </a:t>
            </a:r>
            <a:r>
              <a:rPr lang="zh-CN" altLang="en-US" sz="1067" b="1" dirty="0">
                <a:solidFill>
                  <a:srgbClr val="262626">
                    <a:lumMod val="50000"/>
                    <a:lumOff val="50000"/>
                  </a:srgb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秘密</a:t>
            </a:r>
          </a:p>
        </p:txBody>
      </p:sp>
      <p:sp>
        <p:nvSpPr>
          <p:cNvPr id="12" name="矩形 11"/>
          <p:cNvSpPr/>
          <p:nvPr userDrawn="1"/>
        </p:nvSpPr>
        <p:spPr>
          <a:xfrm>
            <a:off x="0" y="1"/>
            <a:ext cx="12192000" cy="33434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noFill/>
            <a:prstDash val="dash"/>
          </a:ln>
          <a:effectLst/>
        </p:spPr>
        <p:txBody>
          <a:bodyPr rtlCol="0" anchor="ctr"/>
          <a:lstStyle/>
          <a:p>
            <a:pPr algn="ctr"/>
            <a:endParaRPr lang="zh-CN" altLang="en-US" sz="1867" b="1" kern="0" dirty="0">
              <a:solidFill>
                <a:srgbClr val="262626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4" name="矩形 23">
            <a:extLst>
              <a:ext uri="{FF2B5EF4-FFF2-40B4-BE49-F238E27FC236}">
                <a16:creationId xmlns="" xmlns:a16="http://schemas.microsoft.com/office/drawing/2014/main" id="{6286DD0E-0F20-4F4E-8533-FFE05262B0DD}"/>
              </a:ext>
            </a:extLst>
          </p:cNvPr>
          <p:cNvSpPr/>
          <p:nvPr userDrawn="1"/>
        </p:nvSpPr>
        <p:spPr>
          <a:xfrm>
            <a:off x="5049409" y="3361638"/>
            <a:ext cx="2095830" cy="44121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lang="en-US" altLang="zh-CN" sz="2267" dirty="0">
                <a:solidFill>
                  <a:srgbClr val="FFFFFF">
                    <a:lumMod val="85000"/>
                  </a:srgb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www.h3c.com</a:t>
            </a:r>
            <a:endParaRPr lang="zh-CN" altLang="en-US" sz="2267" dirty="0">
              <a:solidFill>
                <a:srgbClr val="FFFFFF">
                  <a:lumMod val="85000"/>
                </a:srgb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7" name="图片 6">
            <a:extLst>
              <a:ext uri="{FF2B5EF4-FFF2-40B4-BE49-F238E27FC236}">
                <a16:creationId xmlns="" xmlns:a16="http://schemas.microsoft.com/office/drawing/2014/main" id="{8971FE5F-7AB6-45F2-A091-D2F0246940E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571018" y="2372883"/>
            <a:ext cx="5049965" cy="8401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3066878"/>
      </p:ext>
    </p:extLst>
  </p:cSld>
  <p:clrMapOvr>
    <a:masterClrMapping/>
  </p:clrMapOvr>
  <p:transition/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4"/>
          <p:cNvSpPr>
            <a:spLocks noGrp="1" noChangeArrowheads="1"/>
          </p:cNvSpPr>
          <p:nvPr>
            <p:ph type="title"/>
          </p:nvPr>
        </p:nvSpPr>
        <p:spPr bwMode="auto">
          <a:xfrm>
            <a:off x="609810" y="356659"/>
            <a:ext cx="9134596" cy="609600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vert="horz" wrap="square" lIns="91440" tIns="45720" rIns="91440" bIns="45720" numCol="1" anchor="ctr" anchorCtr="0" compatLnSpc="1"/>
          <a:lstStyle/>
          <a:p>
            <a:pPr lvl="0"/>
            <a:r>
              <a:rPr lang="zh-CN" altLang="en-US" dirty="0"/>
              <a:t>单击此处编辑母版标题样式</a:t>
            </a:r>
          </a:p>
        </p:txBody>
      </p:sp>
      <p:sp>
        <p:nvSpPr>
          <p:cNvPr id="3" name="Rectangle 17"/>
          <p:cNvSpPr>
            <a:spLocks noChangeArrowheads="1"/>
          </p:cNvSpPr>
          <p:nvPr userDrawn="1"/>
        </p:nvSpPr>
        <p:spPr bwMode="auto">
          <a:xfrm>
            <a:off x="609599" y="966259"/>
            <a:ext cx="9168000" cy="60959"/>
          </a:xfrm>
          <a:prstGeom prst="rect">
            <a:avLst/>
          </a:prstGeom>
          <a:solidFill>
            <a:srgbClr val="19589F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121920" tIns="60960" rIns="121920" bIns="60960" numCol="1" anchor="t" anchorCtr="0" compatLnSpc="1"/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endParaRPr lang="zh-CN" altLang="en-US" sz="2400">
              <a:solidFill>
                <a:srgbClr val="262626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4" name="图片 3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21607" y="316415"/>
            <a:ext cx="1243012" cy="6900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743745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>
          <a:xfrm>
            <a:off x="838200" y="6356351"/>
            <a:ext cx="2743200" cy="365125"/>
          </a:xfrm>
          <a:prstGeom prst="rect">
            <a:avLst/>
          </a:prstGeom>
        </p:spPr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fld id="{CD1AF5E5-68C7-4D2C-B141-D4FA4E4A8D34}" type="datetimeFigureOut">
              <a:rPr lang="zh-CN" altLang="en-US">
                <a:solidFill>
                  <a:srgbClr val="262626"/>
                </a:solidFill>
                <a:latin typeface="Arial" panose="020B0604020202020204" pitchFamily="34" charset="0"/>
                <a:ea typeface="宋体" panose="02010600030101010101" pitchFamily="2" charset="-122"/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2026/1/28</a:t>
            </a:fld>
            <a:endParaRPr lang="zh-CN" altLang="en-US">
              <a:solidFill>
                <a:srgbClr val="262626"/>
              </a:solidFill>
              <a:latin typeface="Arial" panose="020B0604020202020204" pitchFamily="34" charset="0"/>
              <a:ea typeface="宋体" panose="02010600030101010101" pitchFamily="2" charset="-122"/>
            </a:endParaRPr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</p:spPr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endParaRPr lang="zh-CN" altLang="en-US">
              <a:solidFill>
                <a:srgbClr val="262626"/>
              </a:solidFill>
              <a:latin typeface="Arial" panose="020B0604020202020204" pitchFamily="34" charset="0"/>
              <a:ea typeface="宋体" panose="02010600030101010101" pitchFamily="2" charset="-122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>
          <a:xfrm>
            <a:off x="8610600" y="6356351"/>
            <a:ext cx="2743200" cy="365125"/>
          </a:xfrm>
          <a:prstGeom prst="rect">
            <a:avLst/>
          </a:prstGeom>
        </p:spPr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fld id="{1BB461B6-EA5E-467A-B473-0F8E4EA2CBBE}" type="slidenum">
              <a:rPr lang="zh-CN" altLang="en-US">
                <a:solidFill>
                  <a:srgbClr val="262626"/>
                </a:solidFill>
                <a:latin typeface="Arial" panose="020B0604020202020204" pitchFamily="34" charset="0"/>
                <a:ea typeface="宋体" panose="02010600030101010101" pitchFamily="2" charset="-122"/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‹#›</a:t>
            </a:fld>
            <a:endParaRPr lang="zh-CN" altLang="en-US">
              <a:solidFill>
                <a:srgbClr val="262626"/>
              </a:solidFill>
              <a:latin typeface="Arial" panose="020B0604020202020204" pitchFamily="34" charset="0"/>
              <a:ea typeface="宋体" panose="0201060003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2508515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png"/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图片 25" descr="1.png"/>
          <p:cNvPicPr>
            <a:picLocks noChangeAspect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-16959" y="6522753"/>
            <a:ext cx="12192001" cy="330200"/>
          </a:xfrm>
          <a:prstGeom prst="rect">
            <a:avLst/>
          </a:prstGeom>
        </p:spPr>
      </p:pic>
      <p:sp>
        <p:nvSpPr>
          <p:cNvPr id="1026" name="Rectangle 25"/>
          <p:cNvSpPr>
            <a:spLocks noGrp="1" noChangeArrowheads="1"/>
          </p:cNvSpPr>
          <p:nvPr>
            <p:ph type="body" idx="1"/>
          </p:nvPr>
        </p:nvSpPr>
        <p:spPr bwMode="auto">
          <a:xfrm>
            <a:off x="609600" y="1440490"/>
            <a:ext cx="10972800" cy="4484788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vert="horz" wrap="square" lIns="91440" tIns="45720" rIns="91440" bIns="45720" numCol="1" anchor="t" anchorCtr="0" compatLnSpc="1"/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  <p:sp>
        <p:nvSpPr>
          <p:cNvPr id="1029" name="Rectangle 24"/>
          <p:cNvSpPr>
            <a:spLocks noGrp="1" noChangeArrowheads="1"/>
          </p:cNvSpPr>
          <p:nvPr>
            <p:ph type="title"/>
          </p:nvPr>
        </p:nvSpPr>
        <p:spPr bwMode="auto">
          <a:xfrm>
            <a:off x="609810" y="356659"/>
            <a:ext cx="9134596" cy="609600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vert="horz" wrap="square" lIns="91440" tIns="45720" rIns="91440" bIns="45720" numCol="1" anchor="ctr" anchorCtr="0" compatLnSpc="1"/>
          <a:lstStyle/>
          <a:p>
            <a:pPr lvl="0"/>
            <a:r>
              <a:rPr lang="zh-CN" altLang="en-US" dirty="0"/>
              <a:t>单击此处编辑母版标题样式</a:t>
            </a:r>
          </a:p>
        </p:txBody>
      </p:sp>
      <p:sp>
        <p:nvSpPr>
          <p:cNvPr id="13" name="矩形 12"/>
          <p:cNvSpPr/>
          <p:nvPr userDrawn="1"/>
        </p:nvSpPr>
        <p:spPr>
          <a:xfrm>
            <a:off x="5388537" y="6581052"/>
            <a:ext cx="1337226" cy="256545"/>
          </a:xfrm>
          <a:prstGeom prst="rect">
            <a:avLst/>
          </a:prstGeom>
        </p:spPr>
        <p:txBody>
          <a:bodyPr wrap="none" anchor="ctr" anchorCtr="1">
            <a:spAutoFit/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 altLang="zh-CN" sz="1067" b="1" dirty="0">
                <a:solidFill>
                  <a:srgbClr val="262626">
                    <a:lumMod val="50000"/>
                    <a:lumOff val="50000"/>
                  </a:srgb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Confidential </a:t>
            </a:r>
            <a:r>
              <a:rPr lang="zh-CN" altLang="en-US" sz="1067" b="1" dirty="0">
                <a:solidFill>
                  <a:srgbClr val="262626">
                    <a:lumMod val="50000"/>
                    <a:lumOff val="50000"/>
                  </a:srgb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秘密</a:t>
            </a:r>
          </a:p>
        </p:txBody>
      </p:sp>
      <p:sp>
        <p:nvSpPr>
          <p:cNvPr id="28" name="矩形 27"/>
          <p:cNvSpPr/>
          <p:nvPr userDrawn="1"/>
        </p:nvSpPr>
        <p:spPr>
          <a:xfrm>
            <a:off x="9255582" y="6547830"/>
            <a:ext cx="2249783" cy="297454"/>
          </a:xfrm>
          <a:prstGeom prst="rect">
            <a:avLst/>
          </a:prstGeom>
        </p:spPr>
        <p:txBody>
          <a:bodyPr wrap="none" anchor="ctr" anchorCtr="1">
            <a:spAutoFit/>
          </a:bodyPr>
          <a:lstStyle>
            <a:defPPr>
              <a:defRPr lang="zh-CN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9pPr>
          </a:lstStyle>
          <a:p>
            <a:r>
              <a:rPr lang="en-US" altLang="zh-CN" sz="1333" dirty="0">
                <a:solidFill>
                  <a:srgbClr val="262626">
                    <a:lumMod val="65000"/>
                    <a:lumOff val="35000"/>
                  </a:srgb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www.cloundnineinfo.com</a:t>
            </a:r>
            <a:endParaRPr lang="zh-CN" altLang="en-US" sz="1333" dirty="0">
              <a:solidFill>
                <a:srgbClr val="262626">
                  <a:lumMod val="65000"/>
                  <a:lumOff val="35000"/>
                </a:srgb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9" name="文本框 26"/>
          <p:cNvSpPr txBox="1"/>
          <p:nvPr userDrawn="1"/>
        </p:nvSpPr>
        <p:spPr>
          <a:xfrm>
            <a:off x="11757051" y="6496216"/>
            <a:ext cx="394660" cy="2974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zh-CN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9pPr>
          </a:lstStyle>
          <a:p>
            <a:fld id="{A5BB97A9-7D72-4F8F-8BC5-4E547C3F4DC5}" type="slidenum">
              <a:rPr lang="en-GB" altLang="zh-CN" sz="1333" smtClean="0">
                <a:solidFill>
                  <a:srgbClr val="262626"/>
                </a:solidFill>
              </a:rPr>
              <a:pPr/>
              <a:t>‹#›</a:t>
            </a:fld>
            <a:endParaRPr lang="en-GB" altLang="zh-CN" sz="1333" dirty="0">
              <a:solidFill>
                <a:srgbClr val="262626"/>
              </a:solidFill>
            </a:endParaRPr>
          </a:p>
        </p:txBody>
      </p:sp>
      <p:pic>
        <p:nvPicPr>
          <p:cNvPr id="9" name="图片 8"/>
          <p:cNvPicPr>
            <a:picLocks noChangeAspect="1"/>
          </p:cNvPicPr>
          <p:nvPr userDrawn="1"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21607" y="316415"/>
            <a:ext cx="1243012" cy="690087"/>
          </a:xfrm>
          <a:prstGeom prst="rect">
            <a:avLst/>
          </a:prstGeom>
        </p:spPr>
      </p:pic>
      <p:sp>
        <p:nvSpPr>
          <p:cNvPr id="3" name="矩形 2"/>
          <p:cNvSpPr/>
          <p:nvPr userDrawn="1"/>
        </p:nvSpPr>
        <p:spPr>
          <a:xfrm>
            <a:off x="-4235" y="6523470"/>
            <a:ext cx="339595" cy="329484"/>
          </a:xfrm>
          <a:prstGeom prst="rect">
            <a:avLst/>
          </a:prstGeom>
          <a:solidFill>
            <a:srgbClr val="19589F"/>
          </a:solidFill>
          <a:ln w="12700" cap="flat" cmpd="sng" algn="ctr">
            <a:noFill/>
            <a:prstDash val="dash"/>
          </a:ln>
        </p:spPr>
        <p:txBody>
          <a:bodyPr rtlCol="0" anchor="ctr"/>
          <a:lstStyle/>
          <a:p>
            <a:pPr algn="ctr"/>
            <a:endParaRPr lang="zh-CN" altLang="en-US" sz="1867" b="1" kern="0">
              <a:solidFill>
                <a:srgbClr val="262626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2" name="矩形 11"/>
          <p:cNvSpPr/>
          <p:nvPr userDrawn="1"/>
        </p:nvSpPr>
        <p:spPr>
          <a:xfrm>
            <a:off x="11760629" y="6789374"/>
            <a:ext cx="394059" cy="62335"/>
          </a:xfrm>
          <a:prstGeom prst="rect">
            <a:avLst/>
          </a:prstGeom>
          <a:solidFill>
            <a:srgbClr val="19589F"/>
          </a:solidFill>
          <a:ln w="12700" cap="flat" cmpd="sng" algn="ctr">
            <a:noFill/>
            <a:prstDash val="dash"/>
          </a:ln>
        </p:spPr>
        <p:txBody>
          <a:bodyPr rtlCol="0" anchor="ctr"/>
          <a:lstStyle/>
          <a:p>
            <a:pPr algn="ctr"/>
            <a:endParaRPr lang="zh-CN" altLang="en-US" sz="1867" b="1" kern="0">
              <a:solidFill>
                <a:srgbClr val="262626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411469199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3" r:id="rId1"/>
    <p:sldLayoutId id="2147483664" r:id="rId2"/>
    <p:sldLayoutId id="2147483665" r:id="rId3"/>
    <p:sldLayoutId id="2147483666" r:id="rId4"/>
    <p:sldLayoutId id="2147483668" r:id="rId5"/>
  </p:sldLayoutIdLst>
  <p:transition/>
  <p:hf hdr="0" ftr="0" dt="0"/>
  <p:txStyles>
    <p:titleStyle>
      <a:lvl1pPr algn="l" rtl="0" eaLnBrk="1" fontAlgn="base" hangingPunct="1">
        <a:spcBef>
          <a:spcPct val="0"/>
        </a:spcBef>
        <a:spcAft>
          <a:spcPct val="0"/>
        </a:spcAft>
        <a:defRPr sz="2667" b="1">
          <a:solidFill>
            <a:schemeClr val="tx1">
              <a:lumMod val="85000"/>
              <a:lumOff val="15000"/>
            </a:schemeClr>
          </a:solidFill>
          <a:latin typeface="微软雅黑" panose="020B0503020204020204" pitchFamily="34" charset="-122"/>
          <a:ea typeface="微软雅黑" panose="020B0503020204020204" pitchFamily="34" charset="-122"/>
          <a:cs typeface="+mj-cs"/>
        </a:defRPr>
      </a:lvl1pPr>
      <a:lvl2pPr algn="l" rtl="0" eaLnBrk="1" fontAlgn="base" hangingPunct="1">
        <a:spcBef>
          <a:spcPct val="0"/>
        </a:spcBef>
        <a:spcAft>
          <a:spcPct val="0"/>
        </a:spcAft>
        <a:defRPr sz="4267" b="1">
          <a:solidFill>
            <a:srgbClr val="CC0000"/>
          </a:solidFill>
          <a:latin typeface="Arial" panose="020B0604020202020204" pitchFamily="34" charset="0"/>
          <a:ea typeface="华文细黑" panose="02010600040101010101" pitchFamily="2" charset="-122"/>
        </a:defRPr>
      </a:lvl2pPr>
      <a:lvl3pPr algn="l" rtl="0" eaLnBrk="1" fontAlgn="base" hangingPunct="1">
        <a:spcBef>
          <a:spcPct val="0"/>
        </a:spcBef>
        <a:spcAft>
          <a:spcPct val="0"/>
        </a:spcAft>
        <a:defRPr sz="4267" b="1">
          <a:solidFill>
            <a:srgbClr val="CC0000"/>
          </a:solidFill>
          <a:latin typeface="Arial" panose="020B0604020202020204" pitchFamily="34" charset="0"/>
          <a:ea typeface="华文细黑" panose="02010600040101010101" pitchFamily="2" charset="-122"/>
        </a:defRPr>
      </a:lvl3pPr>
      <a:lvl4pPr algn="l" rtl="0" eaLnBrk="1" fontAlgn="base" hangingPunct="1">
        <a:spcBef>
          <a:spcPct val="0"/>
        </a:spcBef>
        <a:spcAft>
          <a:spcPct val="0"/>
        </a:spcAft>
        <a:defRPr sz="4267" b="1">
          <a:solidFill>
            <a:srgbClr val="CC0000"/>
          </a:solidFill>
          <a:latin typeface="Arial" panose="020B0604020202020204" pitchFamily="34" charset="0"/>
          <a:ea typeface="华文细黑" panose="02010600040101010101" pitchFamily="2" charset="-122"/>
        </a:defRPr>
      </a:lvl4pPr>
      <a:lvl5pPr algn="l" rtl="0" eaLnBrk="1" fontAlgn="base" hangingPunct="1">
        <a:spcBef>
          <a:spcPct val="0"/>
        </a:spcBef>
        <a:spcAft>
          <a:spcPct val="0"/>
        </a:spcAft>
        <a:defRPr sz="4267" b="1">
          <a:solidFill>
            <a:srgbClr val="CC0000"/>
          </a:solidFill>
          <a:latin typeface="Arial" panose="020B0604020202020204" pitchFamily="34" charset="0"/>
          <a:ea typeface="华文细黑" panose="02010600040101010101" pitchFamily="2" charset="-122"/>
        </a:defRPr>
      </a:lvl5pPr>
      <a:lvl6pPr marL="609585" algn="l" rtl="0" eaLnBrk="1" fontAlgn="base" hangingPunct="1">
        <a:spcBef>
          <a:spcPct val="0"/>
        </a:spcBef>
        <a:spcAft>
          <a:spcPct val="0"/>
        </a:spcAft>
        <a:defRPr sz="4267" b="1">
          <a:solidFill>
            <a:srgbClr val="CC0000"/>
          </a:solidFill>
          <a:latin typeface="Arial" panose="020B0604020202020204" pitchFamily="34" charset="0"/>
          <a:ea typeface="华文细黑" panose="02010600040101010101" pitchFamily="2" charset="-122"/>
        </a:defRPr>
      </a:lvl6pPr>
      <a:lvl7pPr marL="1219170" algn="l" rtl="0" eaLnBrk="1" fontAlgn="base" hangingPunct="1">
        <a:spcBef>
          <a:spcPct val="0"/>
        </a:spcBef>
        <a:spcAft>
          <a:spcPct val="0"/>
        </a:spcAft>
        <a:defRPr sz="4267" b="1">
          <a:solidFill>
            <a:srgbClr val="CC0000"/>
          </a:solidFill>
          <a:latin typeface="Arial" panose="020B0604020202020204" pitchFamily="34" charset="0"/>
          <a:ea typeface="华文细黑" panose="02010600040101010101" pitchFamily="2" charset="-122"/>
        </a:defRPr>
      </a:lvl7pPr>
      <a:lvl8pPr marL="1828754" algn="l" rtl="0" eaLnBrk="1" fontAlgn="base" hangingPunct="1">
        <a:spcBef>
          <a:spcPct val="0"/>
        </a:spcBef>
        <a:spcAft>
          <a:spcPct val="0"/>
        </a:spcAft>
        <a:defRPr sz="4267" b="1">
          <a:solidFill>
            <a:srgbClr val="CC0000"/>
          </a:solidFill>
          <a:latin typeface="Arial" panose="020B0604020202020204" pitchFamily="34" charset="0"/>
          <a:ea typeface="华文细黑" panose="02010600040101010101" pitchFamily="2" charset="-122"/>
        </a:defRPr>
      </a:lvl8pPr>
      <a:lvl9pPr marL="2438339" algn="l" rtl="0" eaLnBrk="1" fontAlgn="base" hangingPunct="1">
        <a:spcBef>
          <a:spcPct val="0"/>
        </a:spcBef>
        <a:spcAft>
          <a:spcPct val="0"/>
        </a:spcAft>
        <a:defRPr sz="4267" b="1">
          <a:solidFill>
            <a:srgbClr val="CC0000"/>
          </a:solidFill>
          <a:latin typeface="Arial" panose="020B0604020202020204" pitchFamily="34" charset="0"/>
          <a:ea typeface="华文细黑" panose="02010600040101010101" pitchFamily="2" charset="-122"/>
        </a:defRPr>
      </a:lvl9pPr>
    </p:titleStyle>
    <p:bodyStyle>
      <a:lvl1pPr marL="457189" indent="-457189" algn="l" rtl="0" eaLnBrk="1" fontAlgn="base" hangingPunct="1">
        <a:lnSpc>
          <a:spcPct val="150000"/>
        </a:lnSpc>
        <a:spcBef>
          <a:spcPct val="0"/>
        </a:spcBef>
        <a:spcAft>
          <a:spcPct val="0"/>
        </a:spcAft>
        <a:defRPr sz="2400" b="0">
          <a:solidFill>
            <a:schemeClr val="tx1">
              <a:lumMod val="85000"/>
              <a:lumOff val="15000"/>
            </a:schemeClr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1pPr>
      <a:lvl2pPr marL="990575" indent="-380990" algn="l" rtl="0" eaLnBrk="1" fontAlgn="base" hangingPunct="1">
        <a:lnSpc>
          <a:spcPct val="120000"/>
        </a:lnSpc>
        <a:spcBef>
          <a:spcPct val="50000"/>
        </a:spcBef>
        <a:spcAft>
          <a:spcPct val="0"/>
        </a:spcAft>
        <a:defRPr sz="2133">
          <a:solidFill>
            <a:schemeClr val="tx1">
              <a:lumMod val="85000"/>
              <a:lumOff val="15000"/>
            </a:schemeClr>
          </a:solidFill>
          <a:latin typeface="微软雅黑" panose="020B0503020204020204" pitchFamily="34" charset="-122"/>
          <a:ea typeface="微软雅黑" panose="020B0503020204020204" pitchFamily="34" charset="-122"/>
        </a:defRPr>
      </a:lvl2pPr>
      <a:lvl3pPr marL="1523962" indent="-304792" algn="l" rtl="0" eaLnBrk="1" fontAlgn="base" hangingPunct="1">
        <a:lnSpc>
          <a:spcPct val="120000"/>
        </a:lnSpc>
        <a:spcBef>
          <a:spcPct val="50000"/>
        </a:spcBef>
        <a:spcAft>
          <a:spcPct val="0"/>
        </a:spcAft>
        <a:defRPr sz="1867">
          <a:solidFill>
            <a:schemeClr val="tx1">
              <a:lumMod val="85000"/>
              <a:lumOff val="15000"/>
            </a:schemeClr>
          </a:solidFill>
          <a:latin typeface="微软雅黑" panose="020B0503020204020204" pitchFamily="34" charset="-122"/>
          <a:ea typeface="微软雅黑" panose="020B0503020204020204" pitchFamily="34" charset="-122"/>
        </a:defRPr>
      </a:lvl3pPr>
      <a:lvl4pPr marL="2133547" indent="-304792" algn="l" rtl="0" eaLnBrk="1" fontAlgn="base" hangingPunct="1">
        <a:lnSpc>
          <a:spcPct val="120000"/>
        </a:lnSpc>
        <a:spcBef>
          <a:spcPct val="50000"/>
        </a:spcBef>
        <a:spcAft>
          <a:spcPct val="0"/>
        </a:spcAft>
        <a:defRPr sz="1600">
          <a:solidFill>
            <a:schemeClr val="tx1">
              <a:lumMod val="85000"/>
              <a:lumOff val="15000"/>
            </a:schemeClr>
          </a:solidFill>
          <a:latin typeface="微软雅黑" panose="020B0503020204020204" pitchFamily="34" charset="-122"/>
          <a:ea typeface="微软雅黑" panose="020B0503020204020204" pitchFamily="34" charset="-122"/>
        </a:defRPr>
      </a:lvl4pPr>
      <a:lvl5pPr marL="2743131" indent="-304792" algn="l" rtl="0" eaLnBrk="1" fontAlgn="base" hangingPunct="1">
        <a:lnSpc>
          <a:spcPct val="120000"/>
        </a:lnSpc>
        <a:spcBef>
          <a:spcPct val="20000"/>
        </a:spcBef>
        <a:spcAft>
          <a:spcPct val="0"/>
        </a:spcAft>
        <a:defRPr sz="1467">
          <a:solidFill>
            <a:schemeClr val="tx1">
              <a:lumMod val="85000"/>
              <a:lumOff val="15000"/>
            </a:schemeClr>
          </a:solidFill>
          <a:latin typeface="微软雅黑" panose="020B0503020204020204" pitchFamily="34" charset="-122"/>
          <a:ea typeface="微软雅黑" panose="020B0503020204020204" pitchFamily="34" charset="-122"/>
        </a:defRPr>
      </a:lvl5pPr>
      <a:lvl6pPr marL="3352716" indent="-304792" algn="l" rtl="0" eaLnBrk="1" fontAlgn="base" hangingPunct="1">
        <a:lnSpc>
          <a:spcPct val="120000"/>
        </a:lnSpc>
        <a:spcBef>
          <a:spcPct val="20000"/>
        </a:spcBef>
        <a:spcAft>
          <a:spcPct val="0"/>
        </a:spcAft>
        <a:defRPr sz="1600">
          <a:solidFill>
            <a:schemeClr val="tx1"/>
          </a:solidFill>
          <a:latin typeface="+mj-lt"/>
          <a:ea typeface="+mn-ea"/>
        </a:defRPr>
      </a:lvl6pPr>
      <a:lvl7pPr marL="3962301" indent="-304792" algn="l" rtl="0" eaLnBrk="1" fontAlgn="base" hangingPunct="1">
        <a:lnSpc>
          <a:spcPct val="120000"/>
        </a:lnSpc>
        <a:spcBef>
          <a:spcPct val="20000"/>
        </a:spcBef>
        <a:spcAft>
          <a:spcPct val="0"/>
        </a:spcAft>
        <a:defRPr sz="1600">
          <a:solidFill>
            <a:schemeClr val="tx1"/>
          </a:solidFill>
          <a:latin typeface="+mj-lt"/>
          <a:ea typeface="+mn-ea"/>
        </a:defRPr>
      </a:lvl7pPr>
      <a:lvl8pPr marL="4571886" indent="-304792" algn="l" rtl="0" eaLnBrk="1" fontAlgn="base" hangingPunct="1">
        <a:lnSpc>
          <a:spcPct val="120000"/>
        </a:lnSpc>
        <a:spcBef>
          <a:spcPct val="20000"/>
        </a:spcBef>
        <a:spcAft>
          <a:spcPct val="0"/>
        </a:spcAft>
        <a:defRPr sz="1600">
          <a:solidFill>
            <a:schemeClr val="tx1"/>
          </a:solidFill>
          <a:latin typeface="+mj-lt"/>
          <a:ea typeface="+mn-ea"/>
        </a:defRPr>
      </a:lvl8pPr>
      <a:lvl9pPr marL="5181470" indent="-304792" algn="l" rtl="0" eaLnBrk="1" fontAlgn="base" hangingPunct="1">
        <a:lnSpc>
          <a:spcPct val="120000"/>
        </a:lnSpc>
        <a:spcBef>
          <a:spcPct val="20000"/>
        </a:spcBef>
        <a:spcAft>
          <a:spcPct val="0"/>
        </a:spcAft>
        <a:defRPr sz="1600">
          <a:solidFill>
            <a:schemeClr val="tx1"/>
          </a:solidFill>
          <a:latin typeface="+mj-lt"/>
          <a:ea typeface="+mn-ea"/>
        </a:defRPr>
      </a:lvl9pPr>
    </p:bodyStyle>
    <p:otherStyle>
      <a:defPPr>
        <a:defRPr lang="zh-CN"/>
      </a:defPPr>
      <a:lvl1pPr marL="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85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7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5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33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92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50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093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678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emf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emf"/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emf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 dirty="0"/>
          </a:p>
        </p:txBody>
      </p:sp>
      <p:pic>
        <p:nvPicPr>
          <p:cNvPr id="4" name="图片 3" descr="VCG21gic15681475.jpg"/>
          <p:cNvPicPr>
            <a:picLocks noChangeAspect="1"/>
          </p:cNvPicPr>
          <p:nvPr/>
        </p:nvPicPr>
        <p:blipFill rotWithShape="1">
          <a:blip r:embed="rId2" cstate="print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-1" y="0"/>
            <a:ext cx="12180009" cy="6858000"/>
          </a:xfrm>
          <a:prstGeom prst="rect">
            <a:avLst/>
          </a:prstGeom>
        </p:spPr>
      </p:pic>
      <p:sp>
        <p:nvSpPr>
          <p:cNvPr id="5" name="Rectangle 15"/>
          <p:cNvSpPr>
            <a:spLocks noChangeArrowheads="1"/>
          </p:cNvSpPr>
          <p:nvPr/>
        </p:nvSpPr>
        <p:spPr bwMode="auto">
          <a:xfrm>
            <a:off x="1441622" y="3621022"/>
            <a:ext cx="10750377" cy="1344181"/>
          </a:xfrm>
          <a:prstGeom prst="rect">
            <a:avLst/>
          </a:prstGeom>
          <a:solidFill>
            <a:srgbClr val="C00000">
              <a:alpha val="72000"/>
            </a:srgbClr>
          </a:solidFill>
          <a:ln>
            <a:noFill/>
          </a:ln>
        </p:spPr>
        <p:txBody>
          <a:bodyPr vert="horz" wrap="square" lIns="121920" tIns="60960" rIns="121920" bIns="60960" numCol="1" anchor="ctr" anchorCtr="1" compatLnSpc="1">
            <a:prstTxWarp prst="textNoShape">
              <a:avLst/>
            </a:prstTxWarp>
          </a:bodyPr>
          <a:lstStyle/>
          <a:p>
            <a:endParaRPr lang="zh-CN" altLang="en-US" sz="16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1518851" y="3507867"/>
            <a:ext cx="10349299" cy="20366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32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定制化产品线</a:t>
            </a:r>
            <a:r>
              <a:rPr lang="en-US" altLang="zh-CN" sz="32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-</a:t>
            </a:r>
            <a:r>
              <a:rPr lang="zh-CN" altLang="en-US" sz="32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计算产品开发部</a:t>
            </a:r>
            <a:r>
              <a:rPr lang="en-US" altLang="zh-CN" sz="32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-</a:t>
            </a:r>
            <a:r>
              <a:rPr lang="zh-CN" altLang="en-US" sz="32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转正答辩</a:t>
            </a:r>
            <a:endParaRPr lang="en-US" altLang="zh-CN" sz="3200" b="1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r">
              <a:lnSpc>
                <a:spcPct val="150000"/>
              </a:lnSpc>
            </a:pPr>
            <a:r>
              <a:rPr lang="zh-CN" altLang="en-US" sz="24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  祝明杰</a:t>
            </a:r>
            <a:r>
              <a:rPr lang="en-US" altLang="zh-CN" sz="24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-2026/01/20</a:t>
            </a:r>
          </a:p>
          <a:p>
            <a:pPr>
              <a:lnSpc>
                <a:spcPct val="150000"/>
              </a:lnSpc>
            </a:pPr>
            <a:r>
              <a:rPr lang="en-US" altLang="zh-CN" sz="32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							</a:t>
            </a:r>
            <a:endParaRPr lang="en-US" altLang="zh-CN" sz="2000" b="1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" name="Rectangle 15"/>
          <p:cNvSpPr>
            <a:spLocks noChangeArrowheads="1"/>
          </p:cNvSpPr>
          <p:nvPr/>
        </p:nvSpPr>
        <p:spPr bwMode="auto">
          <a:xfrm>
            <a:off x="1292519" y="3620697"/>
            <a:ext cx="60959" cy="1344000"/>
          </a:xfrm>
          <a:prstGeom prst="rect">
            <a:avLst/>
          </a:prstGeom>
          <a:solidFill>
            <a:srgbClr val="C00000">
              <a:alpha val="73000"/>
            </a:srgbClr>
          </a:solidFill>
          <a:ln>
            <a:noFill/>
          </a:ln>
        </p:spPr>
        <p:txBody>
          <a:bodyPr vert="horz" wrap="square" lIns="121920" tIns="60960" rIns="121920" bIns="60960" numCol="1" anchor="ctr" anchorCtr="1" compatLnSpc="1">
            <a:prstTxWarp prst="textNoShape">
              <a:avLst/>
            </a:prstTxWarp>
          </a:bodyPr>
          <a:lstStyle/>
          <a:p>
            <a:endParaRPr lang="zh-CN" altLang="en-US" sz="16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21779379"/>
      </p:ext>
    </p:extLst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矩形 13"/>
          <p:cNvSpPr/>
          <p:nvPr/>
        </p:nvSpPr>
        <p:spPr>
          <a:xfrm>
            <a:off x="4430887" y="1388986"/>
            <a:ext cx="1210588" cy="61459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lnSpc>
                <a:spcPct val="200000"/>
              </a:lnSpc>
            </a:pPr>
            <a:r>
              <a:rPr lang="zh-CN" altLang="en-US" sz="2000" b="1" dirty="0">
                <a:solidFill>
                  <a:srgbClr val="4371C8"/>
                </a:solidFill>
              </a:rPr>
              <a:t>个人介绍</a:t>
            </a:r>
            <a:endParaRPr lang="en-US" altLang="zh-CN" sz="2000" b="1" dirty="0">
              <a:solidFill>
                <a:srgbClr val="4371C8"/>
              </a:solidFill>
            </a:endParaRPr>
          </a:p>
        </p:txBody>
      </p:sp>
      <p:sp>
        <p:nvSpPr>
          <p:cNvPr id="17" name="矩形 16"/>
          <p:cNvSpPr/>
          <p:nvPr/>
        </p:nvSpPr>
        <p:spPr>
          <a:xfrm>
            <a:off x="4430887" y="2206732"/>
            <a:ext cx="1292341" cy="61459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lnSpc>
                <a:spcPct val="200000"/>
              </a:lnSpc>
            </a:pPr>
            <a:r>
              <a:rPr lang="zh-CN" altLang="en-US" sz="2000" b="1" dirty="0">
                <a:solidFill>
                  <a:srgbClr val="2F66C2"/>
                </a:solidFill>
              </a:rPr>
              <a:t>工作内容 </a:t>
            </a:r>
            <a:endParaRPr lang="en-US" altLang="zh-CN" sz="2000" b="1" dirty="0">
              <a:solidFill>
                <a:srgbClr val="2F66C2"/>
              </a:solidFill>
            </a:endParaRPr>
          </a:p>
        </p:txBody>
      </p:sp>
      <p:sp>
        <p:nvSpPr>
          <p:cNvPr id="19" name="矩形 18"/>
          <p:cNvSpPr/>
          <p:nvPr/>
        </p:nvSpPr>
        <p:spPr>
          <a:xfrm>
            <a:off x="4430887" y="3093512"/>
            <a:ext cx="1210588" cy="61459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lnSpc>
                <a:spcPct val="200000"/>
              </a:lnSpc>
            </a:pPr>
            <a:r>
              <a:rPr lang="zh-CN" altLang="en-US" sz="2000" b="1" dirty="0">
                <a:solidFill>
                  <a:srgbClr val="2F66C2"/>
                </a:solidFill>
              </a:rPr>
              <a:t>未来规划</a:t>
            </a:r>
            <a:endParaRPr lang="en-US" altLang="zh-CN" sz="2000" b="1" dirty="0">
              <a:solidFill>
                <a:srgbClr val="2F66C2"/>
              </a:solidFill>
            </a:endParaRPr>
          </a:p>
        </p:txBody>
      </p:sp>
      <p:pic>
        <p:nvPicPr>
          <p:cNvPr id="22" name="图片 21"/>
          <p:cNvPicPr>
            <a:picLocks noChangeAspect="1"/>
          </p:cNvPicPr>
          <p:nvPr/>
        </p:nvPicPr>
        <p:blipFill rotWithShape="1">
          <a:blip r:embed="rId2"/>
          <a:srcRect l="20130" t="11098" r="11745" b="11474"/>
          <a:stretch/>
        </p:blipFill>
        <p:spPr>
          <a:xfrm>
            <a:off x="1619250" y="1519455"/>
            <a:ext cx="1628775" cy="1871359"/>
          </a:xfrm>
          <a:prstGeom prst="rect">
            <a:avLst/>
          </a:prstGeom>
        </p:spPr>
      </p:pic>
      <p:pic>
        <p:nvPicPr>
          <p:cNvPr id="23" name="图片 22"/>
          <p:cNvPicPr>
            <a:picLocks noChangeAspect="1"/>
          </p:cNvPicPr>
          <p:nvPr/>
        </p:nvPicPr>
        <p:blipFill rotWithShape="1">
          <a:blip r:embed="rId3"/>
          <a:srcRect l="13631" t="10525" r="15906" b="14465"/>
          <a:stretch/>
        </p:blipFill>
        <p:spPr>
          <a:xfrm>
            <a:off x="3850403" y="1623296"/>
            <a:ext cx="377056" cy="364892"/>
          </a:xfrm>
          <a:prstGeom prst="rect">
            <a:avLst/>
          </a:prstGeom>
        </p:spPr>
      </p:pic>
      <p:pic>
        <p:nvPicPr>
          <p:cNvPr id="24" name="图片 2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50403" y="2430587"/>
            <a:ext cx="377056" cy="377056"/>
          </a:xfrm>
          <a:prstGeom prst="rect">
            <a:avLst/>
          </a:prstGeom>
        </p:spPr>
      </p:pic>
      <p:pic>
        <p:nvPicPr>
          <p:cNvPr id="25" name="图片 2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50403" y="3317053"/>
            <a:ext cx="377056" cy="3673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94544345"/>
      </p:ext>
    </p:extLst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1"/>
          <p:cNvSpPr txBox="1"/>
          <p:nvPr/>
        </p:nvSpPr>
        <p:spPr>
          <a:xfrm>
            <a:off x="4016149" y="2688026"/>
            <a:ext cx="4965629" cy="1564870"/>
          </a:xfrm>
          <a:prstGeom prst="rect">
            <a:avLst/>
          </a:prstGeom>
          <a:noFill/>
        </p:spPr>
        <p:txBody>
          <a:bodyPr wrap="none" lIns="86697" tIns="43348" rIns="86697" bIns="43348" rtlCol="0">
            <a:spAutoFit/>
          </a:bodyPr>
          <a:lstStyle>
            <a:defPPr>
              <a:defRPr lang="zh-CN"/>
            </a:defPPr>
            <a:lvl1pPr marL="0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2565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199765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6965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1218565">
              <a:defRPr/>
            </a:pPr>
            <a:r>
              <a:rPr lang="zh-CN" altLang="en-US" sz="1865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 </a:t>
            </a:r>
            <a:r>
              <a:rPr lang="zh-CN" altLang="en-US" sz="2665" b="1" dirty="0">
                <a:solidFill>
                  <a:srgbClr val="0070C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第</a:t>
            </a:r>
            <a:r>
              <a:rPr lang="en-US" altLang="zh-CN" sz="2665" b="1" dirty="0">
                <a:solidFill>
                  <a:srgbClr val="0070C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1</a:t>
            </a:r>
            <a:r>
              <a:rPr lang="zh-CN" altLang="en-US" sz="2665" b="1" dirty="0">
                <a:solidFill>
                  <a:srgbClr val="0070C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部分</a:t>
            </a:r>
            <a:r>
              <a:rPr lang="zh-CN" altLang="en-US" sz="4800" dirty="0">
                <a:solidFill>
                  <a:srgbClr val="0070C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   </a:t>
            </a:r>
            <a:r>
              <a:rPr lang="en-US" altLang="zh-CN" sz="4800" dirty="0">
                <a:solidFill>
                  <a:srgbClr val="0070C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	</a:t>
            </a:r>
          </a:p>
          <a:p>
            <a:pPr marL="0" lvl="1" algn="ctr" defTabSz="1218565">
              <a:defRPr/>
            </a:pPr>
            <a:r>
              <a:rPr lang="zh-CN" altLang="en-US" sz="4800" dirty="0">
                <a:solidFill>
                  <a:srgbClr val="0070C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          个人介绍</a:t>
            </a:r>
            <a:endParaRPr lang="en-US" altLang="zh-CN" sz="4800" dirty="0">
              <a:solidFill>
                <a:srgbClr val="0070C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cxnSp>
        <p:nvCxnSpPr>
          <p:cNvPr id="12" name="直接连接符 9"/>
          <p:cNvCxnSpPr/>
          <p:nvPr/>
        </p:nvCxnSpPr>
        <p:spPr>
          <a:xfrm flipV="1">
            <a:off x="3547868" y="2564905"/>
            <a:ext cx="0" cy="1893892"/>
          </a:xfrm>
          <a:prstGeom prst="line">
            <a:avLst/>
          </a:prstGeom>
          <a:noFill/>
          <a:ln w="12700" cap="flat" cmpd="sng" algn="ctr">
            <a:solidFill>
              <a:srgbClr val="E60012"/>
            </a:solidFill>
            <a:prstDash val="dash"/>
          </a:ln>
          <a:effectLst/>
        </p:spPr>
      </p:cxnSp>
      <p:sp>
        <p:nvSpPr>
          <p:cNvPr id="13" name="TextBox 13"/>
          <p:cNvSpPr txBox="1"/>
          <p:nvPr/>
        </p:nvSpPr>
        <p:spPr>
          <a:xfrm>
            <a:off x="1876156" y="4252896"/>
            <a:ext cx="1203432" cy="32823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zh-CN"/>
            </a:defPPr>
            <a:lvl1pPr marL="0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2565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199765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6965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1218565">
              <a:defRPr/>
            </a:pPr>
            <a:r>
              <a:rPr lang="en-US" altLang="zh-CN" sz="2135" dirty="0">
                <a:solidFill>
                  <a:srgbClr val="A0A0A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PART 01</a:t>
            </a:r>
            <a:endParaRPr lang="zh-CN" altLang="en-US" sz="2135" dirty="0">
              <a:solidFill>
                <a:srgbClr val="A0A0A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grpSp>
        <p:nvGrpSpPr>
          <p:cNvPr id="14" name="组合 25"/>
          <p:cNvGrpSpPr/>
          <p:nvPr/>
        </p:nvGrpSpPr>
        <p:grpSpPr>
          <a:xfrm>
            <a:off x="1679510" y="2652356"/>
            <a:ext cx="1400077" cy="1400155"/>
            <a:chOff x="304800" y="673100"/>
            <a:chExt cx="4000500" cy="4000500"/>
          </a:xfrm>
          <a:solidFill>
            <a:srgbClr val="E60012"/>
          </a:solidFill>
          <a:effectLst/>
        </p:grpSpPr>
        <p:sp>
          <p:nvSpPr>
            <p:cNvPr id="15" name="同心圆 14"/>
            <p:cNvSpPr/>
            <p:nvPr/>
          </p:nvSpPr>
          <p:spPr>
            <a:xfrm>
              <a:off x="304800" y="673100"/>
              <a:ext cx="4000500" cy="4000500"/>
            </a:xfrm>
            <a:prstGeom prst="donut">
              <a:avLst>
                <a:gd name="adj" fmla="val 4879"/>
              </a:avLst>
            </a:prstGeom>
            <a:grpFill/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>
              <a:defPPr>
                <a:defRPr lang="zh-CN"/>
              </a:defPPr>
              <a:lvl1pPr marL="0" algn="l" defTabSz="913765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3765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3765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3765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3765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3765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2565" algn="l" defTabSz="913765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199765" algn="l" defTabSz="913765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6965" algn="l" defTabSz="913765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 defTabSz="1218565">
                <a:defRPr/>
              </a:pPr>
              <a:endParaRPr lang="zh-CN" altLang="en-US" sz="2400">
                <a:solidFill>
                  <a:srgbClr val="08080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endParaRPr>
            </a:p>
          </p:txBody>
        </p:sp>
        <p:sp>
          <p:nvSpPr>
            <p:cNvPr id="16" name="椭圆 15"/>
            <p:cNvSpPr/>
            <p:nvPr/>
          </p:nvSpPr>
          <p:spPr>
            <a:xfrm>
              <a:off x="392112" y="760412"/>
              <a:ext cx="3825874" cy="3825874"/>
            </a:xfrm>
            <a:prstGeom prst="ellipse">
              <a:avLst/>
            </a:prstGeom>
            <a:grpFill/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>
              <a:defPPr>
                <a:defRPr lang="zh-CN"/>
              </a:defPPr>
              <a:lvl1pPr marL="0" algn="l" defTabSz="913765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3765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3765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3765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3765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3765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2565" algn="l" defTabSz="913765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199765" algn="l" defTabSz="913765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6965" algn="l" defTabSz="913765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 defTabSz="1218565">
                <a:defRPr/>
              </a:pPr>
              <a:endParaRPr lang="zh-CN" altLang="en-US" sz="2400">
                <a:solidFill>
                  <a:srgbClr val="08080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endParaRPr>
            </a:p>
          </p:txBody>
        </p:sp>
      </p:grpSp>
      <p:sp>
        <p:nvSpPr>
          <p:cNvPr id="17" name="TextBox 13"/>
          <p:cNvSpPr txBox="1"/>
          <p:nvPr/>
        </p:nvSpPr>
        <p:spPr>
          <a:xfrm>
            <a:off x="1648952" y="2983101"/>
            <a:ext cx="1203432" cy="73866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zh-CN"/>
            </a:defPPr>
            <a:lvl1pPr marL="0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2565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199765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6965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1218565">
              <a:defRPr/>
            </a:pPr>
            <a:r>
              <a:rPr lang="zh-CN" altLang="zh-CN" sz="4800" b="1" dirty="0">
                <a:solidFill>
                  <a:sysClr val="window" lastClr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 </a:t>
            </a:r>
            <a:r>
              <a:rPr lang="zh-CN" altLang="en-US" sz="4800" b="1" dirty="0">
                <a:solidFill>
                  <a:sysClr val="window" lastClr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  </a:t>
            </a:r>
            <a:r>
              <a:rPr lang="en-US" altLang="zh-CN" sz="4800" b="1" dirty="0">
                <a:solidFill>
                  <a:sysClr val="window" lastClr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1</a:t>
            </a:r>
            <a:endParaRPr lang="zh-CN" altLang="en-US" sz="4800" b="1" dirty="0">
              <a:solidFill>
                <a:sysClr val="window" lastClr="FFFFFF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967333988"/>
      </p:ext>
    </p:extLst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标题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auto">
              <a:lnSpc>
                <a:spcPct val="90000"/>
              </a:lnSpc>
              <a:spcAft>
                <a:spcPts val="0"/>
              </a:spcAft>
              <a:defRPr/>
            </a:pPr>
            <a:r>
              <a:rPr lang="zh-CN" altLang="en-US" sz="2400" kern="1200" dirty="0">
                <a:solidFill>
                  <a:prstClr val="black"/>
                </a:solidFill>
                <a:latin typeface="微软雅黑"/>
                <a:ea typeface="微软雅黑"/>
              </a:rPr>
              <a:t>个人介绍</a:t>
            </a:r>
          </a:p>
        </p:txBody>
      </p:sp>
      <p:sp>
        <p:nvSpPr>
          <p:cNvPr id="2" name="内容占位符 1"/>
          <p:cNvSpPr>
            <a:spLocks noGrp="1"/>
          </p:cNvSpPr>
          <p:nvPr>
            <p:ph idx="1"/>
          </p:nvPr>
        </p:nvSpPr>
        <p:spPr>
          <a:xfrm>
            <a:off x="609810" y="1221829"/>
            <a:ext cx="11118364" cy="4484788"/>
          </a:xfrm>
        </p:spPr>
        <p:txBody>
          <a:bodyPr/>
          <a:lstStyle/>
          <a:p>
            <a:r>
              <a:rPr lang="zh-CN" altLang="en-US" sz="1600" kern="1200" dirty="0">
                <a:solidFill>
                  <a:prstClr val="black"/>
                </a:solidFill>
              </a:rPr>
              <a:t>姓名：祝明杰		</a:t>
            </a:r>
          </a:p>
          <a:p>
            <a:r>
              <a:rPr lang="zh-CN" altLang="en-US" sz="1600" kern="1200" dirty="0">
                <a:solidFill>
                  <a:prstClr val="black"/>
                </a:solidFill>
              </a:rPr>
              <a:t>工号：</a:t>
            </a:r>
            <a:r>
              <a:rPr lang="en-US" altLang="zh-CN" sz="1600" kern="1200" dirty="0">
                <a:solidFill>
                  <a:prstClr val="black"/>
                </a:solidFill>
              </a:rPr>
              <a:t>02665</a:t>
            </a:r>
          </a:p>
          <a:p>
            <a:r>
              <a:rPr lang="zh-CN" altLang="en-US" sz="1600" kern="1200" dirty="0">
                <a:solidFill>
                  <a:prstClr val="black"/>
                </a:solidFill>
              </a:rPr>
              <a:t>入职时间：</a:t>
            </a:r>
            <a:r>
              <a:rPr lang="en-US" altLang="zh-CN" sz="1600" kern="1200" dirty="0" smtClean="0">
                <a:solidFill>
                  <a:prstClr val="black"/>
                </a:solidFill>
              </a:rPr>
              <a:t>2025/10/17</a:t>
            </a:r>
            <a:endParaRPr lang="en-US" altLang="zh-CN" sz="1600" kern="1200" dirty="0">
              <a:solidFill>
                <a:prstClr val="black"/>
              </a:solidFill>
            </a:endParaRPr>
          </a:p>
          <a:p>
            <a:r>
              <a:rPr lang="zh-CN" altLang="en-US" sz="1600" kern="1200" dirty="0">
                <a:solidFill>
                  <a:prstClr val="black"/>
                </a:solidFill>
              </a:rPr>
              <a:t>入职部门：定制化产品线</a:t>
            </a:r>
            <a:r>
              <a:rPr lang="en-US" altLang="zh-CN" sz="1600" kern="1200" dirty="0">
                <a:solidFill>
                  <a:prstClr val="black"/>
                </a:solidFill>
              </a:rPr>
              <a:t>/</a:t>
            </a:r>
            <a:r>
              <a:rPr lang="zh-CN" altLang="en-US" sz="1600" kern="1200" dirty="0">
                <a:solidFill>
                  <a:prstClr val="black"/>
                </a:solidFill>
              </a:rPr>
              <a:t>计算产品开发部</a:t>
            </a:r>
          </a:p>
        </p:txBody>
      </p:sp>
      <p:sp>
        <p:nvSpPr>
          <p:cNvPr id="4" name="文本框 3"/>
          <p:cNvSpPr txBox="1"/>
          <p:nvPr/>
        </p:nvSpPr>
        <p:spPr>
          <a:xfrm>
            <a:off x="609810" y="2742852"/>
            <a:ext cx="11118364" cy="2264851"/>
          </a:xfrm>
          <a:prstGeom prst="rect">
            <a:avLst/>
          </a:prstGeom>
          <a:noFill/>
          <a:ln w="3175"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pPr marL="457189" indent="-457189" fontAlgn="base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n"/>
            </a:pPr>
            <a:r>
              <a:rPr lang="zh-CN" altLang="en-US" sz="16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个人优势</a:t>
            </a:r>
            <a:endParaRPr lang="en-US" altLang="zh-CN" sz="1600" dirty="0">
              <a:solidFill>
                <a:prstClr val="black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914389" lvl="1" indent="-457189" fontAlgn="base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l"/>
            </a:pPr>
            <a:r>
              <a:rPr lang="zh-CN" altLang="en-US" sz="16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工作认真，勤奋努力，敢于尝试，认真请教同事</a:t>
            </a:r>
            <a:endParaRPr lang="en-US" altLang="zh-CN" sz="1600" dirty="0">
              <a:solidFill>
                <a:prstClr val="black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914389" lvl="1" indent="-457189" fontAlgn="base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l"/>
            </a:pPr>
            <a:r>
              <a:rPr lang="zh-CN" altLang="en-US" sz="16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沟通能力较好，遇见难题主动想办法解决</a:t>
            </a:r>
          </a:p>
          <a:p>
            <a:pPr marL="457189" indent="-457189" fontAlgn="base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n"/>
            </a:pPr>
            <a:r>
              <a:rPr lang="zh-CN" altLang="en-US" sz="16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个人劣势</a:t>
            </a:r>
            <a:endParaRPr lang="en-US" altLang="zh-CN" sz="1600" dirty="0">
              <a:solidFill>
                <a:prstClr val="black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914389" lvl="1" indent="-457189" fontAlgn="base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l"/>
            </a:pPr>
            <a:r>
              <a:rPr lang="zh-CN" altLang="en-US" sz="16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没有大型项目的</a:t>
            </a:r>
            <a:r>
              <a:rPr lang="zh-CN" altLang="en-US" sz="1600" b="1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逻辑架构设计经验</a:t>
            </a:r>
            <a:r>
              <a:rPr lang="zh-CN" altLang="en-US" sz="16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，逻辑开发经验不足</a:t>
            </a:r>
            <a:endParaRPr lang="en-US" altLang="zh-CN" sz="1600" dirty="0">
              <a:solidFill>
                <a:prstClr val="black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914389" lvl="1" indent="-457189" fontAlgn="base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l"/>
            </a:pPr>
            <a:r>
              <a:rPr lang="zh-CN" altLang="en-US" sz="16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没有高速接口的</a:t>
            </a:r>
            <a:r>
              <a:rPr lang="en-US" altLang="zh-CN" sz="16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IP</a:t>
            </a:r>
            <a:r>
              <a:rPr lang="zh-CN" altLang="en-US" sz="16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设计经验，且当前部门无相关逻辑公共模块和公共</a:t>
            </a:r>
            <a:r>
              <a:rPr lang="en-US" altLang="zh-CN" sz="16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IP</a:t>
            </a:r>
            <a:endParaRPr lang="zh-CN" altLang="en-US" sz="1600" dirty="0">
              <a:solidFill>
                <a:prstClr val="black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539882490"/>
      </p:ext>
    </p:extLst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1"/>
          <p:cNvSpPr txBox="1"/>
          <p:nvPr/>
        </p:nvSpPr>
        <p:spPr>
          <a:xfrm>
            <a:off x="3868103" y="2689526"/>
            <a:ext cx="3916497" cy="1564870"/>
          </a:xfrm>
          <a:prstGeom prst="rect">
            <a:avLst/>
          </a:prstGeom>
          <a:noFill/>
        </p:spPr>
        <p:txBody>
          <a:bodyPr wrap="none" lIns="86697" tIns="43348" rIns="86697" bIns="43348" rtlCol="0">
            <a:spAutoFit/>
          </a:bodyPr>
          <a:lstStyle>
            <a:defPPr>
              <a:defRPr lang="zh-CN"/>
            </a:defPPr>
            <a:lvl1pPr marL="0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2565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199765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6965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1218565">
              <a:defRPr/>
            </a:pPr>
            <a:r>
              <a:rPr lang="zh-CN" altLang="en-US" sz="1865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 </a:t>
            </a:r>
            <a:r>
              <a:rPr lang="zh-CN" altLang="en-US" sz="2665" b="1" dirty="0">
                <a:solidFill>
                  <a:srgbClr val="0070C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第</a:t>
            </a:r>
            <a:r>
              <a:rPr lang="en-US" altLang="zh-CN" sz="2665" b="1" dirty="0">
                <a:solidFill>
                  <a:srgbClr val="0070C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2</a:t>
            </a:r>
            <a:r>
              <a:rPr lang="zh-CN" altLang="en-US" sz="2665" b="1" dirty="0">
                <a:solidFill>
                  <a:srgbClr val="0070C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部分</a:t>
            </a:r>
            <a:r>
              <a:rPr lang="zh-CN" altLang="en-US" sz="4800" dirty="0">
                <a:solidFill>
                  <a:srgbClr val="0070C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   </a:t>
            </a:r>
            <a:r>
              <a:rPr lang="en-US" altLang="zh-CN" sz="4800" dirty="0">
                <a:solidFill>
                  <a:srgbClr val="0070C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	</a:t>
            </a:r>
          </a:p>
          <a:p>
            <a:pPr marL="0" lvl="1" algn="ctr" defTabSz="1218565">
              <a:defRPr/>
            </a:pPr>
            <a:r>
              <a:rPr lang="zh-CN" altLang="en-US" sz="4800" dirty="0">
                <a:solidFill>
                  <a:srgbClr val="0070C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       工作内容</a:t>
            </a:r>
          </a:p>
        </p:txBody>
      </p:sp>
      <p:cxnSp>
        <p:nvCxnSpPr>
          <p:cNvPr id="5" name="直接连接符 9"/>
          <p:cNvCxnSpPr/>
          <p:nvPr/>
        </p:nvCxnSpPr>
        <p:spPr>
          <a:xfrm flipV="1">
            <a:off x="3547868" y="2564905"/>
            <a:ext cx="0" cy="1893892"/>
          </a:xfrm>
          <a:prstGeom prst="line">
            <a:avLst/>
          </a:prstGeom>
          <a:noFill/>
          <a:ln w="12700" cap="flat" cmpd="sng" algn="ctr">
            <a:solidFill>
              <a:srgbClr val="E60012"/>
            </a:solidFill>
            <a:prstDash val="dash"/>
          </a:ln>
          <a:effectLst/>
        </p:spPr>
      </p:cxnSp>
      <p:sp>
        <p:nvSpPr>
          <p:cNvPr id="6" name="TextBox 13"/>
          <p:cNvSpPr txBox="1"/>
          <p:nvPr/>
        </p:nvSpPr>
        <p:spPr>
          <a:xfrm>
            <a:off x="1876156" y="4252896"/>
            <a:ext cx="1203432" cy="32823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zh-CN"/>
            </a:defPPr>
            <a:lvl1pPr marL="0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2565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199765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6965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1218565">
              <a:defRPr/>
            </a:pPr>
            <a:r>
              <a:rPr lang="en-US" altLang="zh-CN" sz="2135" dirty="0">
                <a:solidFill>
                  <a:srgbClr val="A0A0A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PART 02</a:t>
            </a:r>
            <a:endParaRPr lang="zh-CN" altLang="en-US" sz="2135" dirty="0">
              <a:solidFill>
                <a:srgbClr val="A0A0A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grpSp>
        <p:nvGrpSpPr>
          <p:cNvPr id="7" name="组合 25"/>
          <p:cNvGrpSpPr/>
          <p:nvPr/>
        </p:nvGrpSpPr>
        <p:grpSpPr>
          <a:xfrm>
            <a:off x="1679510" y="2652356"/>
            <a:ext cx="1400077" cy="1400155"/>
            <a:chOff x="304800" y="673100"/>
            <a:chExt cx="4000500" cy="4000500"/>
          </a:xfrm>
          <a:solidFill>
            <a:srgbClr val="E60012"/>
          </a:solidFill>
          <a:effectLst/>
        </p:grpSpPr>
        <p:sp>
          <p:nvSpPr>
            <p:cNvPr id="8" name="同心圆 7"/>
            <p:cNvSpPr/>
            <p:nvPr/>
          </p:nvSpPr>
          <p:spPr>
            <a:xfrm>
              <a:off x="304800" y="673100"/>
              <a:ext cx="4000500" cy="4000500"/>
            </a:xfrm>
            <a:prstGeom prst="donut">
              <a:avLst>
                <a:gd name="adj" fmla="val 4879"/>
              </a:avLst>
            </a:prstGeom>
            <a:grpFill/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>
              <a:defPPr>
                <a:defRPr lang="zh-CN"/>
              </a:defPPr>
              <a:lvl1pPr marL="0" algn="l" defTabSz="913765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3765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3765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3765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3765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3765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2565" algn="l" defTabSz="913765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199765" algn="l" defTabSz="913765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6965" algn="l" defTabSz="913765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 defTabSz="1218565">
                <a:defRPr/>
              </a:pPr>
              <a:endParaRPr lang="zh-CN" altLang="en-US" sz="2400">
                <a:solidFill>
                  <a:srgbClr val="08080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endParaRPr>
            </a:p>
          </p:txBody>
        </p:sp>
        <p:sp>
          <p:nvSpPr>
            <p:cNvPr id="9" name="椭圆 8"/>
            <p:cNvSpPr/>
            <p:nvPr/>
          </p:nvSpPr>
          <p:spPr>
            <a:xfrm>
              <a:off x="392112" y="760412"/>
              <a:ext cx="3825874" cy="3825874"/>
            </a:xfrm>
            <a:prstGeom prst="ellipse">
              <a:avLst/>
            </a:prstGeom>
            <a:grpFill/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>
              <a:defPPr>
                <a:defRPr lang="zh-CN"/>
              </a:defPPr>
              <a:lvl1pPr marL="0" algn="l" defTabSz="913765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3765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3765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3765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3765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3765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2565" algn="l" defTabSz="913765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199765" algn="l" defTabSz="913765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6965" algn="l" defTabSz="913765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 defTabSz="1218565">
                <a:defRPr/>
              </a:pPr>
              <a:endParaRPr lang="zh-CN" altLang="en-US" sz="2400">
                <a:solidFill>
                  <a:srgbClr val="08080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endParaRPr>
            </a:p>
          </p:txBody>
        </p:sp>
      </p:grpSp>
      <p:sp>
        <p:nvSpPr>
          <p:cNvPr id="10" name="TextBox 13"/>
          <p:cNvSpPr txBox="1"/>
          <p:nvPr/>
        </p:nvSpPr>
        <p:spPr>
          <a:xfrm>
            <a:off x="1648952" y="2983101"/>
            <a:ext cx="1203432" cy="73866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zh-CN"/>
            </a:defPPr>
            <a:lvl1pPr marL="0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2565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199765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6965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1218565">
              <a:defRPr/>
            </a:pPr>
            <a:r>
              <a:rPr lang="zh-CN" altLang="zh-CN" sz="4800" b="1" dirty="0">
                <a:solidFill>
                  <a:sysClr val="window" lastClr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 </a:t>
            </a:r>
            <a:r>
              <a:rPr lang="zh-CN" altLang="en-US" sz="4800" b="1" dirty="0">
                <a:solidFill>
                  <a:sysClr val="window" lastClr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  </a:t>
            </a:r>
            <a:r>
              <a:rPr lang="en-US" altLang="zh-CN" sz="4800" b="1" dirty="0">
                <a:solidFill>
                  <a:sysClr val="window" lastClr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2</a:t>
            </a:r>
            <a:endParaRPr lang="zh-CN" altLang="en-US" sz="4800" b="1" dirty="0">
              <a:solidFill>
                <a:sysClr val="window" lastClr="FFFFFF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410919895"/>
      </p:ext>
    </p:extLst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/>
                <a:ea typeface="微软雅黑"/>
                <a:cs typeface="+mj-cs"/>
              </a:rPr>
              <a:t>工作</a:t>
            </a:r>
            <a:r>
              <a:rPr kumimoji="0" lang="zh-CN" altLang="en-US" sz="24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/>
                <a:ea typeface="微软雅黑"/>
                <a:cs typeface="+mj-cs"/>
              </a:rPr>
              <a:t>内容 </a:t>
            </a:r>
            <a:r>
              <a:rPr kumimoji="0" lang="en-US" altLang="zh-CN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/>
                <a:ea typeface="微软雅黑"/>
                <a:cs typeface="+mj-cs"/>
              </a:rPr>
              <a:t>— </a:t>
            </a:r>
            <a:r>
              <a:rPr kumimoji="0" lang="zh-CN" alt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/>
                <a:ea typeface="微软雅黑"/>
                <a:cs typeface="+mj-cs"/>
              </a:rPr>
              <a:t>概述</a:t>
            </a:r>
            <a:endParaRPr kumimoji="0" lang="zh-CN" altLang="en-US" sz="2400" b="0" i="0" u="none" strike="noStrike" kern="1200" cap="none" spc="0" normalizeH="0" baseline="0" noProof="0" dirty="0">
              <a:ln>
                <a:noFill/>
              </a:ln>
              <a:solidFill>
                <a:srgbClr val="FFC000"/>
              </a:solidFill>
              <a:effectLst/>
              <a:uLnTx/>
              <a:uFillTx/>
              <a:latin typeface="宋体" panose="02010600030101010101" pitchFamily="2" charset="-122"/>
              <a:ea typeface="宋体" panose="02010600030101010101" pitchFamily="2" charset="-122"/>
              <a:cs typeface="+mj-cs"/>
            </a:endParaRPr>
          </a:p>
        </p:txBody>
      </p:sp>
      <p:sp>
        <p:nvSpPr>
          <p:cNvPr id="12" name="矩形 11"/>
          <p:cNvSpPr/>
          <p:nvPr/>
        </p:nvSpPr>
        <p:spPr>
          <a:xfrm>
            <a:off x="106373" y="1180372"/>
            <a:ext cx="11979254" cy="43731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742950" lvl="1" indent="-285750">
              <a:lnSpc>
                <a:spcPts val="2400"/>
              </a:lnSpc>
              <a:spcBef>
                <a:spcPts val="100"/>
              </a:spcBef>
              <a:spcAft>
                <a:spcPts val="100"/>
              </a:spcAft>
              <a:buFont typeface="Wingdings" panose="05000000000000000000" pitchFamily="2" charset="2"/>
              <a:buChar char="l"/>
              <a:defRPr/>
            </a:pPr>
            <a:r>
              <a:rPr lang="zh-CN" altLang="en-US" sz="16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完成硬件工程师上岗考试，完成公司新人入职培训</a:t>
            </a:r>
            <a:endParaRPr lang="en-US" altLang="zh-CN" sz="1600" dirty="0">
              <a:solidFill>
                <a:prstClr val="black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742950" lvl="1" indent="-285750">
              <a:lnSpc>
                <a:spcPts val="2400"/>
              </a:lnSpc>
              <a:spcBef>
                <a:spcPts val="100"/>
              </a:spcBef>
              <a:spcAft>
                <a:spcPts val="100"/>
              </a:spcAft>
              <a:buFont typeface="Wingdings" panose="05000000000000000000" pitchFamily="2" charset="2"/>
              <a:buChar char="l"/>
              <a:defRPr/>
            </a:pPr>
            <a:r>
              <a:rPr lang="zh-CN" altLang="en-US" sz="16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了解部门定制化服务器和卡类相关知识，熟悉负责项目的基本业务</a:t>
            </a:r>
            <a:endParaRPr lang="en-US" altLang="zh-CN" sz="1600" dirty="0">
              <a:solidFill>
                <a:prstClr val="black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742950" lvl="1" indent="-285750">
              <a:lnSpc>
                <a:spcPts val="2400"/>
              </a:lnSpc>
              <a:spcBef>
                <a:spcPts val="100"/>
              </a:spcBef>
              <a:spcAft>
                <a:spcPts val="100"/>
              </a:spcAft>
              <a:buFont typeface="Wingdings" panose="05000000000000000000" pitchFamily="2" charset="2"/>
              <a:buChar char="l"/>
              <a:defRPr/>
            </a:pPr>
            <a:endParaRPr lang="en-US" altLang="zh-CN" sz="1600" dirty="0">
              <a:solidFill>
                <a:prstClr val="black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742950" lvl="1" indent="-285750">
              <a:lnSpc>
                <a:spcPts val="2400"/>
              </a:lnSpc>
              <a:spcBef>
                <a:spcPts val="100"/>
              </a:spcBef>
              <a:spcAft>
                <a:spcPts val="100"/>
              </a:spcAft>
              <a:buFont typeface="Wingdings" panose="05000000000000000000" pitchFamily="2" charset="2"/>
              <a:buChar char="l"/>
              <a:defRPr/>
            </a:pPr>
            <a:r>
              <a:rPr lang="zh-CN" altLang="en-US" sz="1600" b="1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完成所属项目的</a:t>
            </a:r>
            <a:r>
              <a:rPr lang="en-US" altLang="zh-CN" sz="1600" b="1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CPLD</a:t>
            </a:r>
            <a:r>
              <a:rPr lang="zh-CN" altLang="en-US" sz="1600" b="1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逻辑开发和维护工作：</a:t>
            </a:r>
            <a:endParaRPr lang="en-US" altLang="zh-CN" sz="1600" b="1" dirty="0">
              <a:solidFill>
                <a:prstClr val="black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1200150" lvl="2" indent="-285750">
              <a:lnSpc>
                <a:spcPts val="2400"/>
              </a:lnSpc>
              <a:spcBef>
                <a:spcPts val="100"/>
              </a:spcBef>
              <a:spcAft>
                <a:spcPts val="100"/>
              </a:spcAft>
              <a:buFont typeface="Wingdings" panose="05000000000000000000" pitchFamily="2" charset="2"/>
              <a:buChar char="Ø"/>
              <a:defRPr/>
            </a:pPr>
            <a:r>
              <a:rPr lang="zh-CN" altLang="en-US" sz="16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参与开发与维护的项目：</a:t>
            </a:r>
            <a:endParaRPr lang="en-US" altLang="zh-CN" sz="1600" dirty="0">
              <a:solidFill>
                <a:prstClr val="black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lvl="2">
              <a:lnSpc>
                <a:spcPts val="2400"/>
              </a:lnSpc>
              <a:spcBef>
                <a:spcPts val="100"/>
              </a:spcBef>
              <a:spcAft>
                <a:spcPts val="100"/>
              </a:spcAft>
              <a:defRPr/>
            </a:pPr>
            <a:r>
              <a:rPr lang="en-US" altLang="zh-CN" sz="16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   </a:t>
            </a:r>
            <a:r>
              <a:rPr lang="zh-CN" altLang="en-US" sz="16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服务器：东湖一号、欧康诺、龙芯</a:t>
            </a:r>
            <a:r>
              <a:rPr lang="en-US" altLang="zh-CN" sz="16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3E6000</a:t>
            </a:r>
            <a:r>
              <a:rPr lang="zh-CN" altLang="en-US" sz="16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、希奥端、 铁塔</a:t>
            </a:r>
            <a:r>
              <a:rPr lang="en-US" altLang="zh-CN" sz="16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-</a:t>
            </a:r>
            <a:r>
              <a:rPr lang="zh-CN" altLang="en-US" sz="16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飞腾</a:t>
            </a:r>
            <a:endParaRPr lang="en-US" altLang="zh-CN" sz="1600" dirty="0">
              <a:solidFill>
                <a:prstClr val="black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lvl="2">
              <a:lnSpc>
                <a:spcPts val="2400"/>
              </a:lnSpc>
              <a:spcBef>
                <a:spcPts val="100"/>
              </a:spcBef>
              <a:spcAft>
                <a:spcPts val="100"/>
              </a:spcAft>
              <a:defRPr/>
            </a:pPr>
            <a:r>
              <a:rPr lang="zh-CN" altLang="en-US" sz="16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   卡类：异格</a:t>
            </a:r>
            <a:r>
              <a:rPr lang="en-US" altLang="zh-CN" sz="16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FPGA</a:t>
            </a:r>
            <a:r>
              <a:rPr lang="zh-CN" altLang="en-US" sz="16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加速卡（</a:t>
            </a:r>
            <a:r>
              <a:rPr lang="en-US" altLang="zh-CN" sz="16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X16</a:t>
            </a:r>
            <a:r>
              <a:rPr lang="zh-CN" altLang="en-US" sz="16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和</a:t>
            </a:r>
            <a:r>
              <a:rPr lang="en-US" altLang="zh-CN" sz="16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X8</a:t>
            </a:r>
            <a:r>
              <a:rPr lang="zh-CN" altLang="en-US" sz="16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）、</a:t>
            </a:r>
            <a:r>
              <a:rPr lang="en-US" altLang="zh-CN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PCIE</a:t>
            </a:r>
            <a:r>
              <a:rPr lang="zh-CN" altLang="en-US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卡类测试治具、</a:t>
            </a:r>
            <a:r>
              <a:rPr lang="en-US" altLang="zh-CN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OCP</a:t>
            </a:r>
            <a:r>
              <a:rPr lang="zh-CN" altLang="en-US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卡类测试治具</a:t>
            </a:r>
            <a:endParaRPr lang="en-US" altLang="zh-CN" sz="16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lvl="2">
              <a:lnSpc>
                <a:spcPts val="2400"/>
              </a:lnSpc>
              <a:spcBef>
                <a:spcPts val="100"/>
              </a:spcBef>
              <a:spcAft>
                <a:spcPts val="100"/>
              </a:spcAft>
              <a:defRPr/>
            </a:pPr>
            <a:endParaRPr lang="en-US" altLang="zh-CN" sz="16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1200150" lvl="2" indent="-285750">
              <a:lnSpc>
                <a:spcPts val="2400"/>
              </a:lnSpc>
              <a:spcBef>
                <a:spcPts val="100"/>
              </a:spcBef>
              <a:spcAft>
                <a:spcPts val="100"/>
              </a:spcAft>
              <a:buFont typeface="Wingdings" panose="05000000000000000000" pitchFamily="2" charset="2"/>
              <a:buChar char="Ø"/>
              <a:defRPr/>
            </a:pPr>
            <a:r>
              <a:rPr lang="zh-CN" altLang="en-US" sz="16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主要工作内容：</a:t>
            </a:r>
            <a:endParaRPr lang="en-US" altLang="zh-CN" sz="1600" dirty="0">
              <a:solidFill>
                <a:prstClr val="black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lvl="2">
              <a:lnSpc>
                <a:spcPts val="2400"/>
              </a:lnSpc>
              <a:spcBef>
                <a:spcPts val="100"/>
              </a:spcBef>
              <a:spcAft>
                <a:spcPts val="100"/>
              </a:spcAft>
              <a:defRPr/>
            </a:pPr>
            <a:r>
              <a:rPr lang="en-US" altLang="zh-CN" sz="16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   </a:t>
            </a:r>
            <a:r>
              <a:rPr lang="zh-CN" altLang="en-US" sz="16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理解项目的硬件总体设计方案和硬件架构；</a:t>
            </a:r>
            <a:endParaRPr lang="en-US" altLang="zh-CN" sz="1600" dirty="0">
              <a:solidFill>
                <a:prstClr val="black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lvl="2">
              <a:lnSpc>
                <a:spcPts val="2400"/>
              </a:lnSpc>
              <a:spcBef>
                <a:spcPts val="100"/>
              </a:spcBef>
              <a:spcAft>
                <a:spcPts val="100"/>
              </a:spcAft>
              <a:defRPr/>
            </a:pPr>
            <a:r>
              <a:rPr lang="en-US" altLang="zh-CN" sz="16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   </a:t>
            </a:r>
            <a:r>
              <a:rPr lang="zh-CN" altLang="en-US" sz="16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整理逻辑需求点和功能点，根据需求点完成逻辑总体方案；</a:t>
            </a:r>
            <a:endParaRPr lang="en-US" altLang="zh-CN" sz="1600" dirty="0">
              <a:solidFill>
                <a:prstClr val="black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lvl="2">
              <a:lnSpc>
                <a:spcPts val="2400"/>
              </a:lnSpc>
              <a:spcBef>
                <a:spcPts val="100"/>
              </a:spcBef>
              <a:spcAft>
                <a:spcPts val="100"/>
              </a:spcAft>
              <a:defRPr/>
            </a:pPr>
            <a:r>
              <a:rPr lang="zh-CN" altLang="en-US" sz="16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   配合硬件工程师完成</a:t>
            </a:r>
            <a:r>
              <a:rPr lang="en-US" altLang="zh-CN" sz="16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IO</a:t>
            </a:r>
            <a:r>
              <a:rPr lang="zh-CN" altLang="en-US" sz="16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资源和逻辑资源的评估和</a:t>
            </a:r>
            <a:r>
              <a:rPr lang="en-US" altLang="zh-CN" sz="16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CPLD</a:t>
            </a:r>
            <a:r>
              <a:rPr lang="zh-CN" altLang="en-US" sz="16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的选型；</a:t>
            </a:r>
            <a:endParaRPr lang="en-US" altLang="zh-CN" sz="1600" dirty="0">
              <a:solidFill>
                <a:prstClr val="black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lvl="2">
              <a:lnSpc>
                <a:spcPts val="2400"/>
              </a:lnSpc>
              <a:spcBef>
                <a:spcPts val="100"/>
              </a:spcBef>
              <a:spcAft>
                <a:spcPts val="100"/>
              </a:spcAft>
              <a:defRPr/>
            </a:pPr>
            <a:r>
              <a:rPr lang="en-US" altLang="zh-CN" sz="16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   </a:t>
            </a:r>
            <a:r>
              <a:rPr lang="zh-CN" altLang="en-US" sz="16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完成逻辑</a:t>
            </a:r>
            <a:r>
              <a:rPr lang="en-US" altLang="zh-CN" sz="16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CPLD</a:t>
            </a:r>
            <a:r>
              <a:rPr lang="zh-CN" altLang="en-US" sz="16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代码编写、仿真、调试；</a:t>
            </a:r>
            <a:endParaRPr kumimoji="0" lang="en-US" altLang="zh-CN" sz="16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953524142"/>
      </p:ext>
    </p:extLst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4167FC13-AE83-0D31-8133-BF00331292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="" xmlns:a16="http://schemas.microsoft.com/office/drawing/2014/main" id="{5B6710D7-1A3C-9C49-E367-73AFDE59579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27260" y="356659"/>
            <a:ext cx="9134596" cy="609600"/>
          </a:xfrm>
          <a:prstGeom prst="rect">
            <a:avLst/>
          </a:prstGeom>
        </p:spPr>
        <p:txBody>
          <a:bodyPr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/>
                <a:ea typeface="微软雅黑"/>
                <a:cs typeface="+mj-cs"/>
              </a:rPr>
              <a:t>工作内容</a:t>
            </a:r>
            <a:r>
              <a:rPr kumimoji="0" lang="en-US" altLang="zh-CN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/>
                <a:ea typeface="微软雅黑"/>
                <a:cs typeface="+mj-cs"/>
              </a:rPr>
              <a:t>1</a:t>
            </a:r>
            <a:r>
              <a:rPr kumimoji="0" lang="zh-CN" alt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/>
                <a:ea typeface="微软雅黑"/>
                <a:cs typeface="+mj-cs"/>
              </a:rPr>
              <a:t> </a:t>
            </a:r>
            <a:r>
              <a:rPr kumimoji="0" lang="en-US" altLang="zh-CN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/>
                <a:ea typeface="微软雅黑"/>
                <a:cs typeface="+mj-cs"/>
              </a:rPr>
              <a:t>— </a:t>
            </a:r>
            <a:r>
              <a:rPr kumimoji="0" lang="zh-CN" altLang="en-US" sz="24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/>
                <a:ea typeface="微软雅黑"/>
                <a:cs typeface="+mj-cs"/>
              </a:rPr>
              <a:t>梳理硬件</a:t>
            </a:r>
            <a:r>
              <a:rPr kumimoji="0" lang="zh-CN" alt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/>
                <a:ea typeface="微软雅黑"/>
                <a:cs typeface="+mj-cs"/>
              </a:rPr>
              <a:t>设计方案</a:t>
            </a:r>
            <a:endParaRPr kumimoji="0" lang="zh-CN" altLang="en-US" sz="2400" b="0" i="0" u="none" strike="noStrike" kern="1200" cap="none" spc="0" normalizeH="0" baseline="0" noProof="0" dirty="0">
              <a:ln>
                <a:noFill/>
              </a:ln>
              <a:solidFill>
                <a:srgbClr val="FFC000"/>
              </a:solidFill>
              <a:effectLst/>
              <a:uLnTx/>
              <a:uFillTx/>
              <a:latin typeface="宋体" panose="02010600030101010101" pitchFamily="2" charset="-122"/>
              <a:ea typeface="宋体" panose="02010600030101010101" pitchFamily="2" charset="-122"/>
              <a:cs typeface="+mj-cs"/>
            </a:endParaRPr>
          </a:p>
        </p:txBody>
      </p:sp>
      <p:pic>
        <p:nvPicPr>
          <p:cNvPr id="3" name="图片 2" descr="图示, 示意图&#10;&#10;AI 生成的内容可能不正确。">
            <a:extLst>
              <a:ext uri="{FF2B5EF4-FFF2-40B4-BE49-F238E27FC236}">
                <a16:creationId xmlns="" xmlns:a16="http://schemas.microsoft.com/office/drawing/2014/main" id="{071990E3-1218-34A2-BEFE-1F826A711D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5799" y="1740869"/>
            <a:ext cx="5829199" cy="4003717"/>
          </a:xfrm>
          <a:prstGeom prst="rect">
            <a:avLst/>
          </a:prstGeom>
        </p:spPr>
      </p:pic>
      <p:cxnSp>
        <p:nvCxnSpPr>
          <p:cNvPr id="5" name="直接连接符 4">
            <a:extLst>
              <a:ext uri="{FF2B5EF4-FFF2-40B4-BE49-F238E27FC236}">
                <a16:creationId xmlns="" xmlns:a16="http://schemas.microsoft.com/office/drawing/2014/main" id="{7BECF130-A785-D356-EA8A-F3280894CAC1}"/>
              </a:ext>
            </a:extLst>
          </p:cNvPr>
          <p:cNvCxnSpPr>
            <a:cxnSpLocks/>
          </p:cNvCxnSpPr>
          <p:nvPr/>
        </p:nvCxnSpPr>
        <p:spPr>
          <a:xfrm>
            <a:off x="6259654" y="1052103"/>
            <a:ext cx="0" cy="5330286"/>
          </a:xfrm>
          <a:prstGeom prst="line">
            <a:avLst/>
          </a:prstGeom>
          <a:ln w="9525" cap="flat" cmpd="sng" algn="ctr">
            <a:solidFill>
              <a:schemeClr val="accent5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0" name="矩形 9">
            <a:extLst>
              <a:ext uri="{FF2B5EF4-FFF2-40B4-BE49-F238E27FC236}">
                <a16:creationId xmlns="" xmlns:a16="http://schemas.microsoft.com/office/drawing/2014/main" id="{50131B96-1067-AAC2-2D75-9FD20C3217AA}"/>
              </a:ext>
            </a:extLst>
          </p:cNvPr>
          <p:cNvSpPr/>
          <p:nvPr/>
        </p:nvSpPr>
        <p:spPr>
          <a:xfrm>
            <a:off x="34183" y="1346949"/>
            <a:ext cx="6207057" cy="493981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1">
              <a:lnSpc>
                <a:spcPts val="2400"/>
              </a:lnSpc>
              <a:spcBef>
                <a:spcPts val="100"/>
              </a:spcBef>
              <a:spcAft>
                <a:spcPts val="100"/>
              </a:spcAft>
              <a:defRPr/>
            </a:pPr>
            <a:r>
              <a:rPr lang="en-US" altLang="zh-CN" sz="1200" b="1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</a:t>
            </a:r>
            <a:r>
              <a:rPr lang="zh-CN" altLang="en-US" sz="1200" b="1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、计算存储</a:t>
            </a:r>
            <a:r>
              <a:rPr lang="zh-CN" altLang="en-US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：双</a:t>
            </a:r>
            <a:r>
              <a:rPr lang="en-US" altLang="zh-CN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CPU</a:t>
            </a:r>
            <a:r>
              <a:rPr lang="zh-CN" altLang="en-US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架构，</a:t>
            </a:r>
            <a:r>
              <a:rPr lang="en-US" altLang="zh-CN" sz="1200" dirty="0"/>
              <a:t> </a:t>
            </a:r>
            <a:r>
              <a:rPr lang="en-US" altLang="zh-CN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CPU0 </a:t>
            </a:r>
            <a:r>
              <a:rPr lang="zh-CN" altLang="en-US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和 </a:t>
            </a:r>
            <a:r>
              <a:rPr lang="en-US" altLang="zh-CN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CPU1 </a:t>
            </a:r>
            <a:r>
              <a:rPr lang="zh-CN" altLang="en-US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均支持 </a:t>
            </a:r>
            <a:r>
              <a:rPr lang="en-US" altLang="zh-CN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12 </a:t>
            </a:r>
            <a:r>
              <a:rPr lang="zh-CN" altLang="en-US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个内存通道（</a:t>
            </a:r>
            <a:r>
              <a:rPr lang="en-US" altLang="zh-CN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CHA-CHL</a:t>
            </a:r>
            <a:r>
              <a:rPr lang="zh-CN" altLang="en-US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），对应独立的 </a:t>
            </a:r>
            <a:r>
              <a:rPr lang="en-US" altLang="zh-CN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DIMM </a:t>
            </a:r>
            <a:r>
              <a:rPr lang="zh-CN" altLang="en-US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通道；</a:t>
            </a:r>
            <a:endParaRPr lang="en-US" altLang="zh-CN" sz="1200" dirty="0">
              <a:solidFill>
                <a:prstClr val="black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lvl="1">
              <a:lnSpc>
                <a:spcPts val="2400"/>
              </a:lnSpc>
              <a:spcBef>
                <a:spcPts val="100"/>
              </a:spcBef>
              <a:spcAft>
                <a:spcPts val="100"/>
              </a:spcAft>
              <a:defRPr/>
            </a:pPr>
            <a:r>
              <a:rPr lang="en-US" altLang="zh-CN" sz="1200" b="1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</a:t>
            </a:r>
            <a:r>
              <a:rPr lang="zh-CN" altLang="en-US" sz="1200" b="1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、总线拓扑</a:t>
            </a:r>
            <a:endParaRPr lang="en-US" altLang="zh-CN" sz="1200" b="1" dirty="0">
              <a:solidFill>
                <a:prstClr val="black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lvl="1">
              <a:lnSpc>
                <a:spcPts val="2400"/>
              </a:lnSpc>
              <a:spcBef>
                <a:spcPts val="100"/>
              </a:spcBef>
              <a:spcAft>
                <a:spcPts val="100"/>
              </a:spcAft>
              <a:defRPr/>
            </a:pPr>
            <a:r>
              <a:rPr lang="zh-CN" altLang="en-US" sz="1200" b="1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高速：</a:t>
            </a:r>
            <a:r>
              <a:rPr lang="en-US" altLang="zh-CN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XGMI 0~3 </a:t>
            </a:r>
            <a:r>
              <a:rPr lang="zh-CN" altLang="en-US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、</a:t>
            </a:r>
            <a:r>
              <a:rPr lang="en-US" altLang="zh-CN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PCIE 0~5</a:t>
            </a:r>
            <a:r>
              <a:rPr lang="zh-CN" altLang="en-US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接口；</a:t>
            </a:r>
            <a:r>
              <a:rPr lang="en-US" altLang="zh-CN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XGMI 0~2</a:t>
            </a:r>
            <a:r>
              <a:rPr lang="zh-CN" altLang="en-US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用于 </a:t>
            </a:r>
            <a:r>
              <a:rPr lang="en-US" altLang="zh-CN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AMD</a:t>
            </a:r>
            <a:r>
              <a:rPr lang="zh-CN" altLang="en-US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的</a:t>
            </a:r>
            <a:r>
              <a:rPr lang="en-US" altLang="zh-CN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CPU </a:t>
            </a:r>
            <a:r>
              <a:rPr lang="zh-CN" altLang="en-US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间互联；</a:t>
            </a:r>
            <a:r>
              <a:rPr lang="en-US" altLang="zh-CN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XGMI 3</a:t>
            </a:r>
            <a:r>
              <a:rPr lang="zh-CN" altLang="en-US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、</a:t>
            </a:r>
            <a:r>
              <a:rPr lang="en-US" altLang="zh-CN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PCIE 0~5</a:t>
            </a:r>
            <a:r>
              <a:rPr lang="zh-CN" altLang="en-US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、</a:t>
            </a:r>
            <a:r>
              <a:rPr lang="en-US" altLang="zh-CN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USB2.0/3.0</a:t>
            </a:r>
            <a:r>
              <a:rPr lang="zh-CN" altLang="en-US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通过</a:t>
            </a:r>
            <a:r>
              <a:rPr lang="en-US" altLang="zh-CN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MCIO</a:t>
            </a:r>
            <a:r>
              <a:rPr lang="zh-CN" altLang="en-US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或连接芯片连接网卡、显卡、存储器、</a:t>
            </a:r>
            <a:r>
              <a:rPr lang="en-US" altLang="zh-CN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USB</a:t>
            </a:r>
            <a:r>
              <a:rPr lang="zh-CN" altLang="en-US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等外部高速设备以及</a:t>
            </a:r>
            <a:r>
              <a:rPr lang="en-US" altLang="zh-CN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CPU </a:t>
            </a:r>
            <a:r>
              <a:rPr lang="zh-CN" altLang="en-US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间的控制类信息交互。</a:t>
            </a:r>
            <a:endParaRPr lang="en-US" altLang="zh-CN" sz="1200" dirty="0">
              <a:solidFill>
                <a:prstClr val="black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lvl="1">
              <a:lnSpc>
                <a:spcPts val="2400"/>
              </a:lnSpc>
              <a:spcBef>
                <a:spcPts val="100"/>
              </a:spcBef>
              <a:spcAft>
                <a:spcPts val="100"/>
              </a:spcAft>
              <a:defRPr/>
            </a:pPr>
            <a:r>
              <a:rPr lang="zh-CN" altLang="en-US" sz="1200" b="1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低速：</a:t>
            </a:r>
            <a:r>
              <a:rPr lang="en-US" altLang="zh-CN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I3C (BMC</a:t>
            </a:r>
            <a:r>
              <a:rPr lang="zh-CN" altLang="en-US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或</a:t>
            </a:r>
            <a:r>
              <a:rPr lang="en-US" altLang="zh-CN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CPU</a:t>
            </a:r>
            <a:r>
              <a:rPr lang="zh-CN" altLang="en-US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对 </a:t>
            </a:r>
            <a:r>
              <a:rPr lang="en-US" altLang="zh-CN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DDR5 DIMM </a:t>
            </a:r>
            <a:r>
              <a:rPr lang="zh-CN" altLang="en-US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通信</a:t>
            </a:r>
            <a:r>
              <a:rPr lang="en-US" altLang="zh-CN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)</a:t>
            </a:r>
            <a:r>
              <a:rPr lang="zh-CN" altLang="en-US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、</a:t>
            </a:r>
            <a:r>
              <a:rPr lang="en-US" altLang="zh-CN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I2C</a:t>
            </a:r>
            <a:r>
              <a:rPr lang="zh-CN" altLang="en-US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（</a:t>
            </a:r>
            <a:r>
              <a:rPr lang="en-US" altLang="zh-CN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BMC</a:t>
            </a:r>
            <a:r>
              <a:rPr lang="zh-CN" altLang="en-US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或</a:t>
            </a:r>
            <a:r>
              <a:rPr lang="en-US" altLang="zh-CN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CPLD</a:t>
            </a:r>
            <a:r>
              <a:rPr lang="zh-CN" altLang="en-US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等设备通信）、</a:t>
            </a:r>
            <a:r>
              <a:rPr lang="en-US" altLang="zh-CN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SPI</a:t>
            </a:r>
            <a:r>
              <a:rPr lang="zh-CN" altLang="en-US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（</a:t>
            </a:r>
            <a:r>
              <a:rPr lang="en-US" altLang="zh-CN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TPM</a:t>
            </a:r>
            <a:r>
              <a:rPr lang="zh-CN" altLang="en-US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芯片、</a:t>
            </a:r>
            <a:r>
              <a:rPr lang="en-US" altLang="zh-CN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BIOS_FLASH </a:t>
            </a:r>
            <a:r>
              <a:rPr lang="zh-CN" altLang="en-US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等设备通信）、</a:t>
            </a:r>
            <a:r>
              <a:rPr lang="en-US" altLang="zh-CN" sz="1200" dirty="0" err="1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eSPI</a:t>
            </a:r>
            <a:r>
              <a:rPr lang="zh-CN" altLang="en-US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、</a:t>
            </a:r>
            <a:r>
              <a:rPr lang="en-US" altLang="zh-CN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UART</a:t>
            </a:r>
            <a:r>
              <a:rPr lang="zh-CN" altLang="en-US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、</a:t>
            </a:r>
            <a:r>
              <a:rPr lang="en-US" altLang="zh-CN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JTAG</a:t>
            </a:r>
            <a:r>
              <a:rPr lang="zh-CN" altLang="en-US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接口</a:t>
            </a:r>
            <a:endParaRPr lang="en-US" altLang="zh-CN" sz="1200" dirty="0">
              <a:solidFill>
                <a:prstClr val="black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lvl="1">
              <a:lnSpc>
                <a:spcPts val="2400"/>
              </a:lnSpc>
              <a:spcBef>
                <a:spcPts val="100"/>
              </a:spcBef>
              <a:spcAft>
                <a:spcPts val="100"/>
              </a:spcAft>
              <a:defRPr/>
            </a:pPr>
            <a:r>
              <a:rPr lang="en-US" altLang="zh-CN" sz="1200" b="1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3</a:t>
            </a:r>
            <a:r>
              <a:rPr lang="zh-CN" altLang="en-US" sz="1200" b="1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、时钟复位</a:t>
            </a:r>
            <a:endParaRPr lang="en-US" altLang="zh-CN" sz="1200" b="1" dirty="0">
              <a:solidFill>
                <a:prstClr val="black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lvl="1">
              <a:lnSpc>
                <a:spcPts val="2400"/>
              </a:lnSpc>
              <a:spcBef>
                <a:spcPts val="100"/>
              </a:spcBef>
              <a:spcAft>
                <a:spcPts val="100"/>
              </a:spcAft>
              <a:defRPr/>
            </a:pPr>
            <a:r>
              <a:rPr lang="zh-CN" altLang="en-US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一级</a:t>
            </a:r>
            <a:r>
              <a:rPr lang="en-US" altLang="zh-CN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AUS615</a:t>
            </a:r>
            <a:r>
              <a:rPr lang="zh-CN" altLang="en-US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的</a:t>
            </a:r>
            <a:r>
              <a:rPr lang="en-US" altLang="zh-CN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100M</a:t>
            </a:r>
            <a:r>
              <a:rPr lang="zh-CN" altLang="en-US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时钟给</a:t>
            </a:r>
            <a:r>
              <a:rPr lang="en-US" altLang="zh-CN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CMU</a:t>
            </a:r>
            <a:r>
              <a:rPr lang="zh-CN" altLang="en-US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、</a:t>
            </a:r>
            <a:r>
              <a:rPr lang="en-US" altLang="zh-CN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P0/P1</a:t>
            </a:r>
            <a:r>
              <a:rPr lang="zh-CN" altLang="en-US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、部分</a:t>
            </a:r>
            <a:r>
              <a:rPr lang="en-US" altLang="zh-CN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MCIO_CONN</a:t>
            </a:r>
            <a:r>
              <a:rPr lang="zh-CN" altLang="en-US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使用；二级</a:t>
            </a:r>
            <a:r>
              <a:rPr lang="en-US" altLang="zh-CN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CLK_DB2000</a:t>
            </a:r>
            <a:r>
              <a:rPr lang="zh-CN" altLang="en-US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的</a:t>
            </a:r>
            <a:r>
              <a:rPr lang="en-US" altLang="zh-CN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100M</a:t>
            </a:r>
            <a:r>
              <a:rPr lang="zh-CN" altLang="en-US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时钟给</a:t>
            </a:r>
            <a:r>
              <a:rPr lang="en-US" altLang="zh-CN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MCIO_CONN</a:t>
            </a:r>
            <a:r>
              <a:rPr lang="zh-CN" altLang="en-US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使用；</a:t>
            </a:r>
            <a:endParaRPr lang="en-US" altLang="zh-CN" sz="1200" dirty="0">
              <a:solidFill>
                <a:prstClr val="black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lvl="1">
              <a:lnSpc>
                <a:spcPts val="2400"/>
              </a:lnSpc>
              <a:spcBef>
                <a:spcPts val="100"/>
              </a:spcBef>
              <a:spcAft>
                <a:spcPts val="100"/>
              </a:spcAft>
              <a:defRPr/>
            </a:pPr>
            <a:r>
              <a:rPr lang="zh-CN" altLang="en-US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系统复位（</a:t>
            </a:r>
            <a:r>
              <a:rPr lang="en-US" altLang="zh-CN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SYS_RESET</a:t>
            </a:r>
            <a:r>
              <a:rPr lang="zh-CN" altLang="en-US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）、</a:t>
            </a:r>
            <a:r>
              <a:rPr lang="en-US" altLang="zh-CN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PCIe </a:t>
            </a:r>
            <a:r>
              <a:rPr lang="zh-CN" altLang="en-US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复位（</a:t>
            </a:r>
            <a:r>
              <a:rPr lang="en-US" altLang="zh-CN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PCIE_RST_N</a:t>
            </a:r>
            <a:r>
              <a:rPr lang="zh-CN" altLang="en-US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）、</a:t>
            </a:r>
            <a:r>
              <a:rPr lang="en-US" altLang="zh-CN" sz="1200" dirty="0" err="1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RSMRST</a:t>
            </a:r>
            <a:r>
              <a:rPr lang="en-US" altLang="zh-CN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1200" dirty="0" smtClean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等</a:t>
            </a:r>
            <a:r>
              <a:rPr lang="zh-CN" altLang="en-US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；</a:t>
            </a:r>
            <a:endParaRPr lang="en-US" altLang="zh-CN" sz="1200" dirty="0" smtClean="0">
              <a:solidFill>
                <a:prstClr val="black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lvl="1">
              <a:lnSpc>
                <a:spcPts val="2400"/>
              </a:lnSpc>
              <a:spcBef>
                <a:spcPts val="100"/>
              </a:spcBef>
              <a:spcAft>
                <a:spcPts val="100"/>
              </a:spcAft>
              <a:defRPr/>
            </a:pPr>
            <a:r>
              <a:rPr lang="zh-CN" altLang="en-US" sz="1200" dirty="0" smtClean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（由 </a:t>
            </a:r>
            <a:r>
              <a:rPr lang="en-US" altLang="zh-CN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CPLD </a:t>
            </a:r>
            <a:r>
              <a:rPr lang="zh-CN" altLang="en-US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与 </a:t>
            </a:r>
            <a:r>
              <a:rPr lang="en-US" altLang="zh-CN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CPU </a:t>
            </a:r>
            <a:r>
              <a:rPr lang="zh-CN" altLang="en-US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协同管理，结合</a:t>
            </a:r>
            <a:r>
              <a:rPr lang="en-US" altLang="zh-CN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CPLD</a:t>
            </a:r>
            <a:r>
              <a:rPr lang="zh-CN" altLang="en-US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功能详细</a:t>
            </a:r>
            <a:r>
              <a:rPr lang="zh-CN" altLang="en-US" sz="1200" dirty="0" smtClean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分析</a:t>
            </a:r>
            <a:r>
              <a:rPr lang="zh-CN" altLang="en-US" sz="1200" b="1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）</a:t>
            </a:r>
            <a:endParaRPr lang="en-US" altLang="zh-CN" sz="1200" b="1" dirty="0">
              <a:solidFill>
                <a:prstClr val="black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lvl="1">
              <a:lnSpc>
                <a:spcPts val="2400"/>
              </a:lnSpc>
              <a:spcBef>
                <a:spcPts val="100"/>
              </a:spcBef>
              <a:spcAft>
                <a:spcPts val="100"/>
              </a:spcAft>
              <a:defRPr/>
            </a:pPr>
            <a:r>
              <a:rPr lang="en-US" altLang="zh-CN" sz="1200" b="1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4</a:t>
            </a:r>
            <a:r>
              <a:rPr lang="zh-CN" altLang="en-US" sz="1200" b="1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、电源和监控</a:t>
            </a:r>
            <a:endParaRPr lang="en-US" altLang="zh-CN" sz="1200" b="1" dirty="0">
              <a:solidFill>
                <a:prstClr val="black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lvl="1">
              <a:lnSpc>
                <a:spcPts val="2400"/>
              </a:lnSpc>
              <a:spcBef>
                <a:spcPts val="100"/>
              </a:spcBef>
              <a:spcAft>
                <a:spcPts val="100"/>
              </a:spcAft>
              <a:defRPr/>
            </a:pPr>
            <a:r>
              <a:rPr lang="zh-CN" altLang="en-US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辅电供电</a:t>
            </a:r>
            <a:r>
              <a:rPr lang="en-US" altLang="zh-CN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/</a:t>
            </a:r>
            <a:r>
              <a:rPr lang="zh-CN" altLang="en-US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核心供电；硬件状态</a:t>
            </a:r>
            <a:r>
              <a:rPr lang="zh-CN" altLang="en-US" sz="1200" dirty="0" smtClean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监控；（</a:t>
            </a:r>
            <a:r>
              <a:rPr lang="en-US" altLang="zh-CN" sz="1200" dirty="0" err="1" smtClean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CPLD</a:t>
            </a:r>
            <a:r>
              <a:rPr lang="zh-CN" altLang="en-US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强相关，结合</a:t>
            </a:r>
            <a:r>
              <a:rPr lang="en-US" altLang="zh-CN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CPLD</a:t>
            </a:r>
            <a:r>
              <a:rPr lang="zh-CN" altLang="en-US" sz="12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功能详细</a:t>
            </a:r>
            <a:r>
              <a:rPr lang="zh-CN" altLang="en-US" sz="1200" dirty="0" smtClean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分析）</a:t>
            </a:r>
            <a:endParaRPr lang="en-US" altLang="zh-CN" sz="1200" dirty="0">
              <a:solidFill>
                <a:prstClr val="black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="" xmlns:a16="http://schemas.microsoft.com/office/drawing/2014/main" id="{2BC0A0A8-0C9C-2D51-D930-A3AB6D1663CB}"/>
              </a:ext>
            </a:extLst>
          </p:cNvPr>
          <p:cNvSpPr txBox="1"/>
          <p:nvPr/>
        </p:nvSpPr>
        <p:spPr>
          <a:xfrm>
            <a:off x="478935" y="1050399"/>
            <a:ext cx="1021541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n"/>
              <a:tabLst/>
              <a:defRPr/>
            </a:pPr>
            <a:r>
              <a:rPr lang="zh-CN" altLang="en-US" sz="1600" b="1" dirty="0" smtClean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例：东湖一号</a:t>
            </a: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883249956"/>
      </p:ext>
    </p:extLst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40A3AE70-9581-A6CE-FB57-D606A42AA9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="" xmlns:a16="http://schemas.microsoft.com/office/drawing/2014/main" id="{2025E29C-3DB3-4716-0C1D-D211000B097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27260" y="356659"/>
            <a:ext cx="9134596" cy="609600"/>
          </a:xfrm>
          <a:prstGeom prst="rect">
            <a:avLst/>
          </a:prstGeom>
        </p:spPr>
        <p:txBody>
          <a:bodyPr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lvl="0" fontAlgn="auto">
              <a:spcAft>
                <a:spcPts val="0"/>
              </a:spcAft>
              <a:defRPr/>
            </a:pPr>
            <a:r>
              <a:rPr kumimoji="0" lang="zh-CN" alt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/>
                <a:ea typeface="微软雅黑"/>
                <a:cs typeface="+mj-cs"/>
              </a:rPr>
              <a:t>工作</a:t>
            </a:r>
            <a:r>
              <a:rPr kumimoji="0" lang="zh-CN" altLang="en-US" sz="24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/>
                <a:ea typeface="微软雅黑"/>
                <a:cs typeface="+mj-cs"/>
              </a:rPr>
              <a:t>内容</a:t>
            </a:r>
            <a:r>
              <a:rPr lang="en-US" altLang="zh-CN" sz="2400" dirty="0">
                <a:solidFill>
                  <a:prstClr val="black"/>
                </a:solidFill>
                <a:latin typeface="微软雅黑"/>
                <a:ea typeface="微软雅黑"/>
              </a:rPr>
              <a:t>2</a:t>
            </a:r>
            <a:r>
              <a:rPr kumimoji="0" lang="zh-CN" altLang="en-US" sz="24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/>
                <a:ea typeface="微软雅黑"/>
                <a:cs typeface="+mj-cs"/>
              </a:rPr>
              <a:t> </a:t>
            </a:r>
            <a:r>
              <a:rPr kumimoji="0" lang="en-US" altLang="zh-CN" sz="24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/>
                <a:ea typeface="微软雅黑"/>
                <a:cs typeface="+mj-cs"/>
              </a:rPr>
              <a:t>—</a:t>
            </a:r>
            <a:r>
              <a:rPr lang="zh-CN" altLang="en-US" sz="2400" noProof="0" dirty="0">
                <a:solidFill>
                  <a:prstClr val="black"/>
                </a:solidFill>
                <a:latin typeface="微软雅黑"/>
                <a:ea typeface="微软雅黑"/>
              </a:rPr>
              <a:t>生成</a:t>
            </a:r>
            <a:r>
              <a:rPr lang="zh-CN" altLang="en-US" sz="2400" dirty="0" smtClean="0">
                <a:solidFill>
                  <a:prstClr val="black"/>
                </a:solidFill>
                <a:latin typeface="微软雅黑"/>
                <a:ea typeface="微软雅黑"/>
              </a:rPr>
              <a:t>逻辑</a:t>
            </a:r>
            <a:r>
              <a:rPr lang="zh-CN" altLang="en-US" sz="2400" dirty="0">
                <a:solidFill>
                  <a:prstClr val="black"/>
                </a:solidFill>
                <a:latin typeface="微软雅黑"/>
                <a:ea typeface="微软雅黑"/>
              </a:rPr>
              <a:t>方案设计</a:t>
            </a:r>
            <a:endParaRPr kumimoji="0" lang="zh-CN" altLang="en-US" sz="2400" b="0" i="0" u="none" strike="noStrike" kern="1200" cap="none" spc="0" normalizeH="0" baseline="0" noProof="0" dirty="0">
              <a:ln>
                <a:noFill/>
              </a:ln>
              <a:solidFill>
                <a:srgbClr val="FFC000"/>
              </a:solidFill>
              <a:effectLst/>
              <a:uLnTx/>
              <a:uFillTx/>
              <a:latin typeface="宋体" panose="02010600030101010101" pitchFamily="2" charset="-122"/>
              <a:ea typeface="宋体" panose="02010600030101010101" pitchFamily="2" charset="-122"/>
              <a:cs typeface="+mj-cs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="" xmlns:a16="http://schemas.microsoft.com/office/drawing/2014/main" id="{2BC0A0A8-0C9C-2D51-D930-A3AB6D1663CB}"/>
              </a:ext>
            </a:extLst>
          </p:cNvPr>
          <p:cNvSpPr txBox="1"/>
          <p:nvPr/>
        </p:nvSpPr>
        <p:spPr>
          <a:xfrm>
            <a:off x="478935" y="1024999"/>
            <a:ext cx="1021541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n"/>
              <a:defRPr/>
            </a:pPr>
            <a:r>
              <a:rPr lang="zh-CN" altLang="en-US" sz="1600" b="1" dirty="0" smtClean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例：东</a:t>
            </a:r>
            <a:r>
              <a:rPr lang="zh-CN" altLang="en-US" sz="1600" b="1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湖一</a:t>
            </a:r>
            <a:r>
              <a:rPr lang="zh-CN" altLang="en-US" sz="1600" b="1" dirty="0" smtClean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号</a:t>
            </a:r>
            <a:endParaRPr lang="en-US" altLang="zh-CN" sz="1600" dirty="0">
              <a:solidFill>
                <a:prstClr val="black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5" name="直接连接符 4">
            <a:extLst>
              <a:ext uri="{FF2B5EF4-FFF2-40B4-BE49-F238E27FC236}">
                <a16:creationId xmlns="" xmlns:a16="http://schemas.microsoft.com/office/drawing/2014/main" id="{51869E89-D624-D4A4-243B-3799A8F546CB}"/>
              </a:ext>
            </a:extLst>
          </p:cNvPr>
          <p:cNvCxnSpPr>
            <a:cxnSpLocks/>
          </p:cNvCxnSpPr>
          <p:nvPr/>
        </p:nvCxnSpPr>
        <p:spPr>
          <a:xfrm>
            <a:off x="4118852" y="1101199"/>
            <a:ext cx="0" cy="5330286"/>
          </a:xfrm>
          <a:prstGeom prst="line">
            <a:avLst/>
          </a:prstGeom>
          <a:ln w="9525" cap="flat" cmpd="sng" algn="ctr">
            <a:solidFill>
              <a:schemeClr val="accent5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0" name="矩形 9">
            <a:extLst>
              <a:ext uri="{FF2B5EF4-FFF2-40B4-BE49-F238E27FC236}">
                <a16:creationId xmlns="" xmlns:a16="http://schemas.microsoft.com/office/drawing/2014/main" id="{57A52783-686B-AA09-B339-0D77F83E901E}"/>
              </a:ext>
            </a:extLst>
          </p:cNvPr>
          <p:cNvSpPr/>
          <p:nvPr/>
        </p:nvSpPr>
        <p:spPr>
          <a:xfrm>
            <a:off x="73184" y="1605471"/>
            <a:ext cx="2884718" cy="34009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1">
              <a:lnSpc>
                <a:spcPts val="2400"/>
              </a:lnSpc>
              <a:spcBef>
                <a:spcPts val="100"/>
              </a:spcBef>
              <a:spcAft>
                <a:spcPts val="100"/>
              </a:spcAft>
              <a:defRPr/>
            </a:pPr>
            <a:r>
              <a:rPr lang="en-US" altLang="zh-CN" sz="1200" b="1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</a:t>
            </a:r>
            <a:r>
              <a:rPr lang="zh-CN" altLang="en-US" sz="1200" b="1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、电源时序控制</a:t>
            </a:r>
            <a:endParaRPr lang="en-US" altLang="zh-CN" sz="1200" b="1" dirty="0">
              <a:solidFill>
                <a:prstClr val="black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lvl="1">
              <a:lnSpc>
                <a:spcPts val="2400"/>
              </a:lnSpc>
              <a:spcBef>
                <a:spcPts val="100"/>
              </a:spcBef>
              <a:spcAft>
                <a:spcPts val="100"/>
              </a:spcAft>
              <a:defRPr/>
            </a:pPr>
            <a:r>
              <a:rPr lang="en-US" altLang="zh-CN" sz="1200" b="1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</a:t>
            </a:r>
            <a:r>
              <a:rPr lang="zh-CN" altLang="en-US" sz="1200" b="1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、电源状态监测</a:t>
            </a:r>
            <a:endParaRPr lang="en-US" altLang="zh-CN" sz="1200" b="1" dirty="0">
              <a:solidFill>
                <a:prstClr val="black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lvl="1">
              <a:lnSpc>
                <a:spcPts val="2400"/>
              </a:lnSpc>
              <a:spcBef>
                <a:spcPts val="100"/>
              </a:spcBef>
              <a:spcAft>
                <a:spcPts val="100"/>
              </a:spcAft>
              <a:defRPr/>
            </a:pPr>
            <a:r>
              <a:rPr lang="en-US" altLang="zh-CN" sz="1200" b="1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3</a:t>
            </a:r>
            <a:r>
              <a:rPr lang="zh-CN" altLang="en-US" sz="1200" b="1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、硬件故障监控与检测</a:t>
            </a:r>
            <a:endParaRPr lang="en-US" altLang="zh-CN" sz="1200" b="1" dirty="0">
              <a:solidFill>
                <a:prstClr val="black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lvl="1">
              <a:lnSpc>
                <a:spcPts val="2400"/>
              </a:lnSpc>
              <a:spcBef>
                <a:spcPts val="100"/>
              </a:spcBef>
              <a:spcAft>
                <a:spcPts val="100"/>
              </a:spcAft>
              <a:defRPr/>
            </a:pPr>
            <a:r>
              <a:rPr lang="en-US" altLang="zh-CN" sz="1200" b="1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4</a:t>
            </a:r>
            <a:r>
              <a:rPr lang="zh-CN" altLang="en-US" sz="1200" b="1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、芯片的通信交互</a:t>
            </a:r>
            <a:endParaRPr lang="en-US" altLang="zh-CN" sz="1200" b="1" dirty="0">
              <a:solidFill>
                <a:prstClr val="black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lvl="1">
              <a:lnSpc>
                <a:spcPts val="2400"/>
              </a:lnSpc>
              <a:spcBef>
                <a:spcPts val="100"/>
              </a:spcBef>
              <a:spcAft>
                <a:spcPts val="100"/>
              </a:spcAft>
              <a:defRPr/>
            </a:pPr>
            <a:r>
              <a:rPr lang="en-US" altLang="zh-CN" sz="1200" b="1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5</a:t>
            </a:r>
            <a:r>
              <a:rPr lang="zh-CN" altLang="en-US" sz="1200" b="1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、按钮控制</a:t>
            </a:r>
            <a:endParaRPr lang="en-US" altLang="zh-CN" sz="1200" b="1" dirty="0">
              <a:solidFill>
                <a:prstClr val="black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lvl="1">
              <a:lnSpc>
                <a:spcPts val="2400"/>
              </a:lnSpc>
              <a:spcBef>
                <a:spcPts val="100"/>
              </a:spcBef>
              <a:spcAft>
                <a:spcPts val="100"/>
              </a:spcAft>
              <a:defRPr/>
            </a:pPr>
            <a:r>
              <a:rPr lang="en-US" altLang="zh-CN" sz="1200" b="1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6</a:t>
            </a:r>
            <a:r>
              <a:rPr lang="zh-CN" altLang="en-US" sz="1200" b="1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、风扇控制</a:t>
            </a:r>
            <a:endParaRPr lang="en-US" altLang="zh-CN" sz="1200" b="1" dirty="0">
              <a:solidFill>
                <a:prstClr val="black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lvl="1">
              <a:lnSpc>
                <a:spcPts val="2400"/>
              </a:lnSpc>
              <a:spcBef>
                <a:spcPts val="100"/>
              </a:spcBef>
              <a:spcAft>
                <a:spcPts val="100"/>
              </a:spcAft>
              <a:defRPr/>
            </a:pPr>
            <a:r>
              <a:rPr lang="en-US" altLang="zh-CN" sz="1200" b="1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7</a:t>
            </a:r>
            <a:r>
              <a:rPr lang="zh-CN" altLang="en-US" sz="1200" b="1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、指示灯控制</a:t>
            </a:r>
            <a:endParaRPr lang="en-US" altLang="zh-CN" sz="1200" b="1" dirty="0">
              <a:solidFill>
                <a:prstClr val="black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lvl="1">
              <a:lnSpc>
                <a:spcPts val="2400"/>
              </a:lnSpc>
              <a:spcBef>
                <a:spcPts val="100"/>
              </a:spcBef>
              <a:spcAft>
                <a:spcPts val="100"/>
              </a:spcAft>
              <a:defRPr/>
            </a:pPr>
            <a:r>
              <a:rPr lang="en-US" altLang="zh-CN" sz="1200" b="1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</a:t>
            </a:r>
            <a:r>
              <a:rPr lang="zh-CN" altLang="en-US" sz="1200" b="1" dirty="0" smtClean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、</a:t>
            </a:r>
            <a:r>
              <a:rPr lang="en-US" altLang="zh-CN" sz="1200" b="1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CPLD</a:t>
            </a:r>
            <a:r>
              <a:rPr lang="zh-CN" altLang="en-US" sz="1200" b="1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复位控制</a:t>
            </a:r>
            <a:endParaRPr lang="en-US" altLang="zh-CN" sz="1200" b="1" dirty="0">
              <a:solidFill>
                <a:prstClr val="black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lvl="1">
              <a:lnSpc>
                <a:spcPts val="2400"/>
              </a:lnSpc>
              <a:spcBef>
                <a:spcPts val="100"/>
              </a:spcBef>
              <a:spcAft>
                <a:spcPts val="100"/>
              </a:spcAft>
              <a:defRPr/>
            </a:pPr>
            <a:r>
              <a:rPr lang="en-US" altLang="zh-CN" sz="1200" b="1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9</a:t>
            </a:r>
            <a:r>
              <a:rPr lang="zh-CN" altLang="en-US" sz="1200" b="1" dirty="0" smtClean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、</a:t>
            </a:r>
            <a:r>
              <a:rPr lang="en-US" altLang="zh-CN" sz="1200" b="1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CPLD</a:t>
            </a:r>
            <a:r>
              <a:rPr lang="zh-CN" altLang="en-US" sz="1200" b="1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在线升级</a:t>
            </a:r>
            <a:endParaRPr lang="en-US" altLang="zh-CN" sz="1200" b="1" dirty="0">
              <a:solidFill>
                <a:prstClr val="black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lvl="1">
              <a:lnSpc>
                <a:spcPts val="2400"/>
              </a:lnSpc>
              <a:spcBef>
                <a:spcPts val="100"/>
              </a:spcBef>
              <a:spcAft>
                <a:spcPts val="100"/>
              </a:spcAft>
              <a:defRPr/>
            </a:pPr>
            <a:endParaRPr lang="en-US" altLang="zh-CN" sz="1200" b="1" dirty="0">
              <a:solidFill>
                <a:prstClr val="black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2" name="图片 1">
            <a:extLst>
              <a:ext uri="{FF2B5EF4-FFF2-40B4-BE49-F238E27FC236}">
                <a16:creationId xmlns="" xmlns:a16="http://schemas.microsoft.com/office/drawing/2014/main" id="{95028011-DBC2-C3EA-C248-CED458F0CD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52340" y="1000312"/>
            <a:ext cx="7491101" cy="55262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1582841"/>
      </p:ext>
    </p:extLst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AC470C7D-3446-8BFD-D29C-E5CB50161F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="" xmlns:a16="http://schemas.microsoft.com/office/drawing/2014/main" id="{60CB0C96-0DF0-A989-5C0A-E938908FA0B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27260" y="356659"/>
            <a:ext cx="9134596" cy="609600"/>
          </a:xfrm>
          <a:prstGeom prst="rect">
            <a:avLst/>
          </a:prstGeom>
        </p:spPr>
        <p:txBody>
          <a:bodyPr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lvl="0" fontAlgn="auto">
              <a:spcAft>
                <a:spcPts val="0"/>
              </a:spcAft>
              <a:defRPr/>
            </a:pPr>
            <a:r>
              <a:rPr kumimoji="0" lang="zh-CN" alt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/>
                <a:ea typeface="微软雅黑"/>
                <a:cs typeface="+mj-cs"/>
              </a:rPr>
              <a:t>工作</a:t>
            </a:r>
            <a:r>
              <a:rPr kumimoji="0" lang="zh-CN" altLang="en-US" sz="24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/>
                <a:ea typeface="微软雅黑"/>
                <a:cs typeface="+mj-cs"/>
              </a:rPr>
              <a:t>内容</a:t>
            </a:r>
            <a:r>
              <a:rPr kumimoji="0" lang="en-US" altLang="zh-CN" sz="24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/>
                <a:ea typeface="微软雅黑"/>
                <a:cs typeface="+mj-cs"/>
              </a:rPr>
              <a:t>3</a:t>
            </a:r>
            <a:r>
              <a:rPr kumimoji="0" lang="zh-CN" altLang="en-US" sz="24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/>
                <a:ea typeface="微软雅黑"/>
                <a:cs typeface="+mj-cs"/>
              </a:rPr>
              <a:t> </a:t>
            </a:r>
            <a:r>
              <a:rPr kumimoji="0" lang="en-US" altLang="zh-CN" sz="24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/>
                <a:ea typeface="微软雅黑"/>
                <a:cs typeface="+mj-cs"/>
              </a:rPr>
              <a:t>—</a:t>
            </a:r>
            <a:r>
              <a:rPr lang="zh-CN" altLang="en-US" sz="2400" noProof="0" dirty="0">
                <a:solidFill>
                  <a:prstClr val="black"/>
                </a:solidFill>
                <a:latin typeface="微软雅黑"/>
                <a:ea typeface="微软雅黑"/>
              </a:rPr>
              <a:t>熟悉</a:t>
            </a:r>
            <a:r>
              <a:rPr lang="zh-CN" altLang="en-US" sz="2400" dirty="0" smtClean="0">
                <a:solidFill>
                  <a:prstClr val="black"/>
                </a:solidFill>
                <a:latin typeface="微软雅黑"/>
                <a:ea typeface="微软雅黑"/>
              </a:rPr>
              <a:t>电源</a:t>
            </a:r>
            <a:r>
              <a:rPr lang="zh-CN" altLang="en-US" sz="2400" dirty="0">
                <a:solidFill>
                  <a:prstClr val="black"/>
                </a:solidFill>
                <a:latin typeface="微软雅黑"/>
                <a:ea typeface="微软雅黑"/>
              </a:rPr>
              <a:t>上下</a:t>
            </a:r>
            <a:r>
              <a:rPr lang="zh-CN" altLang="en-US" sz="2400" dirty="0" smtClean="0">
                <a:solidFill>
                  <a:prstClr val="black"/>
                </a:solidFill>
                <a:latin typeface="微软雅黑"/>
                <a:ea typeface="微软雅黑"/>
              </a:rPr>
              <a:t>电方案</a:t>
            </a:r>
            <a:endParaRPr kumimoji="0" lang="zh-CN" altLang="en-US" sz="2400" b="0" i="0" u="none" strike="noStrike" kern="1200" cap="none" spc="0" normalizeH="0" baseline="0" noProof="0" dirty="0">
              <a:ln>
                <a:noFill/>
              </a:ln>
              <a:solidFill>
                <a:srgbClr val="FFC000"/>
              </a:solidFill>
              <a:effectLst/>
              <a:uLnTx/>
              <a:uFillTx/>
              <a:latin typeface="宋体" panose="02010600030101010101" pitchFamily="2" charset="-122"/>
              <a:ea typeface="宋体" panose="02010600030101010101" pitchFamily="2" charset="-122"/>
              <a:cs typeface="+mj-cs"/>
            </a:endParaRPr>
          </a:p>
        </p:txBody>
      </p:sp>
      <p:cxnSp>
        <p:nvCxnSpPr>
          <p:cNvPr id="5" name="直接连接符 4">
            <a:extLst>
              <a:ext uri="{FF2B5EF4-FFF2-40B4-BE49-F238E27FC236}">
                <a16:creationId xmlns="" xmlns:a16="http://schemas.microsoft.com/office/drawing/2014/main" id="{3F612B68-85B8-D7DF-6FDF-9FA88DD78519}"/>
              </a:ext>
            </a:extLst>
          </p:cNvPr>
          <p:cNvCxnSpPr>
            <a:cxnSpLocks/>
          </p:cNvCxnSpPr>
          <p:nvPr/>
        </p:nvCxnSpPr>
        <p:spPr>
          <a:xfrm>
            <a:off x="5553270" y="1056749"/>
            <a:ext cx="0" cy="5330286"/>
          </a:xfrm>
          <a:prstGeom prst="line">
            <a:avLst/>
          </a:prstGeom>
          <a:ln w="9525" cap="flat" cmpd="sng" algn="ctr">
            <a:solidFill>
              <a:schemeClr val="accent5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pic>
        <p:nvPicPr>
          <p:cNvPr id="9" name="图片 8">
            <a:extLst>
              <a:ext uri="{FF2B5EF4-FFF2-40B4-BE49-F238E27FC236}">
                <a16:creationId xmlns="" xmlns:a16="http://schemas.microsoft.com/office/drawing/2014/main" id="{B0EB4A4D-84ED-949C-02A8-C65834402CE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84424" y="5379509"/>
            <a:ext cx="2994862" cy="1087620"/>
          </a:xfrm>
          <a:prstGeom prst="rect">
            <a:avLst/>
          </a:prstGeom>
        </p:spPr>
      </p:pic>
      <p:sp>
        <p:nvSpPr>
          <p:cNvPr id="2" name="矩形 1">
            <a:extLst>
              <a:ext uri="{FF2B5EF4-FFF2-40B4-BE49-F238E27FC236}">
                <a16:creationId xmlns="" xmlns:a16="http://schemas.microsoft.com/office/drawing/2014/main" id="{55DDFED4-781E-9C16-ABE1-1F823FA2EE35}"/>
              </a:ext>
            </a:extLst>
          </p:cNvPr>
          <p:cNvSpPr/>
          <p:nvPr/>
        </p:nvSpPr>
        <p:spPr>
          <a:xfrm>
            <a:off x="5181599" y="1050691"/>
            <a:ext cx="6860147" cy="588879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1">
              <a:lnSpc>
                <a:spcPts val="2400"/>
              </a:lnSpc>
              <a:spcBef>
                <a:spcPts val="100"/>
              </a:spcBef>
              <a:spcAft>
                <a:spcPts val="100"/>
              </a:spcAft>
              <a:defRPr/>
            </a:pPr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1</a:t>
            </a:r>
            <a:r>
              <a:rPr lang="zh-CN" altLang="en-US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、各电源状态机上电使能条件：上电阶段</a:t>
            </a:r>
            <a:r>
              <a:rPr lang="zh-CN" altLang="en-US" sz="1200" b="1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电源无故障</a:t>
            </a:r>
            <a:r>
              <a:rPr lang="zh-CN" altLang="en-US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，延时后依次上电</a:t>
            </a:r>
            <a:endParaRPr lang="en-US" altLang="zh-CN" sz="12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lvl="1">
              <a:lnSpc>
                <a:spcPts val="2400"/>
              </a:lnSpc>
              <a:spcBef>
                <a:spcPts val="100"/>
              </a:spcBef>
              <a:spcAft>
                <a:spcPts val="100"/>
              </a:spcAft>
              <a:defRPr/>
            </a:pPr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      </a:t>
            </a:r>
            <a:r>
              <a:rPr lang="zh-CN" altLang="en-US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各电源下电使能条件：任一电源故障触发下电，延时后依次下电</a:t>
            </a:r>
            <a:endParaRPr lang="en-US" altLang="zh-CN" sz="12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lvl="1">
              <a:lnSpc>
                <a:spcPts val="2400"/>
              </a:lnSpc>
              <a:spcBef>
                <a:spcPts val="100"/>
              </a:spcBef>
              <a:spcAft>
                <a:spcPts val="100"/>
              </a:spcAft>
              <a:defRPr/>
            </a:pPr>
            <a:r>
              <a:rPr lang="en-US" altLang="zh-CN" sz="12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</a:t>
            </a:r>
            <a:r>
              <a:rPr lang="zh-CN" altLang="en-US" sz="12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、蓝色状态控制 </a:t>
            </a:r>
            <a:r>
              <a:rPr lang="en-US" altLang="zh-CN" sz="12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GroupA</a:t>
            </a:r>
            <a:r>
              <a:rPr lang="en-US" altLang="zh-CN" sz="12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12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和 </a:t>
            </a:r>
            <a:r>
              <a:rPr lang="en-US" altLang="zh-CN" sz="12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GroupB</a:t>
            </a:r>
            <a:r>
              <a:rPr lang="en-US" altLang="zh-CN" sz="12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12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电源域的使能：</a:t>
            </a:r>
            <a:endParaRPr lang="en-US" altLang="zh-CN" sz="1200" dirty="0">
              <a:solidFill>
                <a:srgbClr val="00B0F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lvl="1">
              <a:lnSpc>
                <a:spcPts val="2400"/>
              </a:lnSpc>
              <a:spcBef>
                <a:spcPts val="100"/>
              </a:spcBef>
              <a:spcAft>
                <a:spcPts val="100"/>
              </a:spcAft>
              <a:defRPr/>
            </a:pPr>
            <a:r>
              <a:rPr lang="zh-CN" altLang="en-US" sz="12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复位状态</a:t>
            </a:r>
            <a:r>
              <a:rPr lang="en-US" altLang="zh-CN" sz="12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(0x00) → </a:t>
            </a:r>
            <a:r>
              <a:rPr lang="zh-CN" altLang="en-US" sz="12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开启</a:t>
            </a:r>
            <a:r>
              <a:rPr lang="en-US" altLang="zh-CN" sz="12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RTC</a:t>
            </a:r>
            <a:r>
              <a:rPr lang="zh-CN" altLang="en-US" sz="12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待机电源</a:t>
            </a:r>
            <a:r>
              <a:rPr lang="en-US" altLang="zh-CN" sz="12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(0x01) → </a:t>
            </a:r>
            <a:r>
              <a:rPr lang="zh-CN" altLang="en-US" sz="12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南桥复位保持</a:t>
            </a:r>
            <a:r>
              <a:rPr lang="en-US" altLang="zh-CN" sz="12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(0x02) → </a:t>
            </a:r>
            <a:r>
              <a:rPr lang="zh-CN" altLang="en-US" sz="12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开启</a:t>
            </a:r>
            <a:r>
              <a:rPr lang="en-US" altLang="zh-CN" sz="12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CPU3.3V</a:t>
            </a:r>
            <a:r>
              <a:rPr lang="zh-CN" altLang="en-US" sz="12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待机</a:t>
            </a:r>
            <a:r>
              <a:rPr lang="en-US" altLang="zh-CN" sz="12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(0x03) → </a:t>
            </a:r>
            <a:r>
              <a:rPr lang="zh-CN" altLang="en-US" sz="12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开启</a:t>
            </a:r>
            <a:r>
              <a:rPr lang="en-US" altLang="zh-CN" sz="12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CPU1.8V</a:t>
            </a:r>
            <a:r>
              <a:rPr lang="zh-CN" altLang="en-US" sz="12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待机</a:t>
            </a:r>
            <a:r>
              <a:rPr lang="en-US" altLang="zh-CN" sz="12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(0x04)→ </a:t>
            </a:r>
            <a:r>
              <a:rPr lang="zh-CN" altLang="en-US" sz="1200" dirty="0">
                <a:solidFill>
                  <a:schemeClr val="bg2">
                    <a:lumMod val="60000"/>
                    <a:lumOff val="4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开启</a:t>
            </a:r>
            <a:r>
              <a:rPr lang="en-US" altLang="zh-CN" sz="1200" dirty="0">
                <a:solidFill>
                  <a:schemeClr val="bg2">
                    <a:lumMod val="60000"/>
                    <a:lumOff val="4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USB</a:t>
            </a:r>
            <a:r>
              <a:rPr lang="zh-CN" altLang="en-US" sz="1200" dirty="0">
                <a:solidFill>
                  <a:schemeClr val="bg2">
                    <a:lumMod val="60000"/>
                    <a:lumOff val="4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待机电源</a:t>
            </a:r>
            <a:r>
              <a:rPr lang="en-US" altLang="zh-CN" sz="1200" dirty="0">
                <a:solidFill>
                  <a:schemeClr val="bg2">
                    <a:lumMod val="60000"/>
                    <a:lumOff val="4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(0x05) </a:t>
            </a:r>
            <a:r>
              <a:rPr lang="en-US" altLang="zh-CN" sz="12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→ </a:t>
            </a:r>
            <a:r>
              <a:rPr lang="zh-CN" altLang="en-US" sz="12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释放南桥复位</a:t>
            </a:r>
            <a:r>
              <a:rPr lang="en-US" altLang="zh-CN" sz="12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(0x06) → </a:t>
            </a:r>
            <a:r>
              <a:rPr lang="en-US" altLang="zh-CN" sz="1200" dirty="0">
                <a:solidFill>
                  <a:schemeClr val="bg2">
                    <a:lumMod val="60000"/>
                    <a:lumOff val="4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S5</a:t>
            </a:r>
            <a:r>
              <a:rPr lang="zh-CN" altLang="en-US" sz="1200" dirty="0">
                <a:solidFill>
                  <a:schemeClr val="bg2">
                    <a:lumMod val="60000"/>
                    <a:lumOff val="4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设备上电</a:t>
            </a:r>
            <a:r>
              <a:rPr lang="en-US" altLang="zh-CN" sz="1200" dirty="0">
                <a:solidFill>
                  <a:schemeClr val="bg2">
                    <a:lumMod val="60000"/>
                    <a:lumOff val="4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(0x07) </a:t>
            </a:r>
            <a:r>
              <a:rPr lang="en-US" altLang="zh-CN" sz="12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→ </a:t>
            </a:r>
            <a:r>
              <a:rPr lang="zh-CN" altLang="en-US" sz="1200" dirty="0">
                <a:solidFill>
                  <a:srgbClr val="E325C3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待机就绪</a:t>
            </a:r>
            <a:r>
              <a:rPr lang="en-US" altLang="zh-CN" sz="1200" dirty="0">
                <a:solidFill>
                  <a:srgbClr val="E325C3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(0x08)</a:t>
            </a:r>
            <a:r>
              <a:rPr lang="en-US" altLang="zh-CN" sz="1200" dirty="0">
                <a:solidFill>
                  <a:schemeClr val="tx2">
                    <a:lumMod val="90000"/>
                    <a:lumOff val="1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1200" dirty="0">
                <a:solidFill>
                  <a:srgbClr val="E325C3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→</a:t>
            </a:r>
            <a:r>
              <a:rPr lang="en-US" altLang="zh-CN" sz="12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</a:p>
          <a:p>
            <a:pPr lvl="1">
              <a:lnSpc>
                <a:spcPts val="2400"/>
              </a:lnSpc>
              <a:spcBef>
                <a:spcPts val="100"/>
              </a:spcBef>
              <a:spcAft>
                <a:spcPts val="100"/>
              </a:spcAft>
              <a:defRPr/>
            </a:pPr>
            <a:r>
              <a:rPr lang="en-US" altLang="zh-CN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3</a:t>
            </a:r>
            <a:r>
              <a:rPr lang="zh-CN" altLang="en-US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、深绿色状态控制 </a:t>
            </a:r>
            <a:r>
              <a:rPr lang="en-US" altLang="zh-CN" sz="12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GroupC</a:t>
            </a:r>
            <a:r>
              <a:rPr lang="en-US" altLang="zh-CN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电源域的使能</a:t>
            </a:r>
            <a:r>
              <a:rPr lang="zh-CN" altLang="en-US" sz="12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endParaRPr lang="en-US" altLang="zh-CN" sz="1200" dirty="0">
              <a:solidFill>
                <a:srgbClr val="00B0F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lvl="1">
              <a:lnSpc>
                <a:spcPts val="2400"/>
              </a:lnSpc>
              <a:spcBef>
                <a:spcPts val="100"/>
              </a:spcBef>
              <a:spcAft>
                <a:spcPts val="100"/>
              </a:spcAft>
              <a:defRPr/>
            </a:pPr>
            <a:r>
              <a:rPr lang="zh-CN" altLang="en-US" sz="1200" dirty="0">
                <a:solidFill>
                  <a:schemeClr val="bg2">
                    <a:lumMod val="60000"/>
                    <a:lumOff val="4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主电源模块使能</a:t>
            </a:r>
            <a:r>
              <a:rPr lang="en-US" altLang="zh-CN" sz="1200" dirty="0">
                <a:solidFill>
                  <a:schemeClr val="bg2">
                    <a:lumMod val="60000"/>
                    <a:lumOff val="4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(0x09)→ </a:t>
            </a:r>
            <a:r>
              <a:rPr lang="zh-CN" altLang="en-US" sz="1200" dirty="0">
                <a:solidFill>
                  <a:schemeClr val="bg2">
                    <a:lumMod val="60000"/>
                    <a:lumOff val="4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遥测功能开启</a:t>
            </a:r>
            <a:r>
              <a:rPr lang="en-US" altLang="zh-CN" sz="1200" dirty="0">
                <a:solidFill>
                  <a:schemeClr val="bg2">
                    <a:lumMod val="60000"/>
                    <a:lumOff val="4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</a:t>
            </a:r>
            <a:r>
              <a:rPr lang="en-US" altLang="zh-CN" sz="1200" dirty="0" smtClean="0">
                <a:solidFill>
                  <a:schemeClr val="bg2">
                    <a:lumMod val="60000"/>
                    <a:lumOff val="4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0x10) </a:t>
            </a:r>
            <a:r>
              <a:rPr lang="en-US" altLang="zh-CN" sz="1200" dirty="0">
                <a:solidFill>
                  <a:schemeClr val="bg2">
                    <a:lumMod val="60000"/>
                    <a:lumOff val="4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→ </a:t>
            </a:r>
            <a:r>
              <a:rPr lang="en-US" altLang="zh-CN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EFUSE12V</a:t>
            </a:r>
            <a:r>
              <a:rPr lang="zh-CN" altLang="en-US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电源开启</a:t>
            </a:r>
            <a:r>
              <a:rPr lang="en-US" altLang="zh-CN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</a:t>
            </a:r>
            <a:r>
              <a:rPr lang="en-US" altLang="zh-CN" sz="1200" dirty="0" smtClean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0x11) </a:t>
            </a:r>
            <a:r>
              <a:rPr lang="en-US" altLang="zh-CN" sz="1200" dirty="0">
                <a:solidFill>
                  <a:schemeClr val="bg2">
                    <a:lumMod val="60000"/>
                    <a:lumOff val="4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→ ATX</a:t>
            </a:r>
            <a:r>
              <a:rPr lang="zh-CN" altLang="en-US" sz="1200" dirty="0">
                <a:solidFill>
                  <a:schemeClr val="bg2">
                    <a:lumMod val="60000"/>
                    <a:lumOff val="4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电源开启</a:t>
            </a:r>
            <a:r>
              <a:rPr lang="en-US" altLang="zh-CN" sz="1200" dirty="0">
                <a:solidFill>
                  <a:schemeClr val="bg2">
                    <a:lumMod val="60000"/>
                    <a:lumOff val="4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</a:t>
            </a:r>
            <a:r>
              <a:rPr lang="en-US" altLang="zh-CN" sz="1200" dirty="0" smtClean="0">
                <a:solidFill>
                  <a:schemeClr val="bg2">
                    <a:lumMod val="60000"/>
                    <a:lumOff val="4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0x12)</a:t>
            </a:r>
            <a:r>
              <a:rPr lang="en-US" altLang="zh-CN" sz="1200" dirty="0" smtClean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→ CPU1.1V</a:t>
            </a:r>
            <a:r>
              <a:rPr lang="zh-CN" altLang="en-US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电源开启</a:t>
            </a:r>
            <a:r>
              <a:rPr lang="en-US" altLang="zh-CN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</a:t>
            </a:r>
            <a:r>
              <a:rPr lang="en-US" altLang="zh-CN" sz="1200" dirty="0" smtClean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0x13) </a:t>
            </a:r>
            <a:r>
              <a:rPr lang="en-US" altLang="zh-CN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→</a:t>
            </a:r>
          </a:p>
          <a:p>
            <a:pPr lvl="1">
              <a:lnSpc>
                <a:spcPts val="2400"/>
              </a:lnSpc>
              <a:spcBef>
                <a:spcPts val="100"/>
              </a:spcBef>
              <a:spcAft>
                <a:spcPts val="100"/>
              </a:spcAft>
              <a:defRPr/>
            </a:pPr>
            <a:r>
              <a:rPr lang="en-US" altLang="zh-CN" sz="1200" dirty="0">
                <a:solidFill>
                  <a:srgbClr val="92D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4</a:t>
            </a:r>
            <a:r>
              <a:rPr lang="zh-CN" altLang="en-US" sz="1200" dirty="0">
                <a:solidFill>
                  <a:srgbClr val="92D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、浅绿色状态控制 </a:t>
            </a:r>
            <a:r>
              <a:rPr lang="en-US" altLang="zh-CN" sz="1200" dirty="0" err="1">
                <a:solidFill>
                  <a:srgbClr val="92D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GroupD</a:t>
            </a:r>
            <a:r>
              <a:rPr lang="en-US" altLang="zh-CN" sz="1200" dirty="0">
                <a:solidFill>
                  <a:srgbClr val="92D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1200" dirty="0">
                <a:solidFill>
                  <a:srgbClr val="92D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电源域的使能：</a:t>
            </a:r>
            <a:endParaRPr lang="en-US" altLang="zh-CN" sz="1200" dirty="0">
              <a:solidFill>
                <a:srgbClr val="92D05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lvl="1">
              <a:lnSpc>
                <a:spcPts val="2400"/>
              </a:lnSpc>
              <a:spcBef>
                <a:spcPts val="100"/>
              </a:spcBef>
              <a:spcAft>
                <a:spcPts val="100"/>
              </a:spcAft>
              <a:defRPr/>
            </a:pPr>
            <a:r>
              <a:rPr lang="en-US" altLang="zh-CN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1200" dirty="0" err="1" smtClean="0">
                <a:solidFill>
                  <a:srgbClr val="92D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CPU_AUDIO</a:t>
            </a:r>
            <a:r>
              <a:rPr lang="zh-CN" altLang="en-US" sz="1200" dirty="0">
                <a:solidFill>
                  <a:srgbClr val="92D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电源开启</a:t>
            </a:r>
            <a:r>
              <a:rPr lang="en-US" altLang="zh-CN" sz="1200" dirty="0">
                <a:solidFill>
                  <a:srgbClr val="92D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</a:t>
            </a:r>
            <a:r>
              <a:rPr lang="en-US" altLang="zh-CN" sz="1200" dirty="0" smtClean="0">
                <a:solidFill>
                  <a:srgbClr val="92D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0x14)</a:t>
            </a:r>
            <a:r>
              <a:rPr lang="en-US" altLang="zh-CN" sz="1200" dirty="0">
                <a:solidFill>
                  <a:srgbClr val="92D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→ CPU_SOC</a:t>
            </a:r>
            <a:r>
              <a:rPr lang="zh-CN" altLang="en-US" sz="1200" dirty="0">
                <a:solidFill>
                  <a:srgbClr val="92D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电源开启</a:t>
            </a:r>
            <a:r>
              <a:rPr lang="en-US" altLang="zh-CN" sz="1200" dirty="0">
                <a:solidFill>
                  <a:srgbClr val="92D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</a:t>
            </a:r>
            <a:r>
              <a:rPr lang="en-US" altLang="zh-CN" sz="1200" dirty="0" smtClean="0">
                <a:solidFill>
                  <a:srgbClr val="92D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0x15) </a:t>
            </a:r>
            <a:r>
              <a:rPr lang="en-US" altLang="zh-CN" sz="1200" dirty="0">
                <a:solidFill>
                  <a:srgbClr val="92D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→ CPU_CORE0</a:t>
            </a:r>
            <a:r>
              <a:rPr lang="zh-CN" altLang="en-US" sz="1200" dirty="0">
                <a:solidFill>
                  <a:srgbClr val="92D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电源开启</a:t>
            </a:r>
            <a:r>
              <a:rPr lang="en-US" altLang="zh-CN" sz="1200" dirty="0">
                <a:solidFill>
                  <a:srgbClr val="92D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</a:t>
            </a:r>
            <a:r>
              <a:rPr lang="en-US" altLang="zh-CN" sz="1200" dirty="0" smtClean="0">
                <a:solidFill>
                  <a:srgbClr val="92D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0x16) </a:t>
            </a:r>
            <a:r>
              <a:rPr lang="en-US" altLang="zh-CN" sz="1200" dirty="0">
                <a:solidFill>
                  <a:srgbClr val="92D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→ CPU_CORE1</a:t>
            </a:r>
            <a:r>
              <a:rPr lang="zh-CN" altLang="en-US" sz="1200" dirty="0">
                <a:solidFill>
                  <a:srgbClr val="92D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电源开启</a:t>
            </a:r>
            <a:r>
              <a:rPr lang="en-US" altLang="zh-CN" sz="1200" dirty="0">
                <a:solidFill>
                  <a:srgbClr val="92D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</a:t>
            </a:r>
            <a:r>
              <a:rPr lang="en-US" altLang="zh-CN" sz="1200" dirty="0" smtClean="0">
                <a:solidFill>
                  <a:srgbClr val="92D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0x17) </a:t>
            </a:r>
            <a:r>
              <a:rPr lang="en-US" altLang="zh-CN" sz="1200" dirty="0">
                <a:solidFill>
                  <a:srgbClr val="92D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→ </a:t>
            </a:r>
            <a:r>
              <a:rPr lang="zh-CN" altLang="en-US" sz="1200" dirty="0">
                <a:solidFill>
                  <a:srgbClr val="92D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释放</a:t>
            </a:r>
            <a:r>
              <a:rPr lang="en-US" altLang="zh-CN" sz="1200" dirty="0">
                <a:solidFill>
                  <a:srgbClr val="92D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CPU </a:t>
            </a:r>
            <a:r>
              <a:rPr lang="en-US" altLang="zh-CN" sz="1200" dirty="0" err="1" smtClean="0">
                <a:solidFill>
                  <a:srgbClr val="92D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PWR_GOOD</a:t>
            </a:r>
            <a:r>
              <a:rPr lang="en-US" altLang="zh-CN" sz="1200" dirty="0" smtClean="0">
                <a:solidFill>
                  <a:srgbClr val="92D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(0x18)</a:t>
            </a:r>
            <a:r>
              <a:rPr lang="en-US" altLang="zh-CN" sz="1200" dirty="0">
                <a:solidFill>
                  <a:srgbClr val="92D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→ </a:t>
            </a:r>
            <a:r>
              <a:rPr lang="zh-CN" altLang="en-US" sz="1200" dirty="0">
                <a:solidFill>
                  <a:srgbClr val="92D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等待电源稳定</a:t>
            </a:r>
            <a:r>
              <a:rPr lang="en-US" altLang="zh-CN" sz="1200" dirty="0">
                <a:solidFill>
                  <a:srgbClr val="92D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</a:t>
            </a:r>
            <a:r>
              <a:rPr lang="en-US" altLang="zh-CN" sz="1200" dirty="0" smtClean="0">
                <a:solidFill>
                  <a:srgbClr val="92D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0x19) </a:t>
            </a:r>
            <a:r>
              <a:rPr lang="en-US" altLang="zh-CN" sz="1200" dirty="0">
                <a:solidFill>
                  <a:srgbClr val="92D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→</a:t>
            </a:r>
          </a:p>
          <a:p>
            <a:pPr lvl="1">
              <a:lnSpc>
                <a:spcPts val="2400"/>
              </a:lnSpc>
              <a:spcBef>
                <a:spcPts val="100"/>
              </a:spcBef>
              <a:spcAft>
                <a:spcPts val="100"/>
              </a:spcAft>
              <a:defRPr/>
            </a:pPr>
            <a:r>
              <a:rPr lang="en-US" altLang="zh-CN" sz="1200" dirty="0">
                <a:solidFill>
                  <a:srgbClr val="FFC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5</a:t>
            </a:r>
            <a:r>
              <a:rPr lang="zh-CN" altLang="en-US" sz="1200" dirty="0">
                <a:solidFill>
                  <a:srgbClr val="FFC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、橙色是故障触发下电流程</a:t>
            </a:r>
            <a:endParaRPr lang="en-US" altLang="zh-CN" sz="1200" dirty="0">
              <a:solidFill>
                <a:srgbClr val="FFC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lvl="1">
              <a:lnSpc>
                <a:spcPts val="2400"/>
              </a:lnSpc>
              <a:spcBef>
                <a:spcPts val="100"/>
              </a:spcBef>
              <a:spcAft>
                <a:spcPts val="100"/>
              </a:spcAft>
              <a:defRPr/>
            </a:pPr>
            <a:r>
              <a:rPr lang="en-US" altLang="zh-CN" sz="1200" dirty="0">
                <a:solidFill>
                  <a:srgbClr val="FFC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1200" dirty="0">
                <a:solidFill>
                  <a:srgbClr val="E325C3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系统稳定运行</a:t>
            </a:r>
            <a:r>
              <a:rPr lang="en-US" altLang="zh-CN" sz="1200" dirty="0">
                <a:solidFill>
                  <a:srgbClr val="E325C3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(0x20</a:t>
            </a:r>
            <a:r>
              <a:rPr lang="zh-CN" altLang="en-US" sz="1200" dirty="0">
                <a:solidFill>
                  <a:srgbClr val="E325C3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</a:t>
            </a:r>
            <a:r>
              <a:rPr lang="en-US" altLang="zh-CN" sz="1200" dirty="0">
                <a:solidFill>
                  <a:srgbClr val="E325C3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SM_STEADY_PWROK) </a:t>
            </a:r>
            <a:r>
              <a:rPr lang="en-US" altLang="zh-CN" sz="1200" dirty="0">
                <a:solidFill>
                  <a:srgbClr val="FFC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→</a:t>
            </a:r>
            <a:r>
              <a:rPr lang="zh-CN" altLang="en-US" sz="1200" dirty="0">
                <a:solidFill>
                  <a:srgbClr val="FFC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关闭</a:t>
            </a:r>
            <a:r>
              <a:rPr lang="en-US" altLang="zh-CN" sz="1200" dirty="0">
                <a:solidFill>
                  <a:srgbClr val="FFC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CPU PWR_GOOD(0x21) → </a:t>
            </a:r>
            <a:r>
              <a:rPr lang="zh-CN" altLang="en-US" sz="1200" dirty="0">
                <a:solidFill>
                  <a:srgbClr val="FFC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关闭</a:t>
            </a:r>
            <a:r>
              <a:rPr lang="en-US" altLang="zh-CN" sz="1200" dirty="0">
                <a:solidFill>
                  <a:srgbClr val="FFC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CPU_CORE1</a:t>
            </a:r>
            <a:r>
              <a:rPr lang="zh-CN" altLang="en-US" sz="1200" dirty="0">
                <a:solidFill>
                  <a:srgbClr val="FFC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电源</a:t>
            </a:r>
            <a:r>
              <a:rPr lang="en-US" altLang="zh-CN" sz="1200" dirty="0">
                <a:solidFill>
                  <a:srgbClr val="FFC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(0x22) → </a:t>
            </a:r>
            <a:r>
              <a:rPr lang="zh-CN" altLang="en-US" sz="1200" dirty="0">
                <a:solidFill>
                  <a:srgbClr val="FFC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关闭</a:t>
            </a:r>
            <a:r>
              <a:rPr lang="en-US" altLang="zh-CN" sz="1200" dirty="0">
                <a:solidFill>
                  <a:srgbClr val="FFC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CPU_CORE0</a:t>
            </a:r>
            <a:r>
              <a:rPr lang="zh-CN" altLang="en-US" sz="1200" dirty="0">
                <a:solidFill>
                  <a:srgbClr val="FFC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电源</a:t>
            </a:r>
            <a:r>
              <a:rPr lang="en-US" altLang="zh-CN" sz="1200" dirty="0">
                <a:solidFill>
                  <a:srgbClr val="FFC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(0x23)→ </a:t>
            </a:r>
            <a:r>
              <a:rPr lang="zh-CN" altLang="en-US" sz="1200" dirty="0">
                <a:solidFill>
                  <a:srgbClr val="FFC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关闭</a:t>
            </a:r>
            <a:r>
              <a:rPr lang="en-US" altLang="zh-CN" sz="1200" dirty="0">
                <a:solidFill>
                  <a:srgbClr val="FFC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CPU_SOC</a:t>
            </a:r>
            <a:r>
              <a:rPr lang="zh-CN" altLang="en-US" sz="1200" dirty="0">
                <a:solidFill>
                  <a:srgbClr val="FFC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电源</a:t>
            </a:r>
            <a:r>
              <a:rPr lang="en-US" altLang="zh-CN" sz="1200" dirty="0">
                <a:solidFill>
                  <a:srgbClr val="FFC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(0x24) → </a:t>
            </a:r>
            <a:r>
              <a:rPr lang="zh-CN" altLang="en-US" sz="1200" dirty="0">
                <a:solidFill>
                  <a:srgbClr val="FFC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关闭</a:t>
            </a:r>
            <a:r>
              <a:rPr lang="en-US" altLang="zh-CN" sz="1200" dirty="0">
                <a:solidFill>
                  <a:srgbClr val="FFC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CPU_IO</a:t>
            </a:r>
            <a:r>
              <a:rPr lang="zh-CN" altLang="en-US" sz="1200" dirty="0">
                <a:solidFill>
                  <a:srgbClr val="FFC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电源</a:t>
            </a:r>
            <a:r>
              <a:rPr lang="en-US" altLang="zh-CN" sz="1200" dirty="0">
                <a:solidFill>
                  <a:srgbClr val="FFC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(0x25) → </a:t>
            </a:r>
            <a:r>
              <a:rPr lang="zh-CN" altLang="en-US" sz="1200" dirty="0">
                <a:solidFill>
                  <a:srgbClr val="FFC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关闭</a:t>
            </a:r>
            <a:r>
              <a:rPr lang="en-US" altLang="zh-CN" sz="1200" dirty="0">
                <a:solidFill>
                  <a:srgbClr val="FFC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CPU_VDD_1.1V</a:t>
            </a:r>
            <a:r>
              <a:rPr lang="zh-CN" altLang="en-US" sz="1200" dirty="0">
                <a:solidFill>
                  <a:srgbClr val="FFC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电源</a:t>
            </a:r>
            <a:r>
              <a:rPr lang="en-US" altLang="zh-CN" sz="1200" dirty="0">
                <a:solidFill>
                  <a:srgbClr val="FFC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(0x26) </a:t>
            </a:r>
            <a:r>
              <a:rPr lang="en-US" altLang="zh-CN" sz="1200" dirty="0" smtClean="0">
                <a:solidFill>
                  <a:srgbClr val="FFC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→</a:t>
            </a:r>
            <a:r>
              <a:rPr lang="en-US" altLang="zh-CN" sz="1200" dirty="0" smtClean="0">
                <a:solidFill>
                  <a:schemeClr val="bg2">
                    <a:lumMod val="60000"/>
                    <a:lumOff val="4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1200" dirty="0" smtClean="0">
                <a:solidFill>
                  <a:schemeClr val="bg2">
                    <a:lumMod val="60000"/>
                    <a:lumOff val="4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关闭</a:t>
            </a:r>
            <a:r>
              <a:rPr lang="en-US" altLang="zh-CN" sz="1200" dirty="0" err="1" smtClean="0">
                <a:solidFill>
                  <a:schemeClr val="bg2">
                    <a:lumMod val="60000"/>
                    <a:lumOff val="4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ATX</a:t>
            </a:r>
            <a:r>
              <a:rPr lang="zh-CN" altLang="en-US" sz="1200" dirty="0">
                <a:solidFill>
                  <a:schemeClr val="bg2">
                    <a:lumMod val="60000"/>
                    <a:lumOff val="4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电源开启</a:t>
            </a:r>
            <a:r>
              <a:rPr lang="en-US" altLang="zh-CN" sz="1200" dirty="0">
                <a:solidFill>
                  <a:schemeClr val="bg2">
                    <a:lumMod val="60000"/>
                    <a:lumOff val="4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</a:t>
            </a:r>
            <a:r>
              <a:rPr lang="en-US" altLang="zh-CN" sz="1200" dirty="0" smtClean="0">
                <a:solidFill>
                  <a:schemeClr val="bg2">
                    <a:lumMod val="60000"/>
                    <a:lumOff val="4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0x27)</a:t>
            </a:r>
            <a:r>
              <a:rPr lang="en-US" altLang="zh-CN" sz="1200" dirty="0">
                <a:solidFill>
                  <a:srgbClr val="FFC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→</a:t>
            </a:r>
            <a:r>
              <a:rPr lang="zh-CN" altLang="en-US" sz="1200" dirty="0" smtClean="0">
                <a:solidFill>
                  <a:srgbClr val="FFC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关闭</a:t>
            </a:r>
            <a:r>
              <a:rPr lang="en-US" altLang="zh-CN" sz="1200" dirty="0">
                <a:solidFill>
                  <a:srgbClr val="FFC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EFUSE</a:t>
            </a:r>
            <a:r>
              <a:rPr lang="zh-CN" altLang="en-US" sz="1200" dirty="0">
                <a:solidFill>
                  <a:srgbClr val="FFC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电源</a:t>
            </a:r>
            <a:r>
              <a:rPr lang="en-US" altLang="zh-CN" sz="1200" dirty="0">
                <a:solidFill>
                  <a:srgbClr val="FFC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(0x28) → S5</a:t>
            </a:r>
            <a:r>
              <a:rPr lang="zh-CN" altLang="en-US" sz="1200" dirty="0">
                <a:solidFill>
                  <a:srgbClr val="FFC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设备下电</a:t>
            </a:r>
            <a:r>
              <a:rPr lang="en-US" altLang="zh-CN" sz="1200" dirty="0">
                <a:solidFill>
                  <a:srgbClr val="FFC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(0x2B)→ </a:t>
            </a:r>
            <a:r>
              <a:rPr lang="zh-CN" altLang="en-US" sz="1200" dirty="0">
                <a:solidFill>
                  <a:srgbClr val="FFC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待机状态</a:t>
            </a:r>
            <a:r>
              <a:rPr lang="en-US" altLang="zh-CN" sz="1200" dirty="0">
                <a:solidFill>
                  <a:srgbClr val="FFC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(0x08</a:t>
            </a:r>
            <a:r>
              <a:rPr lang="zh-CN" altLang="en-US" sz="1200" dirty="0">
                <a:solidFill>
                  <a:srgbClr val="FFC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</a:t>
            </a:r>
            <a:r>
              <a:rPr lang="en-US" altLang="zh-CN" sz="1200" dirty="0">
                <a:solidFill>
                  <a:srgbClr val="FFC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SM_OFF_STANDBY) </a:t>
            </a:r>
          </a:p>
          <a:p>
            <a:pPr lvl="1">
              <a:lnSpc>
                <a:spcPts val="2400"/>
              </a:lnSpc>
              <a:spcBef>
                <a:spcPts val="100"/>
              </a:spcBef>
              <a:spcAft>
                <a:spcPts val="100"/>
              </a:spcAft>
              <a:defRPr/>
            </a:pPr>
            <a:endParaRPr lang="en-US" altLang="zh-CN" sz="1200" dirty="0">
              <a:solidFill>
                <a:srgbClr val="00B0F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13" name="图片 12">
            <a:extLst>
              <a:ext uri="{FF2B5EF4-FFF2-40B4-BE49-F238E27FC236}">
                <a16:creationId xmlns="" xmlns:a16="http://schemas.microsoft.com/office/drawing/2014/main" id="{1AE1DFCD-1015-3C95-9646-7FC96E54976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9591" y="1336888"/>
            <a:ext cx="4761197" cy="3984958"/>
          </a:xfrm>
          <a:prstGeom prst="rect">
            <a:avLst/>
          </a:prstGeom>
        </p:spPr>
      </p:pic>
      <p:sp>
        <p:nvSpPr>
          <p:cNvPr id="7" name="文本框 6">
            <a:extLst>
              <a:ext uri="{FF2B5EF4-FFF2-40B4-BE49-F238E27FC236}">
                <a16:creationId xmlns="" xmlns:a16="http://schemas.microsoft.com/office/drawing/2014/main" id="{2BC0A0A8-0C9C-2D51-D930-A3AB6D1663CB}"/>
              </a:ext>
            </a:extLst>
          </p:cNvPr>
          <p:cNvSpPr txBox="1"/>
          <p:nvPr/>
        </p:nvSpPr>
        <p:spPr>
          <a:xfrm>
            <a:off x="527260" y="1056749"/>
            <a:ext cx="482851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n"/>
              <a:defRPr/>
            </a:pPr>
            <a:r>
              <a:rPr lang="zh-CN" altLang="en-US" sz="1600" b="1" dirty="0" smtClean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例</a:t>
            </a:r>
            <a:r>
              <a:rPr lang="en-US" altLang="zh-CN" sz="1600" b="1" dirty="0" smtClean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</a:t>
            </a:r>
            <a:r>
              <a:rPr lang="zh-CN" altLang="en-US" sz="1600" b="1" dirty="0" smtClean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：东</a:t>
            </a:r>
            <a:r>
              <a:rPr lang="zh-CN" altLang="en-US" sz="1600" b="1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湖一</a:t>
            </a:r>
            <a:r>
              <a:rPr lang="zh-CN" altLang="en-US" sz="1600" b="1" dirty="0" smtClean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号</a:t>
            </a:r>
            <a:r>
              <a:rPr lang="zh-CN" altLang="en-US" sz="1600" b="1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电源上下电（集总）</a:t>
            </a:r>
            <a:endParaRPr lang="en-US" altLang="zh-CN" sz="1600" b="1" dirty="0">
              <a:solidFill>
                <a:prstClr val="black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17283660"/>
      </p:ext>
    </p:extLst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42857366-A2DB-824A-4A7A-8A567416A5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="" xmlns:a16="http://schemas.microsoft.com/office/drawing/2014/main" id="{247A6696-938F-F67A-BBEE-C75173CF363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27260" y="356659"/>
            <a:ext cx="9134596" cy="609600"/>
          </a:xfrm>
          <a:prstGeom prst="rect">
            <a:avLst/>
          </a:prstGeom>
        </p:spPr>
        <p:txBody>
          <a:bodyPr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lvl="0" fontAlgn="auto">
              <a:spcAft>
                <a:spcPts val="0"/>
              </a:spcAft>
              <a:defRPr/>
            </a:pPr>
            <a:r>
              <a:rPr kumimoji="0" lang="zh-CN" alt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/>
                <a:ea typeface="微软雅黑"/>
                <a:cs typeface="+mj-cs"/>
              </a:rPr>
              <a:t>工作</a:t>
            </a:r>
            <a:r>
              <a:rPr kumimoji="0" lang="zh-CN" altLang="en-US" sz="24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/>
                <a:ea typeface="微软雅黑"/>
                <a:cs typeface="+mj-cs"/>
              </a:rPr>
              <a:t>内容</a:t>
            </a:r>
            <a:r>
              <a:rPr kumimoji="0" lang="en-US" altLang="zh-CN" sz="24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/>
                <a:ea typeface="微软雅黑"/>
                <a:cs typeface="+mj-cs"/>
              </a:rPr>
              <a:t>2</a:t>
            </a:r>
            <a:r>
              <a:rPr kumimoji="0" lang="zh-CN" altLang="en-US" sz="24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/>
                <a:ea typeface="微软雅黑"/>
                <a:cs typeface="+mj-cs"/>
              </a:rPr>
              <a:t> </a:t>
            </a:r>
            <a:r>
              <a:rPr kumimoji="0" lang="en-US" altLang="zh-CN" sz="24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/>
                <a:ea typeface="微软雅黑"/>
                <a:cs typeface="+mj-cs"/>
              </a:rPr>
              <a:t>—</a:t>
            </a:r>
            <a:r>
              <a:rPr kumimoji="0" lang="zh-CN" altLang="en-US" sz="24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/>
                <a:ea typeface="微软雅黑"/>
                <a:cs typeface="+mj-cs"/>
              </a:rPr>
              <a:t>欧康诺</a:t>
            </a:r>
            <a:r>
              <a:rPr lang="zh-CN" altLang="en-US" sz="2400" dirty="0" smtClean="0">
                <a:solidFill>
                  <a:prstClr val="black"/>
                </a:solidFill>
                <a:latin typeface="微软雅黑"/>
                <a:ea typeface="微软雅黑"/>
              </a:rPr>
              <a:t>电源</a:t>
            </a:r>
            <a:r>
              <a:rPr lang="zh-CN" altLang="en-US" sz="2400" dirty="0">
                <a:solidFill>
                  <a:prstClr val="black"/>
                </a:solidFill>
                <a:latin typeface="微软雅黑"/>
                <a:ea typeface="微软雅黑"/>
              </a:rPr>
              <a:t>上下</a:t>
            </a:r>
            <a:r>
              <a:rPr lang="zh-CN" altLang="en-US" sz="2400" dirty="0" smtClean="0">
                <a:solidFill>
                  <a:prstClr val="black"/>
                </a:solidFill>
                <a:latin typeface="微软雅黑"/>
                <a:ea typeface="微软雅黑"/>
              </a:rPr>
              <a:t>电</a:t>
            </a:r>
            <a:r>
              <a:rPr lang="zh-CN" altLang="en-US" sz="2400" dirty="0">
                <a:solidFill>
                  <a:prstClr val="black"/>
                </a:solidFill>
                <a:latin typeface="微软雅黑"/>
                <a:ea typeface="微软雅黑"/>
              </a:rPr>
              <a:t>方案</a:t>
            </a:r>
            <a:endParaRPr kumimoji="0" lang="zh-CN" altLang="en-US" sz="2400" b="0" i="0" u="none" strike="noStrike" kern="1200" cap="none" spc="0" normalizeH="0" baseline="0" noProof="0" dirty="0">
              <a:ln>
                <a:noFill/>
              </a:ln>
              <a:solidFill>
                <a:srgbClr val="FFC000"/>
              </a:solidFill>
              <a:effectLst/>
              <a:uLnTx/>
              <a:uFillTx/>
              <a:latin typeface="宋体" panose="02010600030101010101" pitchFamily="2" charset="-122"/>
              <a:ea typeface="宋体" panose="02010600030101010101" pitchFamily="2" charset="-122"/>
              <a:cs typeface="+mj-cs"/>
            </a:endParaRPr>
          </a:p>
        </p:txBody>
      </p:sp>
      <p:cxnSp>
        <p:nvCxnSpPr>
          <p:cNvPr id="5" name="直接连接符 4">
            <a:extLst>
              <a:ext uri="{FF2B5EF4-FFF2-40B4-BE49-F238E27FC236}">
                <a16:creationId xmlns="" xmlns:a16="http://schemas.microsoft.com/office/drawing/2014/main" id="{0F6A4A75-C2EE-20C3-81C0-5D6D016275CF}"/>
              </a:ext>
            </a:extLst>
          </p:cNvPr>
          <p:cNvCxnSpPr>
            <a:cxnSpLocks/>
          </p:cNvCxnSpPr>
          <p:nvPr/>
        </p:nvCxnSpPr>
        <p:spPr>
          <a:xfrm>
            <a:off x="6333883" y="1096773"/>
            <a:ext cx="0" cy="5330286"/>
          </a:xfrm>
          <a:prstGeom prst="line">
            <a:avLst/>
          </a:prstGeom>
          <a:ln w="9525" cap="flat" cmpd="sng" algn="ctr">
            <a:solidFill>
              <a:schemeClr val="accent5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2" name="矩形 1">
            <a:extLst>
              <a:ext uri="{FF2B5EF4-FFF2-40B4-BE49-F238E27FC236}">
                <a16:creationId xmlns="" xmlns:a16="http://schemas.microsoft.com/office/drawing/2014/main" id="{7A80F02A-C8A0-6123-33BC-4C338141368D}"/>
              </a:ext>
            </a:extLst>
          </p:cNvPr>
          <p:cNvSpPr/>
          <p:nvPr/>
        </p:nvSpPr>
        <p:spPr>
          <a:xfrm>
            <a:off x="365760" y="1387677"/>
            <a:ext cx="5934492" cy="526297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1200" b="1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1</a:t>
            </a:r>
            <a:r>
              <a:rPr lang="zh-CN" altLang="en-US" sz="1200" b="1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、特点：主电和辅电分模块控制：</a:t>
            </a:r>
            <a:endParaRPr lang="en-US" altLang="zh-CN" sz="12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lang="en-US" altLang="zh-CN" sz="1200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master_fub</a:t>
            </a:r>
            <a:r>
              <a:rPr lang="zh-CN" altLang="en-US" sz="12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：电源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时序的顶层控制模块</a:t>
            </a:r>
            <a:endParaRPr lang="en-US" altLang="zh-CN" sz="1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lang="en-US" altLang="zh-CN" sz="1200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cpu_aux</a:t>
            </a:r>
            <a:r>
              <a:rPr lang="zh-CN" altLang="en-US" sz="12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cpu</a:t>
            </a:r>
            <a:r>
              <a:rPr lang="en-US" altLang="zh-CN" sz="12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0/1 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的辅助电源上下电。</a:t>
            </a:r>
          </a:p>
          <a:p>
            <a:r>
              <a:rPr lang="en-US" altLang="zh-CN" sz="1200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bnc_cpu_mem_seq</a:t>
            </a:r>
            <a:r>
              <a:rPr lang="zh-CN" altLang="en-US" sz="12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cpu</a:t>
            </a:r>
            <a:r>
              <a:rPr lang="en-US" altLang="zh-CN" sz="12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0/1 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核心主电 </a:t>
            </a:r>
            <a:r>
              <a:rPr lang="zh-CN" altLang="en-US" sz="12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和 </a:t>
            </a:r>
            <a:r>
              <a:rPr lang="en-US" altLang="zh-CN" sz="1200" dirty="0" err="1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ddr</a:t>
            </a:r>
            <a:r>
              <a:rPr lang="zh-CN" altLang="en-US" sz="12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内存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电源的上下电</a:t>
            </a:r>
            <a:r>
              <a:rPr lang="zh-CN" altLang="en-US" sz="12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。</a:t>
            </a:r>
            <a:endParaRPr lang="en-US" altLang="zh-CN" sz="1200" dirty="0" smtClean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endParaRPr lang="en-US" altLang="zh-CN" sz="1200" b="1" dirty="0" smtClean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lang="en-US" altLang="zh-CN" sz="1200" b="1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2</a:t>
            </a:r>
            <a:r>
              <a:rPr lang="zh-CN" altLang="en-US" sz="1200" b="1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、辅电状态跳转：</a:t>
            </a:r>
            <a:endParaRPr lang="en-US" altLang="zh-CN" sz="1200" b="1" dirty="0" smtClean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endParaRPr lang="en-US" altLang="zh-CN" sz="1200" b="1" dirty="0" smtClean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lang="zh-CN" altLang="en-US" sz="1200" b="1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上</a:t>
            </a:r>
            <a:r>
              <a:rPr lang="zh-CN" altLang="en-US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电正向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r>
              <a:rPr lang="en-US" altLang="zh-CN" sz="1200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ST_INIT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 → </a:t>
            </a:r>
            <a:r>
              <a:rPr lang="en-US" altLang="zh-CN" sz="1200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ST_PVCCFA_EHV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 → </a:t>
            </a:r>
            <a:r>
              <a:rPr lang="en-US" altLang="zh-CN" sz="1200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ST_PVNN_MAIN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 → </a:t>
            </a:r>
            <a:r>
              <a:rPr lang="en-US" altLang="zh-CN" sz="1200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ST_CPU_AUX_ON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 (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完成，输出</a:t>
            </a:r>
            <a:r>
              <a:rPr lang="en-US" altLang="zh-CN" sz="1200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PWRGD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=1) </a:t>
            </a:r>
            <a:endParaRPr lang="en-US" altLang="zh-CN" sz="1200" dirty="0" smtClean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endParaRPr lang="en-US" altLang="zh-CN" sz="1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lang="zh-CN" altLang="en-US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下电反向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r>
              <a:rPr lang="en-US" altLang="zh-CN" sz="1200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ST_CPU_AUX_ON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 → </a:t>
            </a:r>
            <a:r>
              <a:rPr lang="en-US" altLang="zh-CN" sz="1200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ST_PVNN_MAIN_OFF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 → </a:t>
            </a:r>
            <a:r>
              <a:rPr lang="en-US" altLang="zh-CN" sz="1200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ST_PVCCFA_EHV_OFF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 → </a:t>
            </a:r>
            <a:r>
              <a:rPr lang="en-US" altLang="zh-CN" sz="1200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ST_INIT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 (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完成，</a:t>
            </a:r>
            <a:r>
              <a:rPr lang="en-US" altLang="zh-CN" sz="1200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PWRGD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=0) </a:t>
            </a:r>
            <a:endParaRPr lang="en-US" altLang="zh-CN" sz="1200" dirty="0" smtClean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endParaRPr lang="en-US" altLang="zh-CN" sz="1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lang="zh-CN" altLang="en-US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异常跳转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：任意状态 → </a:t>
            </a:r>
            <a:r>
              <a:rPr lang="en-US" altLang="zh-CN" sz="12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ERROR/TIMEOUT</a:t>
            </a:r>
            <a:r>
              <a:rPr lang="zh-CN" altLang="en-US" sz="12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→ 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上报</a:t>
            </a:r>
            <a:r>
              <a:rPr lang="en-US" altLang="zh-CN" sz="1200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master_fub</a:t>
            </a:r>
            <a:r>
              <a:rPr lang="zh-CN" altLang="en-US" sz="12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进入</a:t>
            </a:r>
            <a:r>
              <a:rPr lang="en-US" altLang="zh-CN" sz="1200" dirty="0" err="1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ST_ERROR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错误态</a:t>
            </a:r>
          </a:p>
          <a:p>
            <a:endParaRPr lang="en-US" altLang="zh-CN" sz="1200" dirty="0" smtClean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endParaRPr lang="en-US" altLang="zh-CN" sz="1200" dirty="0" smtClean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lang="en-US" altLang="zh-CN" sz="1200" b="1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3</a:t>
            </a:r>
            <a:r>
              <a:rPr lang="zh-CN" altLang="en-US" sz="1200" b="1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、主电</a:t>
            </a:r>
            <a:r>
              <a:rPr lang="zh-CN" altLang="en-US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状态跳转：</a:t>
            </a:r>
            <a:endParaRPr lang="en-US" altLang="zh-CN" sz="12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endParaRPr lang="en-US" altLang="zh-CN" sz="1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lang="zh-CN" altLang="en-US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上电正向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r>
              <a:rPr lang="en-US" altLang="zh-CN" sz="1200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ST_INIT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 → </a:t>
            </a:r>
            <a:r>
              <a:rPr lang="en-US" altLang="zh-CN" sz="1200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ST_PVCCD_HV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 → </a:t>
            </a:r>
            <a:r>
              <a:rPr lang="en-US" altLang="zh-CN" sz="1200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ST_PVCCFA_EHV_FIVRA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 → </a:t>
            </a:r>
            <a:r>
              <a:rPr lang="en-US" altLang="zh-CN" sz="1200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ST_PVCCINFAON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 → </a:t>
            </a:r>
            <a:r>
              <a:rPr lang="en-US" altLang="zh-CN" sz="1200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ST_PVCCIN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 → </a:t>
            </a:r>
            <a:r>
              <a:rPr lang="en-US" altLang="zh-CN" sz="1200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ST_CPUDONE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 (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完成，输出</a:t>
            </a:r>
            <a:r>
              <a:rPr lang="en-US" altLang="zh-CN" sz="1200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PWR_OK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=1) </a:t>
            </a:r>
            <a:endParaRPr lang="en-US" altLang="zh-CN" sz="1200" dirty="0" smtClean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endParaRPr lang="en-US" altLang="zh-CN" sz="1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lang="zh-CN" altLang="en-US" sz="1200" b="1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下</a:t>
            </a:r>
            <a:r>
              <a:rPr lang="zh-CN" altLang="en-US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电反向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r>
              <a:rPr lang="en-US" altLang="zh-CN" sz="1200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ST_CPUDONE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 → </a:t>
            </a:r>
            <a:r>
              <a:rPr lang="en-US" altLang="zh-CN" sz="1200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ST_PVCCIN_OFF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 → </a:t>
            </a:r>
            <a:r>
              <a:rPr lang="en-US" altLang="zh-CN" sz="1200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ST_PVCCINFAON_OFF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 → </a:t>
            </a:r>
            <a:r>
              <a:rPr lang="en-US" altLang="zh-CN" sz="1200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ST_PVCCFA_EHV_FIVRA_OFF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 → </a:t>
            </a:r>
            <a:r>
              <a:rPr lang="en-US" altLang="zh-CN" sz="1200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ST_PVCCD_HV_OFF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 → </a:t>
            </a:r>
            <a:r>
              <a:rPr lang="en-US" altLang="zh-CN" sz="1200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ST_INIT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 (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完成，</a:t>
            </a:r>
            <a:r>
              <a:rPr lang="en-US" altLang="zh-CN" sz="1200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PWR_OK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=0) </a:t>
            </a:r>
            <a:endParaRPr lang="en-US" altLang="zh-CN" sz="1200" dirty="0" smtClean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endParaRPr lang="en-US" altLang="zh-CN" sz="1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lang="zh-CN" altLang="en-US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异常跳转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：任意状态 → </a:t>
            </a:r>
            <a:r>
              <a:rPr lang="en-US" altLang="zh-CN" sz="1200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ST_PWROFF_TIMEOUT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（下电超时）→ 上报</a:t>
            </a:r>
            <a:r>
              <a:rPr lang="en-US" altLang="zh-CN" sz="1200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master_fub</a:t>
            </a:r>
            <a:r>
              <a:rPr lang="zh-CN" altLang="en-US" sz="12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进入</a:t>
            </a:r>
            <a:r>
              <a:rPr lang="en-US" altLang="zh-CN" sz="1200" dirty="0" err="1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ST_ERROR</a:t>
            </a:r>
            <a:r>
              <a:rPr lang="zh-CN" altLang="en-US" sz="12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错误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态</a:t>
            </a:r>
          </a:p>
          <a:p>
            <a:endParaRPr lang="zh-CN" altLang="en-US" sz="1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4" name="图片 3">
            <a:extLst>
              <a:ext uri="{FF2B5EF4-FFF2-40B4-BE49-F238E27FC236}">
                <a16:creationId xmlns="" xmlns:a16="http://schemas.microsoft.com/office/drawing/2014/main" id="{1D389CD6-E845-3DA2-3ADA-9C0BB02436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67515" y="1030622"/>
            <a:ext cx="5856567" cy="5417945"/>
          </a:xfrm>
          <a:prstGeom prst="rect">
            <a:avLst/>
          </a:prstGeom>
        </p:spPr>
      </p:pic>
      <p:sp>
        <p:nvSpPr>
          <p:cNvPr id="6" name="文本框 5">
            <a:extLst>
              <a:ext uri="{FF2B5EF4-FFF2-40B4-BE49-F238E27FC236}">
                <a16:creationId xmlns="" xmlns:a16="http://schemas.microsoft.com/office/drawing/2014/main" id="{2BC0A0A8-0C9C-2D51-D930-A3AB6D1663CB}"/>
              </a:ext>
            </a:extLst>
          </p:cNvPr>
          <p:cNvSpPr txBox="1"/>
          <p:nvPr/>
        </p:nvSpPr>
        <p:spPr>
          <a:xfrm>
            <a:off x="527260" y="1030623"/>
            <a:ext cx="1021541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n"/>
              <a:defRPr/>
            </a:pPr>
            <a:r>
              <a:rPr lang="zh-CN" altLang="en-US" sz="1600" b="1" dirty="0" smtClean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例</a:t>
            </a:r>
            <a:r>
              <a:rPr lang="en-US" altLang="zh-CN" sz="1600" b="1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</a:t>
            </a:r>
            <a:r>
              <a:rPr lang="zh-CN" altLang="en-US" sz="1600" b="1" dirty="0" smtClean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：东</a:t>
            </a:r>
            <a:r>
              <a:rPr lang="zh-CN" altLang="en-US" sz="1600" b="1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湖一</a:t>
            </a:r>
            <a:r>
              <a:rPr lang="zh-CN" altLang="en-US" sz="1600" b="1" dirty="0" smtClean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号</a:t>
            </a:r>
            <a:r>
              <a:rPr lang="zh-CN" altLang="en-US" sz="1600" b="1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电源上下</a:t>
            </a:r>
            <a:r>
              <a:rPr lang="zh-CN" altLang="en-US" sz="1600" b="1" dirty="0" smtClean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电（分模块）</a:t>
            </a:r>
            <a:endParaRPr lang="en-US" altLang="zh-CN" sz="1600" b="1" dirty="0">
              <a:solidFill>
                <a:prstClr val="black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209960784"/>
      </p:ext>
    </p:extLst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441C1419-120D-DC1F-C21A-56303716ED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="" xmlns:a16="http://schemas.microsoft.com/office/drawing/2014/main" id="{BF62F1C8-BD5E-AB89-0E19-C79DD8E1455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27260" y="356659"/>
            <a:ext cx="9134596" cy="609600"/>
          </a:xfrm>
          <a:prstGeom prst="rect">
            <a:avLst/>
          </a:prstGeom>
        </p:spPr>
        <p:txBody>
          <a:bodyPr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/>
                <a:ea typeface="微软雅黑"/>
                <a:cs typeface="+mj-cs"/>
              </a:rPr>
              <a:t>工作</a:t>
            </a:r>
            <a:r>
              <a:rPr kumimoji="0" lang="zh-CN" altLang="en-US" sz="24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/>
                <a:ea typeface="微软雅黑"/>
                <a:cs typeface="+mj-cs"/>
              </a:rPr>
              <a:t>内容</a:t>
            </a:r>
            <a:r>
              <a:rPr lang="en-US" altLang="zh-CN" sz="2400" dirty="0">
                <a:solidFill>
                  <a:prstClr val="black"/>
                </a:solidFill>
                <a:latin typeface="微软雅黑"/>
                <a:ea typeface="微软雅黑"/>
              </a:rPr>
              <a:t>3</a:t>
            </a:r>
            <a:r>
              <a:rPr kumimoji="0" lang="zh-CN" altLang="en-US" sz="24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/>
                <a:ea typeface="微软雅黑"/>
                <a:cs typeface="+mj-cs"/>
              </a:rPr>
              <a:t> </a:t>
            </a:r>
            <a:r>
              <a:rPr kumimoji="0" lang="en-US" altLang="zh-CN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/>
                <a:ea typeface="微软雅黑"/>
                <a:cs typeface="+mj-cs"/>
              </a:rPr>
              <a:t>— </a:t>
            </a:r>
            <a:r>
              <a:rPr kumimoji="0" lang="zh-CN" altLang="en-US" sz="24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/>
                <a:ea typeface="微软雅黑"/>
                <a:cs typeface="+mj-cs"/>
              </a:rPr>
              <a:t>逻辑功能</a:t>
            </a:r>
            <a:r>
              <a:rPr kumimoji="0" lang="zh-CN" alt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/>
                <a:ea typeface="微软雅黑"/>
                <a:cs typeface="+mj-cs"/>
              </a:rPr>
              <a:t>调试</a:t>
            </a:r>
            <a:endParaRPr kumimoji="0" lang="zh-CN" altLang="en-US" sz="2400" b="0" i="0" u="none" strike="noStrike" kern="1200" cap="none" spc="0" normalizeH="0" baseline="0" noProof="0" dirty="0">
              <a:ln>
                <a:noFill/>
              </a:ln>
              <a:solidFill>
                <a:srgbClr val="FFC000"/>
              </a:solidFill>
              <a:effectLst/>
              <a:uLnTx/>
              <a:uFillTx/>
              <a:latin typeface="宋体" panose="02010600030101010101" pitchFamily="2" charset="-122"/>
              <a:ea typeface="宋体" panose="02010600030101010101" pitchFamily="2" charset="-122"/>
              <a:cs typeface="+mj-cs"/>
            </a:endParaRPr>
          </a:p>
        </p:txBody>
      </p:sp>
      <p:graphicFrame>
        <p:nvGraphicFramePr>
          <p:cNvPr id="2" name="表格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69924837"/>
              </p:ext>
            </p:extLst>
          </p:nvPr>
        </p:nvGraphicFramePr>
        <p:xfrm>
          <a:off x="527260" y="1490582"/>
          <a:ext cx="11418388" cy="4912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3783"/>
                <a:gridCol w="1923783"/>
                <a:gridCol w="3573602"/>
                <a:gridCol w="3997220"/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所属项目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调试问题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21917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故障原因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解决思路</a:t>
                      </a:r>
                      <a:r>
                        <a:rPr lang="en-US" altLang="zh-CN" sz="1400" dirty="0" smtClean="0">
                          <a:solidFill>
                            <a:schemeClr val="tx1"/>
                          </a:solidFill>
                        </a:rPr>
                        <a:t>/</a:t>
                      </a:r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方法</a:t>
                      </a:r>
                      <a:endParaRPr lang="zh-CN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</a:tr>
              <a:tr h="1453278">
                <a:tc>
                  <a:txBody>
                    <a:bodyPr/>
                    <a:lstStyle/>
                    <a:p>
                      <a:pPr marL="0" algn="l" defTabSz="1219170" rtl="0" eaLnBrk="1" latinLnBrk="0" hangingPunct="1"/>
                      <a:r>
                        <a:rPr lang="zh-CN" altLang="en-US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东湖一号</a:t>
                      </a:r>
                      <a:endParaRPr lang="en-US" altLang="zh-CN" sz="14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l" defTabSz="1219170" rtl="0" eaLnBrk="1" latinLnBrk="0" hangingPunct="1"/>
                      <a:r>
                        <a:rPr lang="zh-CN" altLang="en-US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电源上电故障</a:t>
                      </a:r>
                      <a:endParaRPr lang="en-US" altLang="zh-CN" sz="14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121917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zh-CN" sz="1400" dirty="0" smtClean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121917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（</a:t>
                      </a:r>
                      <a:r>
                        <a:rPr lang="en-US" altLang="zh-CN" sz="1400" dirty="0" smtClean="0">
                          <a:solidFill>
                            <a:schemeClr val="tx1"/>
                          </a:solidFill>
                        </a:rPr>
                        <a:t>1</a:t>
                      </a:r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）</a:t>
                      </a:r>
                      <a:r>
                        <a:rPr lang="en-US" altLang="zh-CN" sz="1400" dirty="0" smtClean="0">
                          <a:solidFill>
                            <a:schemeClr val="tx1"/>
                          </a:solidFill>
                        </a:rPr>
                        <a:t>B</a:t>
                      </a:r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组：</a:t>
                      </a:r>
                      <a:r>
                        <a:rPr lang="zh-CN" altLang="en-US" sz="1400" b="1" dirty="0" smtClean="0">
                          <a:solidFill>
                            <a:schemeClr val="tx1"/>
                          </a:solidFill>
                        </a:rPr>
                        <a:t>强制上电</a:t>
                      </a:r>
                      <a:r>
                        <a:rPr lang="zh-CN" altLang="en-US" sz="1400" b="1" dirty="0" smtClean="0">
                          <a:solidFill>
                            <a:schemeClr val="tx1"/>
                          </a:solidFill>
                        </a:rPr>
                        <a:t>版本</a:t>
                      </a:r>
                      <a:r>
                        <a:rPr lang="zh-CN" altLang="en-US" sz="1400" b="0" dirty="0" smtClean="0">
                          <a:solidFill>
                            <a:schemeClr val="tx1"/>
                          </a:solidFill>
                        </a:rPr>
                        <a:t>是</a:t>
                      </a:r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对</a:t>
                      </a:r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各组电源的</a:t>
                      </a:r>
                      <a:r>
                        <a:rPr lang="en-US" altLang="zh-CN" sz="1400" dirty="0" smtClean="0">
                          <a:solidFill>
                            <a:schemeClr val="tx1"/>
                          </a:solidFill>
                        </a:rPr>
                        <a:t>PG</a:t>
                      </a:r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信号写死处理</a:t>
                      </a:r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。</a:t>
                      </a:r>
                      <a:r>
                        <a:rPr lang="en-US" altLang="zh-CN" sz="1400" dirty="0" err="1" smtClean="0">
                          <a:solidFill>
                            <a:schemeClr val="tx1"/>
                          </a:solidFill>
                        </a:rPr>
                        <a:t>PVCC_HPMOS_PG</a:t>
                      </a:r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信号未拉</a:t>
                      </a:r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高，</a:t>
                      </a:r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导致</a:t>
                      </a:r>
                      <a:r>
                        <a:rPr lang="en-US" altLang="zh-CN" sz="1400" dirty="0" smtClean="0">
                          <a:solidFill>
                            <a:schemeClr val="tx1"/>
                          </a:solidFill>
                        </a:rPr>
                        <a:t>fault</a:t>
                      </a:r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；</a:t>
                      </a:r>
                      <a:endParaRPr lang="en-US" altLang="zh-CN" sz="1400" dirty="0" smtClean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121917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（</a:t>
                      </a:r>
                      <a:r>
                        <a:rPr lang="en-US" altLang="zh-CN" sz="1400" dirty="0" smtClean="0">
                          <a:solidFill>
                            <a:schemeClr val="tx1"/>
                          </a:solidFill>
                        </a:rPr>
                        <a:t>2</a:t>
                      </a:r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）</a:t>
                      </a:r>
                      <a:r>
                        <a:rPr lang="en-US" altLang="zh-CN" sz="1400" dirty="0" smtClean="0">
                          <a:solidFill>
                            <a:schemeClr val="tx1"/>
                          </a:solidFill>
                        </a:rPr>
                        <a:t>C</a:t>
                      </a:r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组：</a:t>
                      </a:r>
                      <a:r>
                        <a:rPr lang="zh-CN" altLang="en-US" sz="1400" b="1" dirty="0" smtClean="0">
                          <a:solidFill>
                            <a:schemeClr val="tx1"/>
                          </a:solidFill>
                        </a:rPr>
                        <a:t>非强制上电版本</a:t>
                      </a:r>
                      <a:r>
                        <a:rPr lang="zh-CN" altLang="en-US" sz="1400" b="0" dirty="0" smtClean="0">
                          <a:solidFill>
                            <a:schemeClr val="tx1"/>
                          </a:solidFill>
                        </a:rPr>
                        <a:t>，</a:t>
                      </a:r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某些</a:t>
                      </a:r>
                      <a:r>
                        <a:rPr lang="en-US" altLang="zh-CN" sz="1400" dirty="0" smtClean="0">
                          <a:solidFill>
                            <a:schemeClr val="tx1"/>
                          </a:solidFill>
                        </a:rPr>
                        <a:t>EN</a:t>
                      </a:r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使能对应的</a:t>
                      </a:r>
                      <a:r>
                        <a:rPr lang="en-US" altLang="zh-CN" sz="1400" dirty="0" smtClean="0">
                          <a:solidFill>
                            <a:schemeClr val="tx1"/>
                          </a:solidFill>
                        </a:rPr>
                        <a:t>PG</a:t>
                      </a:r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信号未接入逻辑</a:t>
                      </a:r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（</a:t>
                      </a:r>
                      <a:r>
                        <a:rPr lang="en-US" altLang="zh-CN" sz="1400" dirty="0" smtClean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db_i_pgd_c3</a:t>
                      </a:r>
                      <a:r>
                        <a:rPr lang="zh-CN" altLang="en-US" sz="1400" dirty="0" smtClean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未接入</a:t>
                      </a:r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），导致</a:t>
                      </a:r>
                      <a:r>
                        <a:rPr lang="en-US" altLang="zh-CN" sz="1400" dirty="0" smtClean="0">
                          <a:solidFill>
                            <a:schemeClr val="tx1"/>
                          </a:solidFill>
                        </a:rPr>
                        <a:t>fault</a:t>
                      </a:r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；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（</a:t>
                      </a:r>
                      <a:r>
                        <a:rPr lang="en-US" altLang="zh-CN" sz="1400" dirty="0" smtClean="0">
                          <a:solidFill>
                            <a:schemeClr val="tx1"/>
                          </a:solidFill>
                        </a:rPr>
                        <a:t>1</a:t>
                      </a:r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）上电状态跳转一般是逻辑</a:t>
                      </a:r>
                      <a:r>
                        <a:rPr lang="en-US" altLang="zh-CN" sz="1400" dirty="0" smtClean="0">
                          <a:solidFill>
                            <a:schemeClr val="tx1"/>
                          </a:solidFill>
                        </a:rPr>
                        <a:t>PG/EN</a:t>
                      </a:r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检测</a:t>
                      </a:r>
                      <a:r>
                        <a:rPr lang="en-US" altLang="zh-CN" sz="1400" baseline="0" dirty="0" smtClean="0">
                          <a:solidFill>
                            <a:schemeClr val="tx1"/>
                          </a:solidFill>
                        </a:rPr>
                        <a:t>+</a:t>
                      </a:r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延时处理；</a:t>
                      </a:r>
                      <a:endParaRPr lang="en-US" altLang="zh-CN" sz="1400" dirty="0" smtClean="0">
                        <a:solidFill>
                          <a:schemeClr val="tx1"/>
                        </a:solidFill>
                      </a:endParaRPr>
                    </a:p>
                    <a:p>
                      <a:pPr algn="l"/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（</a:t>
                      </a:r>
                      <a:r>
                        <a:rPr lang="en-US" altLang="zh-CN" sz="1400" dirty="0" smtClean="0">
                          <a:solidFill>
                            <a:schemeClr val="tx1"/>
                          </a:solidFill>
                        </a:rPr>
                        <a:t>2</a:t>
                      </a:r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）上电异常时首先检查相关电源</a:t>
                      </a:r>
                      <a:r>
                        <a:rPr lang="en-US" altLang="zh-CN" sz="1400" dirty="0" smtClean="0">
                          <a:solidFill>
                            <a:schemeClr val="tx1"/>
                          </a:solidFill>
                        </a:rPr>
                        <a:t>PG/EN</a:t>
                      </a:r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信号对是否正确接入逻辑，避免</a:t>
                      </a:r>
                      <a:r>
                        <a:rPr lang="en-US" altLang="zh-CN" sz="1400" dirty="0" err="1" smtClean="0">
                          <a:solidFill>
                            <a:schemeClr val="tx1"/>
                          </a:solidFill>
                        </a:rPr>
                        <a:t>pwr_fault</a:t>
                      </a:r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模块监控到上电异常；</a:t>
                      </a:r>
                      <a:endParaRPr lang="en-US" altLang="zh-CN" sz="1400" dirty="0" smtClean="0">
                        <a:solidFill>
                          <a:schemeClr val="tx1"/>
                        </a:solidFill>
                      </a:endParaRPr>
                    </a:p>
                    <a:p>
                      <a:pPr algn="l"/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（</a:t>
                      </a:r>
                      <a:r>
                        <a:rPr lang="en-US" altLang="zh-CN" sz="1400" dirty="0" smtClean="0">
                          <a:solidFill>
                            <a:schemeClr val="tx1"/>
                          </a:solidFill>
                        </a:rPr>
                        <a:t>3</a:t>
                      </a:r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）必须严格遵循各组电源上电顺序，注意控制延时长度；</a:t>
                      </a:r>
                      <a:endParaRPr lang="zh-CN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453278">
                <a:tc>
                  <a:txBody>
                    <a:bodyPr/>
                    <a:lstStyle/>
                    <a:p>
                      <a:pPr algn="l"/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欧康诺</a:t>
                      </a:r>
                    </a:p>
                    <a:p>
                      <a:pPr marL="0" algn="l" defTabSz="1219170" rtl="0" eaLnBrk="1" latinLnBrk="0" hangingPunct="1"/>
                      <a:endParaRPr lang="en-US" altLang="zh-CN" sz="14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121917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400" dirty="0" err="1" smtClean="0">
                          <a:solidFill>
                            <a:schemeClr val="tx1"/>
                          </a:solidFill>
                        </a:rPr>
                        <a:t>bmc</a:t>
                      </a:r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下发长按关机指令后，无法控制开机</a:t>
                      </a:r>
                    </a:p>
                    <a:p>
                      <a:pPr marL="0" algn="l" defTabSz="1219170" rtl="0" eaLnBrk="1" latinLnBrk="0" hangingPunct="1"/>
                      <a:endParaRPr lang="en-US" altLang="zh-CN" sz="14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CN" sz="1400" dirty="0" err="1" smtClean="0">
                          <a:solidFill>
                            <a:schemeClr val="tx1"/>
                          </a:solidFill>
                        </a:rPr>
                        <a:t>cpu_wake</a:t>
                      </a:r>
                      <a:r>
                        <a:rPr lang="en-US" altLang="zh-CN" sz="1400" dirty="0" smtClean="0">
                          <a:solidFill>
                            <a:schemeClr val="tx1"/>
                          </a:solidFill>
                        </a:rPr>
                        <a:t>#</a:t>
                      </a:r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信号影响了</a:t>
                      </a:r>
                      <a:r>
                        <a:rPr lang="en-US" altLang="zh-CN" sz="1400" dirty="0" err="1" smtClean="0">
                          <a:solidFill>
                            <a:schemeClr val="tx1"/>
                          </a:solidFill>
                        </a:rPr>
                        <a:t>cpu</a:t>
                      </a:r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的</a:t>
                      </a:r>
                      <a:r>
                        <a:rPr lang="en-US" altLang="zh-CN" sz="1400" dirty="0" smtClean="0">
                          <a:solidFill>
                            <a:schemeClr val="tx1"/>
                          </a:solidFill>
                        </a:rPr>
                        <a:t>sleep s5</a:t>
                      </a:r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，</a:t>
                      </a:r>
                      <a:r>
                        <a:rPr lang="en-US" altLang="zh-CN" sz="1400" dirty="0" smtClean="0">
                          <a:solidFill>
                            <a:schemeClr val="tx1"/>
                          </a:solidFill>
                        </a:rPr>
                        <a:t>s4</a:t>
                      </a:r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，</a:t>
                      </a:r>
                      <a:r>
                        <a:rPr lang="en-US" altLang="zh-CN" sz="1400" dirty="0" smtClean="0">
                          <a:solidFill>
                            <a:schemeClr val="tx1"/>
                          </a:solidFill>
                        </a:rPr>
                        <a:t>s4</a:t>
                      </a:r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状态，导致逻辑状态机未正常跳转，影响再次开机；</a:t>
                      </a:r>
                      <a:endParaRPr lang="en-US" altLang="zh-CN" sz="140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（</a:t>
                      </a:r>
                      <a:r>
                        <a:rPr lang="en-US" altLang="zh-CN" sz="1400" dirty="0" smtClean="0">
                          <a:solidFill>
                            <a:schemeClr val="tx1"/>
                          </a:solidFill>
                        </a:rPr>
                        <a:t>1</a:t>
                      </a:r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）</a:t>
                      </a:r>
                      <a:r>
                        <a:rPr lang="en-US" altLang="zh-CN" sz="1400" dirty="0" smtClean="0">
                          <a:solidFill>
                            <a:schemeClr val="tx1"/>
                          </a:solidFill>
                        </a:rPr>
                        <a:t>wake#</a:t>
                      </a:r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信号不使用时逻辑应去掉或者写死为</a:t>
                      </a:r>
                      <a:r>
                        <a:rPr lang="en-US" altLang="zh-CN" sz="1400" dirty="0" smtClean="0">
                          <a:solidFill>
                            <a:schemeClr val="tx1"/>
                          </a:solidFill>
                        </a:rPr>
                        <a:t>1</a:t>
                      </a:r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，避免影响</a:t>
                      </a:r>
                      <a:r>
                        <a:rPr lang="en-US" altLang="zh-CN" sz="1400" dirty="0" smtClean="0">
                          <a:solidFill>
                            <a:schemeClr val="tx1"/>
                          </a:solidFill>
                        </a:rPr>
                        <a:t>button</a:t>
                      </a:r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开关机；</a:t>
                      </a:r>
                      <a:endParaRPr lang="en-US" altLang="zh-CN" sz="1400" dirty="0" smtClean="0">
                        <a:solidFill>
                          <a:schemeClr val="tx1"/>
                        </a:solidFill>
                      </a:endParaRPr>
                    </a:p>
                    <a:p>
                      <a:pPr algn="l"/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（</a:t>
                      </a:r>
                      <a:r>
                        <a:rPr lang="en-US" altLang="zh-CN" sz="1400" dirty="0" smtClean="0">
                          <a:solidFill>
                            <a:schemeClr val="tx1"/>
                          </a:solidFill>
                        </a:rPr>
                        <a:t>2</a:t>
                      </a:r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）定位问题时，若明确是上下电问题，且</a:t>
                      </a:r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单元仿真波形</a:t>
                      </a:r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没问题时，需要在重要逻辑状态下设置寄存器或者抓包查看。</a:t>
                      </a:r>
                      <a:endParaRPr lang="en-US" altLang="zh-CN" sz="1400" dirty="0" smtClean="0">
                        <a:solidFill>
                          <a:schemeClr val="tx1"/>
                        </a:solidFill>
                      </a:endParaRPr>
                    </a:p>
                    <a:p>
                      <a:pPr algn="l"/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（</a:t>
                      </a:r>
                      <a:r>
                        <a:rPr lang="en-US" altLang="zh-CN" sz="1400" dirty="0" smtClean="0">
                          <a:solidFill>
                            <a:schemeClr val="tx1"/>
                          </a:solidFill>
                        </a:rPr>
                        <a:t>3</a:t>
                      </a:r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）定位时</a:t>
                      </a:r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首先判断出错的跳</a:t>
                      </a:r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转</a:t>
                      </a:r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分支，</a:t>
                      </a:r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再结合跳转条件分析问题。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东湖一号</a:t>
                      </a:r>
                      <a:r>
                        <a:rPr lang="en-US" altLang="zh-CN" sz="1400" dirty="0" smtClean="0">
                          <a:solidFill>
                            <a:schemeClr val="tx1"/>
                          </a:solidFill>
                        </a:rPr>
                        <a:t>/</a:t>
                      </a:r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欧康诺</a:t>
                      </a:r>
                      <a:endParaRPr lang="zh-CN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长按按钮关机</a:t>
                      </a:r>
                      <a:endParaRPr lang="zh-CN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当前代码未处理短按开关机，或者长按关机的逻辑（自动上电版本）；</a:t>
                      </a:r>
                      <a:endParaRPr lang="en-US" altLang="zh-CN" sz="140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解决方法两种：</a:t>
                      </a:r>
                      <a:endParaRPr lang="en-US" altLang="zh-CN" sz="1400" dirty="0" smtClean="0">
                        <a:solidFill>
                          <a:schemeClr val="tx1"/>
                        </a:solidFill>
                      </a:endParaRPr>
                    </a:p>
                    <a:p>
                      <a:pPr algn="l"/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（</a:t>
                      </a:r>
                      <a:r>
                        <a:rPr lang="en-US" altLang="zh-CN" sz="1400" dirty="0" smtClean="0">
                          <a:solidFill>
                            <a:schemeClr val="tx1"/>
                          </a:solidFill>
                        </a:rPr>
                        <a:t>1</a:t>
                      </a:r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）复用部门稳定的</a:t>
                      </a:r>
                      <a:r>
                        <a:rPr lang="en-US" altLang="zh-CN" sz="1400" dirty="0" err="1" smtClean="0">
                          <a:solidFill>
                            <a:schemeClr val="tx1"/>
                          </a:solidFill>
                        </a:rPr>
                        <a:t>pwrbtn_ctrl</a:t>
                      </a:r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模块；</a:t>
                      </a:r>
                      <a:endParaRPr lang="en-US" altLang="zh-CN" sz="1400" dirty="0" smtClean="0">
                        <a:solidFill>
                          <a:schemeClr val="tx1"/>
                        </a:solidFill>
                      </a:endParaRPr>
                    </a:p>
                    <a:p>
                      <a:pPr algn="l"/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（</a:t>
                      </a:r>
                      <a:r>
                        <a:rPr lang="en-US" altLang="zh-CN" sz="1400" dirty="0" smtClean="0">
                          <a:solidFill>
                            <a:schemeClr val="tx1"/>
                          </a:solidFill>
                        </a:rPr>
                        <a:t>2</a:t>
                      </a:r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）逻辑自己监控开关机标志来控制上下电状态机（例如：欧康诺项目上电完毕后会稳定在</a:t>
                      </a:r>
                      <a:r>
                        <a:rPr lang="en-US" altLang="zh-CN" sz="1400" dirty="0" err="1" smtClean="0">
                          <a:solidFill>
                            <a:schemeClr val="tx1"/>
                          </a:solidFill>
                        </a:rPr>
                        <a:t>SM_STEADY_PWROK</a:t>
                      </a:r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状态下，添加长按关机的触发</a:t>
                      </a:r>
                      <a:r>
                        <a:rPr lang="en-US" altLang="zh-CN" sz="1400" dirty="0" smtClean="0">
                          <a:solidFill>
                            <a:schemeClr val="tx1"/>
                          </a:solidFill>
                        </a:rPr>
                        <a:t>flag</a:t>
                      </a:r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，使其下电到</a:t>
                      </a:r>
                      <a:r>
                        <a:rPr lang="en-US" altLang="zh-CN" sz="1400" dirty="0" smtClean="0">
                          <a:solidFill>
                            <a:schemeClr val="tx1"/>
                          </a:solidFill>
                        </a:rPr>
                        <a:t>STANDBY</a:t>
                      </a:r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状态；）</a:t>
                      </a:r>
                      <a:endParaRPr lang="zh-CN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文本框 3">
            <a:extLst>
              <a:ext uri="{FF2B5EF4-FFF2-40B4-BE49-F238E27FC236}">
                <a16:creationId xmlns="" xmlns:a16="http://schemas.microsoft.com/office/drawing/2014/main" id="{2BC0A0A8-0C9C-2D51-D930-A3AB6D1663CB}"/>
              </a:ext>
            </a:extLst>
          </p:cNvPr>
          <p:cNvSpPr txBox="1"/>
          <p:nvPr/>
        </p:nvSpPr>
        <p:spPr>
          <a:xfrm>
            <a:off x="527260" y="1099272"/>
            <a:ext cx="102154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n"/>
              <a:tabLst/>
              <a:defRPr/>
            </a:pPr>
            <a:r>
              <a:rPr kumimoji="0" lang="zh-CN" altLang="en-US" sz="18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调试问题分析</a:t>
            </a:r>
            <a:endParaRPr kumimoji="0" lang="en-US" altLang="zh-CN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08272676"/>
      </p:ext>
    </p:extLst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441C1419-120D-DC1F-C21A-56303716ED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="" xmlns:a16="http://schemas.microsoft.com/office/drawing/2014/main" id="{BF62F1C8-BD5E-AB89-0E19-C79DD8E1455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27260" y="356659"/>
            <a:ext cx="9134596" cy="609600"/>
          </a:xfrm>
          <a:prstGeom prst="rect">
            <a:avLst/>
          </a:prstGeom>
        </p:spPr>
        <p:txBody>
          <a:bodyPr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/>
                <a:ea typeface="微软雅黑"/>
                <a:cs typeface="+mj-cs"/>
              </a:rPr>
              <a:t>工作</a:t>
            </a:r>
            <a:r>
              <a:rPr kumimoji="0" lang="zh-CN" altLang="en-US" sz="24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/>
                <a:ea typeface="微软雅黑"/>
                <a:cs typeface="+mj-cs"/>
              </a:rPr>
              <a:t>内容</a:t>
            </a:r>
            <a:r>
              <a:rPr lang="en-US" altLang="zh-CN" sz="2400" dirty="0">
                <a:solidFill>
                  <a:prstClr val="black"/>
                </a:solidFill>
                <a:latin typeface="微软雅黑"/>
                <a:ea typeface="微软雅黑"/>
              </a:rPr>
              <a:t>3</a:t>
            </a:r>
            <a:r>
              <a:rPr kumimoji="0" lang="zh-CN" altLang="en-US" sz="24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/>
                <a:ea typeface="微软雅黑"/>
                <a:cs typeface="+mj-cs"/>
              </a:rPr>
              <a:t> </a:t>
            </a:r>
            <a:r>
              <a:rPr kumimoji="0" lang="en-US" altLang="zh-CN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/>
                <a:ea typeface="微软雅黑"/>
                <a:cs typeface="+mj-cs"/>
              </a:rPr>
              <a:t>— </a:t>
            </a:r>
            <a:r>
              <a:rPr kumimoji="0" lang="zh-CN" altLang="en-US" sz="24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/>
                <a:ea typeface="微软雅黑"/>
                <a:cs typeface="+mj-cs"/>
              </a:rPr>
              <a:t>逻辑功能</a:t>
            </a:r>
            <a:r>
              <a:rPr kumimoji="0" lang="zh-CN" alt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/>
                <a:ea typeface="微软雅黑"/>
                <a:cs typeface="+mj-cs"/>
              </a:rPr>
              <a:t>调试</a:t>
            </a:r>
            <a:endParaRPr kumimoji="0" lang="zh-CN" altLang="en-US" sz="2400" b="0" i="0" u="none" strike="noStrike" kern="1200" cap="none" spc="0" normalizeH="0" baseline="0" noProof="0" dirty="0">
              <a:ln>
                <a:noFill/>
              </a:ln>
              <a:solidFill>
                <a:srgbClr val="FFC000"/>
              </a:solidFill>
              <a:effectLst/>
              <a:uLnTx/>
              <a:uFillTx/>
              <a:latin typeface="宋体" panose="02010600030101010101" pitchFamily="2" charset="-122"/>
              <a:ea typeface="宋体" panose="02010600030101010101" pitchFamily="2" charset="-122"/>
              <a:cs typeface="+mj-cs"/>
            </a:endParaRPr>
          </a:p>
        </p:txBody>
      </p:sp>
      <p:graphicFrame>
        <p:nvGraphicFramePr>
          <p:cNvPr id="2" name="表格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03275781"/>
              </p:ext>
            </p:extLst>
          </p:nvPr>
        </p:nvGraphicFramePr>
        <p:xfrm>
          <a:off x="527260" y="1635121"/>
          <a:ext cx="11418388" cy="466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3783"/>
                <a:gridCol w="1923783"/>
                <a:gridCol w="3573602"/>
                <a:gridCol w="3997220"/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所属项目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调试问题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21917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故障原因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解决思路</a:t>
                      </a:r>
                      <a:r>
                        <a:rPr lang="en-US" altLang="zh-CN" sz="1400" dirty="0" smtClean="0">
                          <a:solidFill>
                            <a:schemeClr val="tx1"/>
                          </a:solidFill>
                        </a:rPr>
                        <a:t>/</a:t>
                      </a:r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方法</a:t>
                      </a:r>
                      <a:endParaRPr lang="zh-CN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</a:tr>
              <a:tr h="3639820">
                <a:tc>
                  <a:txBody>
                    <a:bodyPr/>
                    <a:lstStyle/>
                    <a:p>
                      <a:pPr marL="0" algn="l" defTabSz="1219170" rtl="0" eaLnBrk="1" latinLnBrk="0" hangingPunct="1"/>
                      <a:r>
                        <a:rPr lang="zh-CN" altLang="en-US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龙芯</a:t>
                      </a:r>
                      <a:r>
                        <a:rPr lang="en-US" altLang="zh-CN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3E6000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l" defTabSz="1219170" rtl="0" eaLnBrk="1" latinLnBrk="0" hangingPunct="1"/>
                      <a:r>
                        <a:rPr lang="zh-CN" altLang="en-US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时序违例</a:t>
                      </a:r>
                      <a:endParaRPr lang="en-US" altLang="zh-CN" sz="14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121917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（</a:t>
                      </a:r>
                      <a:r>
                        <a:rPr lang="en-US" altLang="zh-CN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1</a:t>
                      </a:r>
                      <a:r>
                        <a:rPr lang="zh-CN" altLang="en-US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）</a:t>
                      </a:r>
                      <a:r>
                        <a:rPr lang="en-US" altLang="zh-CN" sz="1400" kern="1200" dirty="0" err="1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PLL</a:t>
                      </a:r>
                      <a:r>
                        <a:rPr lang="zh-CN" altLang="en-US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时钟输入例化使用了</a:t>
                      </a:r>
                      <a:r>
                        <a:rPr lang="en-US" altLang="zh-CN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100M</a:t>
                      </a:r>
                      <a:r>
                        <a:rPr lang="zh-CN" altLang="en-US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；</a:t>
                      </a:r>
                      <a:endParaRPr lang="en-US" altLang="zh-CN" sz="14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121917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（</a:t>
                      </a:r>
                      <a:r>
                        <a:rPr lang="en-US" altLang="zh-CN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2</a:t>
                      </a:r>
                      <a:r>
                        <a:rPr lang="zh-CN" altLang="en-US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）不影响功能使用，因为未使用</a:t>
                      </a:r>
                      <a:r>
                        <a:rPr lang="en-US" altLang="zh-CN" sz="1400" kern="1200" dirty="0" err="1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PLL</a:t>
                      </a:r>
                      <a:r>
                        <a:rPr lang="zh-CN" altLang="en-US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，系统时钟直接使用输入的</a:t>
                      </a:r>
                      <a:r>
                        <a:rPr lang="en-US" altLang="zh-CN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25M</a:t>
                      </a:r>
                      <a:r>
                        <a:rPr lang="zh-CN" altLang="en-US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时钟；系统复位是在</a:t>
                      </a:r>
                      <a:r>
                        <a:rPr lang="en-US" altLang="zh-CN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25M</a:t>
                      </a:r>
                      <a:r>
                        <a:rPr lang="zh-CN" altLang="en-US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时钟下打</a:t>
                      </a:r>
                      <a:r>
                        <a:rPr lang="en-US" altLang="zh-CN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10</a:t>
                      </a:r>
                      <a:r>
                        <a:rPr lang="zh-CN" altLang="en-US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拍使用；</a:t>
                      </a:r>
                      <a:endParaRPr lang="en-US" altLang="zh-CN" sz="14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121917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（</a:t>
                      </a:r>
                      <a:r>
                        <a:rPr lang="en-US" altLang="zh-CN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3</a:t>
                      </a:r>
                      <a:r>
                        <a:rPr lang="zh-CN" altLang="en-US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）</a:t>
                      </a:r>
                      <a:r>
                        <a:rPr lang="en-US" altLang="zh-CN" sz="1400" kern="1200" dirty="0" err="1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clk_gen</a:t>
                      </a:r>
                      <a:r>
                        <a:rPr lang="zh-CN" altLang="en-US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时钟树使用了</a:t>
                      </a:r>
                      <a:r>
                        <a:rPr lang="en-US" altLang="zh-CN" sz="1400" kern="1200" dirty="0" err="1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PLL</a:t>
                      </a:r>
                      <a:r>
                        <a:rPr lang="zh-CN" altLang="en-US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生成的</a:t>
                      </a:r>
                      <a:r>
                        <a:rPr lang="en-US" altLang="zh-CN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25M</a:t>
                      </a:r>
                      <a:r>
                        <a:rPr lang="zh-CN" altLang="en-US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时钟，</a:t>
                      </a:r>
                      <a:r>
                        <a:rPr lang="en-US" altLang="zh-CN" sz="1400" kern="1200" dirty="0" err="1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clk_gen</a:t>
                      </a:r>
                      <a:r>
                        <a:rPr lang="zh-CN" altLang="en-US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生成的其他时钟系统未使用；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（</a:t>
                      </a:r>
                      <a:r>
                        <a:rPr lang="en-US" altLang="zh-CN" sz="1400" dirty="0" smtClean="0">
                          <a:solidFill>
                            <a:schemeClr val="tx1"/>
                          </a:solidFill>
                        </a:rPr>
                        <a:t>1</a:t>
                      </a:r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）</a:t>
                      </a:r>
                      <a:r>
                        <a:rPr lang="en-US" altLang="zh-CN" sz="1400" dirty="0" err="1" smtClean="0">
                          <a:solidFill>
                            <a:schemeClr val="tx1"/>
                          </a:solidFill>
                        </a:rPr>
                        <a:t>CPLD</a:t>
                      </a:r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一般不会出现时序违例；出现时序违例有限检查自己例化的</a:t>
                      </a:r>
                      <a:r>
                        <a:rPr lang="en-US" altLang="zh-CN" sz="1400" dirty="0" err="1" smtClean="0">
                          <a:solidFill>
                            <a:schemeClr val="tx1"/>
                          </a:solidFill>
                        </a:rPr>
                        <a:t>PLL</a:t>
                      </a:r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是否设置出错；</a:t>
                      </a:r>
                      <a:endParaRPr lang="en-US" altLang="zh-CN" sz="1400" dirty="0" smtClean="0">
                        <a:solidFill>
                          <a:schemeClr val="tx1"/>
                        </a:solidFill>
                      </a:endParaRPr>
                    </a:p>
                    <a:p>
                      <a:pPr algn="l"/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（</a:t>
                      </a:r>
                      <a:r>
                        <a:rPr lang="en-US" altLang="zh-CN" sz="1400" dirty="0" smtClean="0">
                          <a:solidFill>
                            <a:schemeClr val="tx1"/>
                          </a:solidFill>
                        </a:rPr>
                        <a:t>2</a:t>
                      </a:r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）时钟尽量使用例化</a:t>
                      </a:r>
                      <a:r>
                        <a:rPr lang="en-US" altLang="zh-CN" sz="1400" dirty="0" err="1" smtClean="0">
                          <a:solidFill>
                            <a:schemeClr val="tx1"/>
                          </a:solidFill>
                        </a:rPr>
                        <a:t>PLL</a:t>
                      </a:r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产生的时钟；系统复位使用异步复位同步释放产生的信号，再同步打</a:t>
                      </a:r>
                      <a:r>
                        <a:rPr lang="en-US" altLang="zh-CN" sz="1400" dirty="0" smtClean="0">
                          <a:solidFill>
                            <a:schemeClr val="tx1"/>
                          </a:solidFill>
                        </a:rPr>
                        <a:t>5-10</a:t>
                      </a:r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拍输出作为系统复位；</a:t>
                      </a:r>
                      <a:endParaRPr lang="en-US" altLang="zh-CN" sz="1400" dirty="0" smtClean="0">
                        <a:solidFill>
                          <a:schemeClr val="tx1"/>
                        </a:solidFill>
                      </a:endParaRPr>
                    </a:p>
                    <a:p>
                      <a:pPr algn="l"/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（</a:t>
                      </a:r>
                      <a:r>
                        <a:rPr lang="en-US" altLang="zh-CN" sz="1400" dirty="0" smtClean="0">
                          <a:solidFill>
                            <a:schemeClr val="tx1"/>
                          </a:solidFill>
                        </a:rPr>
                        <a:t>3</a:t>
                      </a:r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）输入信号经过去抖稳定后再使用，防止误判；输出信号接入时序逻辑打拍后输出，增强驱动能力；</a:t>
                      </a:r>
                      <a:endParaRPr lang="en-US" altLang="zh-CN" sz="1400" dirty="0" smtClean="0">
                        <a:solidFill>
                          <a:schemeClr val="tx1"/>
                        </a:solidFill>
                      </a:endParaRPr>
                    </a:p>
                    <a:p>
                      <a:pPr algn="l"/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（</a:t>
                      </a:r>
                      <a:r>
                        <a:rPr lang="en-US" altLang="zh-CN" sz="1400" dirty="0" smtClean="0">
                          <a:solidFill>
                            <a:schemeClr val="tx1"/>
                          </a:solidFill>
                        </a:rPr>
                        <a:t>4</a:t>
                      </a:r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）</a:t>
                      </a:r>
                      <a:r>
                        <a:rPr lang="en-US" altLang="zh-CN" sz="1400" dirty="0" err="1" smtClean="0">
                          <a:solidFill>
                            <a:schemeClr val="tx1"/>
                          </a:solidFill>
                        </a:rPr>
                        <a:t>CPLD</a:t>
                      </a:r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实现后，要关注</a:t>
                      </a:r>
                      <a:r>
                        <a:rPr lang="en-US" altLang="zh-CN" sz="1400" dirty="0" smtClean="0">
                          <a:solidFill>
                            <a:schemeClr val="tx1"/>
                          </a:solidFill>
                        </a:rPr>
                        <a:t>warning</a:t>
                      </a:r>
                      <a:r>
                        <a:rPr lang="zh-CN" altLang="en-US" sz="1400" baseline="0" dirty="0" smtClean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zh-CN" sz="1400" dirty="0" smtClean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至少要排除</a:t>
                      </a:r>
                      <a:r>
                        <a:rPr lang="en-US" altLang="zh-CN" sz="1400" dirty="0" smtClean="0">
                          <a:solidFill>
                            <a:schemeClr val="tx1"/>
                          </a:solidFill>
                        </a:rPr>
                        <a:t>latch</a:t>
                      </a:r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和扇出多的</a:t>
                      </a:r>
                      <a:r>
                        <a:rPr lang="en-US" altLang="zh-CN" sz="1400" dirty="0" err="1" smtClean="0">
                          <a:solidFill>
                            <a:schemeClr val="tx1"/>
                          </a:solidFill>
                        </a:rPr>
                        <a:t>waring</a:t>
                      </a:r>
                      <a:r>
                        <a:rPr lang="en-US" altLang="zh-CN" sz="1400" dirty="0" smtClean="0">
                          <a:solidFill>
                            <a:schemeClr val="tx1"/>
                          </a:solidFill>
                        </a:rPr>
                        <a:t>)</a:t>
                      </a:r>
                    </a:p>
                    <a:p>
                      <a:pPr algn="l"/>
                      <a:r>
                        <a:rPr lang="en-US" altLang="zh-CN" sz="1400" dirty="0" smtClean="0">
                          <a:solidFill>
                            <a:schemeClr val="tx1"/>
                          </a:solidFill>
                        </a:rPr>
                        <a:t>Latch</a:t>
                      </a:r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问题：</a:t>
                      </a:r>
                      <a:endParaRPr lang="en-US" altLang="zh-CN" sz="1400" dirty="0" smtClean="0">
                        <a:solidFill>
                          <a:schemeClr val="tx1"/>
                        </a:solidFill>
                      </a:endParaRPr>
                    </a:p>
                    <a:p>
                      <a:pPr algn="l"/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先确定</a:t>
                      </a:r>
                      <a:r>
                        <a:rPr lang="en-US" altLang="zh-CN" sz="1400" dirty="0" smtClean="0">
                          <a:solidFill>
                            <a:schemeClr val="tx1"/>
                          </a:solidFill>
                        </a:rPr>
                        <a:t>assign</a:t>
                      </a:r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的组合逻辑是否是不确定值；再确定</a:t>
                      </a:r>
                      <a:r>
                        <a:rPr lang="en-US" altLang="zh-CN" sz="1400" dirty="0" smtClean="0">
                          <a:solidFill>
                            <a:schemeClr val="tx1"/>
                          </a:solidFill>
                        </a:rPr>
                        <a:t>always(*)</a:t>
                      </a:r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是否缺少必要分支；再确定</a:t>
                      </a:r>
                      <a:r>
                        <a:rPr lang="en-US" altLang="zh-CN" sz="1400" dirty="0" smtClean="0">
                          <a:solidFill>
                            <a:schemeClr val="tx1"/>
                          </a:solidFill>
                        </a:rPr>
                        <a:t>case</a:t>
                      </a:r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中</a:t>
                      </a:r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是否遗漏</a:t>
                      </a:r>
                      <a:r>
                        <a:rPr lang="en-US" altLang="zh-CN" sz="1400" dirty="0" smtClean="0">
                          <a:solidFill>
                            <a:schemeClr val="tx1"/>
                          </a:solidFill>
                        </a:rPr>
                        <a:t>default</a:t>
                      </a:r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；</a:t>
                      </a:r>
                      <a:endParaRPr lang="en-US" altLang="zh-CN" sz="1400" dirty="0" smtClean="0">
                        <a:solidFill>
                          <a:schemeClr val="tx1"/>
                        </a:solidFill>
                      </a:endParaRPr>
                    </a:p>
                    <a:p>
                      <a:pPr algn="l"/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扇出多问题：</a:t>
                      </a:r>
                      <a:endParaRPr lang="en-US" altLang="zh-CN" sz="1400" dirty="0" smtClean="0">
                        <a:solidFill>
                          <a:schemeClr val="tx1"/>
                        </a:solidFill>
                      </a:endParaRPr>
                    </a:p>
                    <a:p>
                      <a:pPr algn="l"/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一般会出现在</a:t>
                      </a:r>
                      <a:r>
                        <a:rPr lang="en-US" altLang="zh-CN" sz="1400" dirty="0" smtClean="0">
                          <a:solidFill>
                            <a:schemeClr val="tx1"/>
                          </a:solidFill>
                        </a:rPr>
                        <a:t>reset</a:t>
                      </a:r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复位身上，控制通路使用</a:t>
                      </a:r>
                      <a:r>
                        <a:rPr lang="en-US" altLang="zh-CN" sz="1400" dirty="0" smtClean="0">
                          <a:solidFill>
                            <a:schemeClr val="tx1"/>
                          </a:solidFill>
                        </a:rPr>
                        <a:t>reset</a:t>
                      </a:r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，数据通路没必要使用</a:t>
                      </a:r>
                      <a:r>
                        <a:rPr lang="en-US" altLang="zh-CN" sz="1400" dirty="0" smtClean="0">
                          <a:solidFill>
                            <a:schemeClr val="tx1"/>
                          </a:solidFill>
                        </a:rPr>
                        <a:t>reset</a:t>
                      </a:r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；其他</a:t>
                      </a:r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信号扇出高时，打拍复制使用；</a:t>
                      </a:r>
                      <a:endParaRPr lang="en-US" altLang="zh-CN" sz="1400" dirty="0" smtClean="0">
                        <a:solidFill>
                          <a:schemeClr val="tx1"/>
                        </a:solidFill>
                      </a:endParaRPr>
                    </a:p>
                    <a:p>
                      <a:pPr algn="l"/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（</a:t>
                      </a:r>
                      <a:r>
                        <a:rPr lang="en-US" altLang="zh-CN" sz="1400" dirty="0" smtClean="0">
                          <a:solidFill>
                            <a:schemeClr val="tx1"/>
                          </a:solidFill>
                        </a:rPr>
                        <a:t>5</a:t>
                      </a:r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）上下电编码逻辑最好使用</a:t>
                      </a:r>
                      <a:r>
                        <a:rPr lang="en-US" altLang="zh-CN" sz="1400" dirty="0" smtClean="0">
                          <a:solidFill>
                            <a:schemeClr val="tx1"/>
                          </a:solidFill>
                        </a:rPr>
                        <a:t>3</a:t>
                      </a:r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段状态机；所有信号和修改添加必要注释，便于维护；</a:t>
                      </a:r>
                      <a:endParaRPr lang="en-US" altLang="zh-CN" sz="140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文本框 3">
            <a:extLst>
              <a:ext uri="{FF2B5EF4-FFF2-40B4-BE49-F238E27FC236}">
                <a16:creationId xmlns="" xmlns:a16="http://schemas.microsoft.com/office/drawing/2014/main" id="{2BC0A0A8-0C9C-2D51-D930-A3AB6D1663CB}"/>
              </a:ext>
            </a:extLst>
          </p:cNvPr>
          <p:cNvSpPr txBox="1"/>
          <p:nvPr/>
        </p:nvSpPr>
        <p:spPr>
          <a:xfrm>
            <a:off x="527260" y="1099272"/>
            <a:ext cx="102154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n"/>
              <a:tabLst/>
              <a:defRPr/>
            </a:pPr>
            <a:r>
              <a:rPr kumimoji="0" lang="zh-CN" altLang="en-US" sz="18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调试问题分析</a:t>
            </a:r>
            <a:endParaRPr kumimoji="0" lang="en-US" altLang="zh-CN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73278053"/>
      </p:ext>
    </p:extLst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4167FC13-AE83-0D31-8133-BF00331292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="" xmlns:a16="http://schemas.microsoft.com/office/drawing/2014/main" id="{5B6710D7-1A3C-9C49-E367-73AFDE59579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27260" y="356659"/>
            <a:ext cx="9134596" cy="609600"/>
          </a:xfrm>
          <a:prstGeom prst="rect">
            <a:avLst/>
          </a:prstGeom>
        </p:spPr>
        <p:txBody>
          <a:bodyPr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lvl="0" fontAlgn="auto">
              <a:spcAft>
                <a:spcPts val="0"/>
              </a:spcAft>
              <a:defRPr/>
            </a:pPr>
            <a:r>
              <a:rPr kumimoji="0" lang="zh-CN" alt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/>
                <a:ea typeface="微软雅黑"/>
                <a:cs typeface="+mj-cs"/>
              </a:rPr>
              <a:t>工作</a:t>
            </a:r>
            <a:r>
              <a:rPr kumimoji="0" lang="zh-CN" altLang="en-US" sz="24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/>
                <a:ea typeface="微软雅黑"/>
                <a:cs typeface="+mj-cs"/>
              </a:rPr>
              <a:t>内容</a:t>
            </a:r>
            <a:r>
              <a:rPr lang="en-US" altLang="zh-CN" sz="2400" dirty="0">
                <a:solidFill>
                  <a:prstClr val="black"/>
                </a:solidFill>
                <a:latin typeface="微软雅黑"/>
                <a:ea typeface="微软雅黑"/>
              </a:rPr>
              <a:t>3</a:t>
            </a:r>
            <a:r>
              <a:rPr lang="zh-CN" altLang="en-US" sz="2400" dirty="0">
                <a:solidFill>
                  <a:prstClr val="black"/>
                </a:solidFill>
                <a:latin typeface="微软雅黑"/>
                <a:ea typeface="微软雅黑"/>
              </a:rPr>
              <a:t> </a:t>
            </a:r>
            <a:r>
              <a:rPr lang="en-US" altLang="zh-CN" sz="2400" dirty="0">
                <a:solidFill>
                  <a:prstClr val="black"/>
                </a:solidFill>
                <a:latin typeface="微软雅黑"/>
                <a:ea typeface="微软雅黑"/>
              </a:rPr>
              <a:t>— </a:t>
            </a:r>
            <a:r>
              <a:rPr lang="zh-CN" altLang="en-US" sz="2400" dirty="0">
                <a:solidFill>
                  <a:prstClr val="black"/>
                </a:solidFill>
                <a:latin typeface="微软雅黑"/>
                <a:ea typeface="微软雅黑"/>
              </a:rPr>
              <a:t>逻辑功能调试</a:t>
            </a:r>
            <a:endParaRPr kumimoji="0" lang="zh-CN" altLang="en-US" sz="2400" b="0" i="0" u="none" strike="noStrike" kern="1200" cap="none" spc="0" normalizeH="0" baseline="0" noProof="0" dirty="0">
              <a:ln>
                <a:noFill/>
              </a:ln>
              <a:solidFill>
                <a:srgbClr val="FFC000"/>
              </a:solidFill>
              <a:effectLst/>
              <a:uLnTx/>
              <a:uFillTx/>
              <a:latin typeface="宋体" panose="02010600030101010101" pitchFamily="2" charset="-122"/>
              <a:ea typeface="宋体" panose="02010600030101010101" pitchFamily="2" charset="-122"/>
              <a:cs typeface="+mj-cs"/>
            </a:endParaRPr>
          </a:p>
        </p:txBody>
      </p:sp>
      <p:graphicFrame>
        <p:nvGraphicFramePr>
          <p:cNvPr id="6" name="表格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6071491"/>
              </p:ext>
            </p:extLst>
          </p:nvPr>
        </p:nvGraphicFramePr>
        <p:xfrm>
          <a:off x="527260" y="1588554"/>
          <a:ext cx="11320751" cy="3703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20751"/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smtClean="0">
                          <a:solidFill>
                            <a:schemeClr val="tx1"/>
                          </a:solidFill>
                        </a:rPr>
                        <a:t>需求</a:t>
                      </a:r>
                      <a:r>
                        <a:rPr lang="zh-CN" altLang="en-US" sz="1400" smtClean="0">
                          <a:solidFill>
                            <a:schemeClr val="tx1"/>
                          </a:solidFill>
                        </a:rPr>
                        <a:t>维护</a:t>
                      </a:r>
                      <a:endParaRPr lang="zh-CN" altLang="en-US" sz="1400" dirty="0" smtClean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121917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1</a:t>
                      </a:r>
                      <a:r>
                        <a:rPr lang="zh-CN" altLang="en-US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、</a:t>
                      </a:r>
                      <a:r>
                        <a:rPr lang="en-US" altLang="zh-CN" sz="1400" kern="1200" dirty="0" err="1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UID</a:t>
                      </a:r>
                      <a:r>
                        <a:rPr lang="en-US" altLang="zh-CN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/</a:t>
                      </a:r>
                      <a:r>
                        <a:rPr lang="en-US" altLang="zh-CN" sz="1400" kern="1200" dirty="0" err="1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PWR</a:t>
                      </a:r>
                      <a:r>
                        <a:rPr lang="en-US" altLang="zh-CN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zh-CN" sz="1400" kern="1200" dirty="0" err="1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BTN</a:t>
                      </a:r>
                      <a:r>
                        <a:rPr lang="zh-CN" altLang="en-US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要产生长按</a:t>
                      </a:r>
                      <a:r>
                        <a:rPr lang="en-US" altLang="zh-CN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/</a:t>
                      </a:r>
                      <a:r>
                        <a:rPr lang="zh-CN" altLang="en-US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短按事件记录，同时也要支持消除记录，结合</a:t>
                      </a:r>
                      <a:r>
                        <a:rPr lang="en-US" altLang="zh-CN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I2C</a:t>
                      </a:r>
                      <a:r>
                        <a:rPr lang="zh-CN" altLang="en-US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寄存器一起修改</a:t>
                      </a:r>
                      <a:r>
                        <a:rPr lang="zh-CN" altLang="en-US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；</a:t>
                      </a:r>
                      <a:endParaRPr lang="en-US" altLang="zh-CN" sz="14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121917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zh-CN" sz="14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121917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2</a:t>
                      </a:r>
                      <a:r>
                        <a:rPr lang="zh-CN" altLang="en-US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、</a:t>
                      </a:r>
                      <a:r>
                        <a:rPr lang="en-US" altLang="zh-CN" sz="1400" kern="1200" dirty="0" err="1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PCIE</a:t>
                      </a:r>
                      <a:r>
                        <a:rPr lang="zh-CN" altLang="en-US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带宽动态分配；逻辑检测每个</a:t>
                      </a:r>
                      <a:r>
                        <a:rPr lang="en-US" altLang="zh-CN" sz="1400" kern="1200" dirty="0" err="1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MCIO</a:t>
                      </a:r>
                      <a:r>
                        <a:rPr lang="zh-CN" altLang="en-US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的一组</a:t>
                      </a:r>
                      <a:r>
                        <a:rPr lang="en-US" altLang="zh-CN" sz="1400" kern="1200" dirty="0" err="1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cable_id</a:t>
                      </a:r>
                      <a:r>
                        <a:rPr lang="zh-CN" altLang="en-US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，建立映射规则写入寄存器，</a:t>
                      </a:r>
                      <a:r>
                        <a:rPr lang="en-US" altLang="zh-CN" sz="1400" kern="1200" dirty="0" err="1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PCIE</a:t>
                      </a:r>
                      <a:r>
                        <a:rPr lang="zh-CN" altLang="en-US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根据读取的值进行分配</a:t>
                      </a:r>
                      <a:r>
                        <a:rPr lang="zh-CN" altLang="en-US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；</a:t>
                      </a:r>
                      <a:endParaRPr lang="en-US" altLang="zh-CN" sz="14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121917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zh-CN" sz="14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121917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3</a:t>
                      </a:r>
                      <a:r>
                        <a:rPr lang="zh-CN" altLang="en-US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、</a:t>
                      </a:r>
                      <a:r>
                        <a:rPr lang="zh-CN" altLang="en-US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拨码开关测试</a:t>
                      </a:r>
                      <a:r>
                        <a:rPr lang="zh-CN" altLang="en-US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；</a:t>
                      </a:r>
                      <a:endParaRPr lang="en-US" altLang="zh-CN" sz="14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121917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zh-CN" sz="14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121917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4</a:t>
                      </a:r>
                      <a:r>
                        <a:rPr lang="zh-CN" altLang="en-US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、</a:t>
                      </a:r>
                      <a:r>
                        <a:rPr lang="en-US" altLang="zh-CN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BMC</a:t>
                      </a:r>
                      <a:r>
                        <a:rPr lang="zh-CN" altLang="en-US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卡顿；</a:t>
                      </a:r>
                      <a:r>
                        <a:rPr lang="en-US" altLang="zh-CN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BMC</a:t>
                      </a:r>
                      <a:r>
                        <a:rPr lang="zh-CN" altLang="en-US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下发开关机无反应，服务器不能</a:t>
                      </a:r>
                      <a:r>
                        <a:rPr lang="en-US" altLang="zh-CN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AC</a:t>
                      </a:r>
                      <a:r>
                        <a:rPr lang="zh-CN" altLang="en-US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；</a:t>
                      </a:r>
                      <a:endParaRPr lang="en-US" altLang="zh-CN" sz="14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121917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zh-CN" sz="14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121917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5</a:t>
                      </a:r>
                      <a:r>
                        <a:rPr lang="zh-CN" altLang="en-US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、顶层时钟时序错误，但是不影响；</a:t>
                      </a:r>
                      <a:endParaRPr lang="en-US" altLang="zh-CN" sz="14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121917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时序错误的原因是</a:t>
                      </a:r>
                      <a:r>
                        <a:rPr lang="en-US" altLang="zh-CN" sz="1400" kern="1200" dirty="0" err="1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PLL</a:t>
                      </a:r>
                      <a:r>
                        <a:rPr lang="zh-CN" altLang="en-US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时钟输入例化使用了</a:t>
                      </a:r>
                      <a:r>
                        <a:rPr lang="en-US" altLang="zh-CN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100M</a:t>
                      </a:r>
                      <a:r>
                        <a:rPr lang="zh-CN" altLang="en-US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，不影响的原因是其接入了</a:t>
                      </a:r>
                      <a:r>
                        <a:rPr lang="en-US" altLang="zh-CN" sz="1400" kern="1200" dirty="0" err="1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clk_gen</a:t>
                      </a:r>
                      <a:r>
                        <a:rPr lang="zh-CN" altLang="en-US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时钟树，但是时钟树输出的时钟未使用</a:t>
                      </a:r>
                      <a:endParaRPr lang="en-US" altLang="zh-CN" sz="14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121917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400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6</a:t>
                      </a:r>
                      <a:r>
                        <a:rPr lang="zh-CN" altLang="en-US" sz="1400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、</a:t>
                      </a:r>
                      <a:r>
                        <a:rPr lang="en-US" altLang="zh-CN" sz="1400" kern="1200" dirty="0" err="1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OCP</a:t>
                      </a:r>
                      <a:r>
                        <a:rPr lang="zh-CN" altLang="en-US" sz="1400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网卡上有通过</a:t>
                      </a:r>
                      <a:r>
                        <a:rPr lang="en-US" altLang="zh-CN" sz="1400" kern="1200" dirty="0" err="1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SGPIO</a:t>
                      </a:r>
                      <a:r>
                        <a:rPr lang="zh-CN" altLang="en-US" sz="1400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写入逻辑的</a:t>
                      </a:r>
                      <a:r>
                        <a:rPr lang="en-US" altLang="zh-CN" sz="1400" kern="1200" dirty="0" err="1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OCP</a:t>
                      </a:r>
                      <a:r>
                        <a:rPr lang="zh-CN" altLang="en-US" sz="1400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网卡状态信息；逻辑侧解析写入的数据进行点灯处理；</a:t>
                      </a:r>
                      <a:endParaRPr lang="en-US" altLang="zh-CN" sz="1400" kern="1200" dirty="0" smtClean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121917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400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7</a:t>
                      </a:r>
                      <a:r>
                        <a:rPr lang="zh-CN" altLang="en-US" sz="1400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、</a:t>
                      </a:r>
                      <a:r>
                        <a:rPr lang="zh-CN" altLang="en-US" sz="1400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遗漏问题：同一</a:t>
                      </a:r>
                      <a:r>
                        <a:rPr lang="en-US" altLang="zh-CN" sz="1400" kern="1200" dirty="0" err="1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CPLD</a:t>
                      </a:r>
                      <a:r>
                        <a:rPr lang="zh-CN" altLang="en-US" sz="1400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版本，不同测试人员的单板开关机状态不同；</a:t>
                      </a:r>
                      <a:endParaRPr lang="en-US" altLang="zh-CN" sz="1400" kern="1200" dirty="0" smtClean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文本框 6">
            <a:extLst>
              <a:ext uri="{FF2B5EF4-FFF2-40B4-BE49-F238E27FC236}">
                <a16:creationId xmlns="" xmlns:a16="http://schemas.microsoft.com/office/drawing/2014/main" id="{2BC0A0A8-0C9C-2D51-D930-A3AB6D1663CB}"/>
              </a:ext>
            </a:extLst>
          </p:cNvPr>
          <p:cNvSpPr txBox="1"/>
          <p:nvPr/>
        </p:nvSpPr>
        <p:spPr>
          <a:xfrm>
            <a:off x="527260" y="1099272"/>
            <a:ext cx="102154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n"/>
              <a:tabLst/>
              <a:defRPr/>
            </a:pPr>
            <a:r>
              <a:rPr lang="en-US" altLang="zh-CN" b="1" dirty="0" smtClean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3E6000</a:t>
            </a:r>
            <a:r>
              <a:rPr lang="zh-CN" altLang="en-US" b="1" dirty="0" smtClean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调试需求维护</a:t>
            </a:r>
            <a:r>
              <a:rPr lang="en-US" altLang="zh-CN" b="1" dirty="0" smtClean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	</a:t>
            </a:r>
            <a:endParaRPr kumimoji="0" lang="en-US" altLang="zh-CN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258573814"/>
      </p:ext>
    </p:extLst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441C1419-120D-DC1F-C21A-56303716ED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="" xmlns:a16="http://schemas.microsoft.com/office/drawing/2014/main" id="{BF62F1C8-BD5E-AB89-0E19-C79DD8E1455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27260" y="356659"/>
            <a:ext cx="9134596" cy="609600"/>
          </a:xfrm>
          <a:prstGeom prst="rect">
            <a:avLst/>
          </a:prstGeom>
        </p:spPr>
        <p:txBody>
          <a:bodyPr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/>
                <a:ea typeface="微软雅黑"/>
                <a:cs typeface="+mj-cs"/>
              </a:rPr>
              <a:t>工作</a:t>
            </a:r>
            <a:r>
              <a:rPr kumimoji="0" lang="zh-CN" altLang="en-US" sz="24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/>
                <a:ea typeface="微软雅黑"/>
                <a:cs typeface="+mj-cs"/>
              </a:rPr>
              <a:t>内容</a:t>
            </a:r>
            <a:r>
              <a:rPr lang="en-US" altLang="zh-CN" sz="2400" dirty="0">
                <a:solidFill>
                  <a:prstClr val="black"/>
                </a:solidFill>
                <a:latin typeface="微软雅黑"/>
                <a:ea typeface="微软雅黑"/>
              </a:rPr>
              <a:t>3</a:t>
            </a:r>
            <a:r>
              <a:rPr kumimoji="0" lang="zh-CN" altLang="en-US" sz="24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/>
                <a:ea typeface="微软雅黑"/>
                <a:cs typeface="+mj-cs"/>
              </a:rPr>
              <a:t> </a:t>
            </a:r>
            <a:r>
              <a:rPr kumimoji="0" lang="en-US" altLang="zh-CN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/>
                <a:ea typeface="微软雅黑"/>
                <a:cs typeface="+mj-cs"/>
              </a:rPr>
              <a:t>— </a:t>
            </a:r>
            <a:r>
              <a:rPr kumimoji="0" lang="zh-CN" altLang="en-US" sz="24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/>
                <a:ea typeface="微软雅黑"/>
                <a:cs typeface="+mj-cs"/>
              </a:rPr>
              <a:t>逻辑功能</a:t>
            </a:r>
            <a:r>
              <a:rPr kumimoji="0" lang="zh-CN" alt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/>
                <a:ea typeface="微软雅黑"/>
                <a:cs typeface="+mj-cs"/>
              </a:rPr>
              <a:t>调试</a:t>
            </a:r>
            <a:endParaRPr kumimoji="0" lang="zh-CN" altLang="en-US" sz="2400" b="0" i="0" u="none" strike="noStrike" kern="1200" cap="none" spc="0" normalizeH="0" baseline="0" noProof="0" dirty="0">
              <a:ln>
                <a:noFill/>
              </a:ln>
              <a:solidFill>
                <a:srgbClr val="FFC000"/>
              </a:solidFill>
              <a:effectLst/>
              <a:uLnTx/>
              <a:uFillTx/>
              <a:latin typeface="宋体" panose="02010600030101010101" pitchFamily="2" charset="-122"/>
              <a:ea typeface="宋体" panose="02010600030101010101" pitchFamily="2" charset="-122"/>
              <a:cs typeface="+mj-cs"/>
            </a:endParaRPr>
          </a:p>
        </p:txBody>
      </p:sp>
      <p:graphicFrame>
        <p:nvGraphicFramePr>
          <p:cNvPr id="2" name="表格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48428507"/>
              </p:ext>
            </p:extLst>
          </p:nvPr>
        </p:nvGraphicFramePr>
        <p:xfrm>
          <a:off x="527260" y="1496061"/>
          <a:ext cx="11418388" cy="7010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3783"/>
                <a:gridCol w="1923783"/>
                <a:gridCol w="3573602"/>
                <a:gridCol w="3997220"/>
              </a:tblGrid>
              <a:tr h="282364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所属项目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调试问题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21917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故障原因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解决思路</a:t>
                      </a:r>
                      <a:r>
                        <a:rPr lang="en-US" altLang="zh-CN" sz="1400" dirty="0" smtClean="0">
                          <a:solidFill>
                            <a:schemeClr val="tx1"/>
                          </a:solidFill>
                        </a:rPr>
                        <a:t>/</a:t>
                      </a:r>
                      <a:r>
                        <a:rPr lang="zh-CN" altLang="en-US" sz="1400" dirty="0" smtClean="0">
                          <a:solidFill>
                            <a:schemeClr val="tx1"/>
                          </a:solidFill>
                        </a:rPr>
                        <a:t>方法</a:t>
                      </a:r>
                      <a:endParaRPr lang="zh-CN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</a:tr>
              <a:tr h="396239">
                <a:tc>
                  <a:txBody>
                    <a:bodyPr/>
                    <a:lstStyle/>
                    <a:p>
                      <a:pPr marL="0" algn="ctr" defTabSz="1219170" rtl="0" eaLnBrk="1" latinLnBrk="0" hangingPunct="1"/>
                      <a:r>
                        <a:rPr lang="zh-CN" altLang="en-US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异格</a:t>
                      </a:r>
                      <a:r>
                        <a:rPr lang="en-US" altLang="zh-CN" sz="1400" kern="1200" dirty="0" err="1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FPGA</a:t>
                      </a:r>
                      <a:r>
                        <a:rPr lang="zh-CN" altLang="en-US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加速卡</a:t>
                      </a:r>
                      <a:endParaRPr lang="en-US" altLang="zh-CN" sz="14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1219170" rtl="0" eaLnBrk="1" latinLnBrk="0" hangingPunct="1"/>
                      <a:r>
                        <a:rPr lang="en-US" altLang="zh-CN" sz="1400" kern="1200" dirty="0" err="1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DDR</a:t>
                      </a:r>
                      <a:r>
                        <a:rPr lang="zh-CN" altLang="en-US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读写误码</a:t>
                      </a:r>
                      <a:endParaRPr lang="en-US" altLang="zh-CN" sz="14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21917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400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未确定原因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21917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400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未确定原因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文本框 3">
            <a:extLst>
              <a:ext uri="{FF2B5EF4-FFF2-40B4-BE49-F238E27FC236}">
                <a16:creationId xmlns="" xmlns:a16="http://schemas.microsoft.com/office/drawing/2014/main" id="{2BC0A0A8-0C9C-2D51-D930-A3AB6D1663CB}"/>
              </a:ext>
            </a:extLst>
          </p:cNvPr>
          <p:cNvSpPr txBox="1"/>
          <p:nvPr/>
        </p:nvSpPr>
        <p:spPr>
          <a:xfrm>
            <a:off x="527260" y="1099272"/>
            <a:ext cx="102154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n"/>
              <a:tabLst/>
              <a:defRPr/>
            </a:pPr>
            <a:r>
              <a:rPr kumimoji="0" lang="zh-CN" altLang="en-US" sz="18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调试问题分析</a:t>
            </a:r>
            <a:endParaRPr kumimoji="0" lang="en-US" altLang="zh-CN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 rotWithShape="1">
          <a:blip r:embed="rId2"/>
          <a:srcRect l="32359"/>
          <a:stretch/>
        </p:blipFill>
        <p:spPr>
          <a:xfrm>
            <a:off x="307270" y="2500709"/>
            <a:ext cx="5764146" cy="3380581"/>
          </a:xfrm>
          <a:prstGeom prst="rect">
            <a:avLst/>
          </a:prstGeom>
        </p:spPr>
      </p:pic>
      <p:pic>
        <p:nvPicPr>
          <p:cNvPr id="5" name="图片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284" y="2362200"/>
            <a:ext cx="5659364" cy="3657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2255959"/>
      </p:ext>
    </p:extLst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1"/>
          <p:cNvSpPr txBox="1"/>
          <p:nvPr/>
        </p:nvSpPr>
        <p:spPr>
          <a:xfrm>
            <a:off x="4016149" y="2688026"/>
            <a:ext cx="4829567" cy="1564870"/>
          </a:xfrm>
          <a:prstGeom prst="rect">
            <a:avLst/>
          </a:prstGeom>
          <a:noFill/>
        </p:spPr>
        <p:txBody>
          <a:bodyPr wrap="none" lIns="86697" tIns="43348" rIns="86697" bIns="43348" rtlCol="0">
            <a:spAutoFit/>
          </a:bodyPr>
          <a:lstStyle>
            <a:defPPr>
              <a:defRPr lang="zh-CN"/>
            </a:defPPr>
            <a:lvl1pPr marL="0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2565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199765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6965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1218565">
              <a:defRPr/>
            </a:pPr>
            <a:r>
              <a:rPr lang="zh-CN" altLang="en-US" sz="1865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 </a:t>
            </a:r>
            <a:r>
              <a:rPr lang="zh-CN" altLang="en-US" sz="2665" b="1" dirty="0">
                <a:solidFill>
                  <a:srgbClr val="0070C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第</a:t>
            </a:r>
            <a:r>
              <a:rPr lang="en-US" altLang="zh-CN" sz="2665" b="1" dirty="0">
                <a:solidFill>
                  <a:srgbClr val="0070C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4</a:t>
            </a:r>
            <a:r>
              <a:rPr lang="zh-CN" altLang="en-US" sz="2665" b="1" dirty="0">
                <a:solidFill>
                  <a:srgbClr val="0070C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部分</a:t>
            </a:r>
            <a:r>
              <a:rPr lang="zh-CN" altLang="en-US" sz="4800" dirty="0">
                <a:solidFill>
                  <a:srgbClr val="0070C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   </a:t>
            </a:r>
            <a:r>
              <a:rPr lang="en-US" altLang="zh-CN" sz="4800" dirty="0">
                <a:solidFill>
                  <a:srgbClr val="0070C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	</a:t>
            </a:r>
          </a:p>
          <a:p>
            <a:pPr marL="0" lvl="1" algn="ctr" defTabSz="1218565">
              <a:defRPr/>
            </a:pPr>
            <a:r>
              <a:rPr lang="en-US" altLang="zh-CN" sz="4800" dirty="0">
                <a:solidFill>
                  <a:srgbClr val="0070C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		</a:t>
            </a:r>
            <a:r>
              <a:rPr lang="zh-CN" altLang="en-US" sz="4800" dirty="0" smtClean="0">
                <a:solidFill>
                  <a:srgbClr val="0070C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未来规划</a:t>
            </a:r>
            <a:endParaRPr lang="en-US" altLang="zh-CN" sz="4800" dirty="0">
              <a:solidFill>
                <a:srgbClr val="0070C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cxnSp>
        <p:nvCxnSpPr>
          <p:cNvPr id="5" name="直接连接符 9"/>
          <p:cNvCxnSpPr/>
          <p:nvPr/>
        </p:nvCxnSpPr>
        <p:spPr>
          <a:xfrm flipV="1">
            <a:off x="3547868" y="2564905"/>
            <a:ext cx="0" cy="1893892"/>
          </a:xfrm>
          <a:prstGeom prst="line">
            <a:avLst/>
          </a:prstGeom>
          <a:noFill/>
          <a:ln w="12700" cap="flat" cmpd="sng" algn="ctr">
            <a:solidFill>
              <a:srgbClr val="E60012"/>
            </a:solidFill>
            <a:prstDash val="dash"/>
          </a:ln>
          <a:effectLst/>
        </p:spPr>
      </p:cxnSp>
      <p:sp>
        <p:nvSpPr>
          <p:cNvPr id="6" name="TextBox 13"/>
          <p:cNvSpPr txBox="1"/>
          <p:nvPr/>
        </p:nvSpPr>
        <p:spPr>
          <a:xfrm>
            <a:off x="1876156" y="4252896"/>
            <a:ext cx="1203432" cy="32823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zh-CN"/>
            </a:defPPr>
            <a:lvl1pPr marL="0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2565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199765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6965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1218565">
              <a:defRPr/>
            </a:pPr>
            <a:r>
              <a:rPr lang="en-US" altLang="zh-CN" sz="2135" dirty="0">
                <a:solidFill>
                  <a:srgbClr val="A0A0A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PART 04</a:t>
            </a:r>
            <a:endParaRPr lang="zh-CN" altLang="en-US" sz="2135" dirty="0">
              <a:solidFill>
                <a:srgbClr val="A0A0A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grpSp>
        <p:nvGrpSpPr>
          <p:cNvPr id="7" name="组合 25"/>
          <p:cNvGrpSpPr/>
          <p:nvPr/>
        </p:nvGrpSpPr>
        <p:grpSpPr>
          <a:xfrm>
            <a:off x="1648952" y="2539454"/>
            <a:ext cx="1400077" cy="1400155"/>
            <a:chOff x="304800" y="673100"/>
            <a:chExt cx="4000500" cy="4000500"/>
          </a:xfrm>
          <a:solidFill>
            <a:srgbClr val="E60012"/>
          </a:solidFill>
          <a:effectLst/>
        </p:grpSpPr>
        <p:sp>
          <p:nvSpPr>
            <p:cNvPr id="8" name="同心圆 7"/>
            <p:cNvSpPr/>
            <p:nvPr/>
          </p:nvSpPr>
          <p:spPr>
            <a:xfrm>
              <a:off x="304800" y="673100"/>
              <a:ext cx="4000500" cy="4000500"/>
            </a:xfrm>
            <a:prstGeom prst="donut">
              <a:avLst>
                <a:gd name="adj" fmla="val 4879"/>
              </a:avLst>
            </a:prstGeom>
            <a:grpFill/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>
              <a:defPPr>
                <a:defRPr lang="zh-CN"/>
              </a:defPPr>
              <a:lvl1pPr marL="0" algn="l" defTabSz="913765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3765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3765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3765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3765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3765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2565" algn="l" defTabSz="913765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199765" algn="l" defTabSz="913765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6965" algn="l" defTabSz="913765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 defTabSz="1218565">
                <a:defRPr/>
              </a:pPr>
              <a:endParaRPr lang="zh-CN" altLang="en-US" sz="2400">
                <a:solidFill>
                  <a:srgbClr val="08080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endParaRPr>
            </a:p>
          </p:txBody>
        </p:sp>
        <p:sp>
          <p:nvSpPr>
            <p:cNvPr id="9" name="椭圆 8"/>
            <p:cNvSpPr/>
            <p:nvPr/>
          </p:nvSpPr>
          <p:spPr>
            <a:xfrm>
              <a:off x="392112" y="760412"/>
              <a:ext cx="3825874" cy="3825874"/>
            </a:xfrm>
            <a:prstGeom prst="ellipse">
              <a:avLst/>
            </a:prstGeom>
            <a:grpFill/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>
              <a:defPPr>
                <a:defRPr lang="zh-CN"/>
              </a:defPPr>
              <a:lvl1pPr marL="0" algn="l" defTabSz="913765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3765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3765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3765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3765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3765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2565" algn="l" defTabSz="913765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199765" algn="l" defTabSz="913765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6965" algn="l" defTabSz="913765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 defTabSz="1218565">
                <a:defRPr/>
              </a:pPr>
              <a:endParaRPr lang="zh-CN" altLang="en-US" sz="2400">
                <a:solidFill>
                  <a:srgbClr val="08080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endParaRPr>
            </a:p>
          </p:txBody>
        </p:sp>
      </p:grpSp>
      <p:sp>
        <p:nvSpPr>
          <p:cNvPr id="10" name="TextBox 13"/>
          <p:cNvSpPr txBox="1"/>
          <p:nvPr/>
        </p:nvSpPr>
        <p:spPr>
          <a:xfrm>
            <a:off x="1648951" y="2870199"/>
            <a:ext cx="1203432" cy="73866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zh-CN"/>
            </a:defPPr>
            <a:lvl1pPr marL="0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2565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199765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6965" algn="l" defTabSz="91376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1218565">
              <a:defRPr/>
            </a:pPr>
            <a:r>
              <a:rPr lang="zh-CN" altLang="zh-CN" sz="4800" b="1" dirty="0">
                <a:solidFill>
                  <a:sysClr val="window" lastClr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 </a:t>
            </a:r>
            <a:r>
              <a:rPr lang="zh-CN" altLang="en-US" sz="4800" b="1" dirty="0">
                <a:solidFill>
                  <a:sysClr val="window" lastClr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  </a:t>
            </a:r>
            <a:r>
              <a:rPr lang="en-US" altLang="zh-CN" sz="4800" b="1" dirty="0">
                <a:solidFill>
                  <a:sysClr val="window" lastClr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4</a:t>
            </a:r>
            <a:endParaRPr lang="zh-CN" altLang="en-US" sz="4800" b="1" dirty="0">
              <a:solidFill>
                <a:sysClr val="window" lastClr="FFFFFF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889580152"/>
      </p:ext>
    </p:extLst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lvl="0" defTabSz="1219080" fontAlgn="auto">
              <a:spcAft>
                <a:spcPts val="0"/>
              </a:spcAft>
              <a:defRPr/>
            </a:pPr>
            <a:r>
              <a:rPr lang="en-US" altLang="zh-CN" sz="2400" kern="0" dirty="0">
                <a:solidFill>
                  <a:srgbClr val="000000"/>
                </a:solidFill>
                <a:latin typeface="微软雅黑"/>
                <a:ea typeface="微软雅黑"/>
              </a:rPr>
              <a:t>5</a:t>
            </a:r>
            <a:r>
              <a:rPr lang="zh-CN" altLang="en-US" sz="2400" kern="0" dirty="0">
                <a:solidFill>
                  <a:srgbClr val="000000"/>
                </a:solidFill>
                <a:latin typeface="微软雅黑"/>
                <a:ea typeface="微软雅黑"/>
              </a:rPr>
              <a:t>、</a:t>
            </a:r>
            <a:r>
              <a:rPr lang="zh-CN" altLang="en-US" sz="2400" kern="0" dirty="0" smtClean="0">
                <a:solidFill>
                  <a:srgbClr val="000000"/>
                </a:solidFill>
                <a:latin typeface="微软雅黑"/>
                <a:ea typeface="微软雅黑"/>
              </a:rPr>
              <a:t>未来</a:t>
            </a:r>
            <a:r>
              <a:rPr lang="zh-CN" altLang="en-US" sz="2400" kern="0" dirty="0">
                <a:solidFill>
                  <a:srgbClr val="000000"/>
                </a:solidFill>
                <a:latin typeface="微软雅黑"/>
                <a:ea typeface="微软雅黑"/>
              </a:rPr>
              <a:t>规划</a:t>
            </a:r>
          </a:p>
        </p:txBody>
      </p:sp>
      <p:sp>
        <p:nvSpPr>
          <p:cNvPr id="2" name="矩形 1"/>
          <p:cNvSpPr/>
          <p:nvPr/>
        </p:nvSpPr>
        <p:spPr>
          <a:xfrm>
            <a:off x="940316" y="1066302"/>
            <a:ext cx="9316388" cy="311880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 algn="just" eaLnBrk="0" fontAlgn="base" hangingPunct="0">
              <a:lnSpc>
                <a:spcPts val="2400"/>
              </a:lnSpc>
              <a:spcBef>
                <a:spcPts val="200"/>
              </a:spcBef>
              <a:spcAft>
                <a:spcPts val="200"/>
              </a:spcAft>
              <a:buClr>
                <a:prstClr val="black"/>
              </a:buClr>
              <a:buFont typeface="Wingdings" panose="05000000000000000000" pitchFamily="2" charset="2"/>
              <a:buChar char="n"/>
              <a:defRPr/>
            </a:pPr>
            <a:r>
              <a:rPr lang="en-US" altLang="zh-CN" dirty="0" err="1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CPLD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逻辑代码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的编码和调试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工作中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，首先要了解项目的整体硬件架构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和逻辑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功能需求；项目紧急时优先保证电源系统稳定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可靠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，然后再慢慢添加其他需求。</a:t>
            </a:r>
            <a:endParaRPr lang="en-US" altLang="zh-CN" dirty="0" smtClean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85750" indent="-285750" algn="just" eaLnBrk="0" fontAlgn="base" hangingPunct="0">
              <a:lnSpc>
                <a:spcPts val="2400"/>
              </a:lnSpc>
              <a:spcBef>
                <a:spcPts val="200"/>
              </a:spcBef>
              <a:spcAft>
                <a:spcPts val="200"/>
              </a:spcAft>
              <a:buClr>
                <a:prstClr val="black"/>
              </a:buClr>
              <a:buFont typeface="Wingdings" panose="05000000000000000000" pitchFamily="2" charset="2"/>
              <a:buChar char="n"/>
              <a:defRPr/>
            </a:pPr>
            <a:endParaRPr lang="en-US" altLang="zh-CN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85750" indent="-285750" algn="just" eaLnBrk="0" fontAlgn="base" hangingPunct="0">
              <a:lnSpc>
                <a:spcPts val="2400"/>
              </a:lnSpc>
              <a:spcBef>
                <a:spcPts val="200"/>
              </a:spcBef>
              <a:spcAft>
                <a:spcPts val="200"/>
              </a:spcAft>
              <a:buClr>
                <a:prstClr val="black"/>
              </a:buClr>
              <a:buFont typeface="Wingdings" panose="05000000000000000000" pitchFamily="2" charset="2"/>
              <a:buChar char="n"/>
              <a:defRPr/>
            </a:pP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硬件知识和能力欠缺，动手实操的能力欠缺；后续希望有机会可以参与到硬件设计的工作上；</a:t>
            </a:r>
            <a:endParaRPr lang="en-US" altLang="zh-CN" dirty="0" smtClean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85750" indent="-285750" algn="just" eaLnBrk="0" fontAlgn="base" hangingPunct="0">
              <a:lnSpc>
                <a:spcPts val="2400"/>
              </a:lnSpc>
              <a:spcBef>
                <a:spcPts val="200"/>
              </a:spcBef>
              <a:spcAft>
                <a:spcPts val="200"/>
              </a:spcAft>
              <a:buClr>
                <a:prstClr val="black"/>
              </a:buClr>
              <a:buFont typeface="Wingdings" panose="05000000000000000000" pitchFamily="2" charset="2"/>
              <a:buChar char="n"/>
              <a:defRPr/>
            </a:pPr>
            <a:endParaRPr lang="en-US" altLang="zh-CN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85750" indent="-285750" algn="just" eaLnBrk="0" fontAlgn="base" hangingPunct="0">
              <a:lnSpc>
                <a:spcPts val="2400"/>
              </a:lnSpc>
              <a:spcBef>
                <a:spcPts val="200"/>
              </a:spcBef>
              <a:spcAft>
                <a:spcPts val="200"/>
              </a:spcAft>
              <a:buClr>
                <a:prstClr val="black"/>
              </a:buClr>
              <a:buFont typeface="Wingdings" panose="05000000000000000000" pitchFamily="2" charset="2"/>
              <a:buChar char="n"/>
              <a:defRPr/>
            </a:pP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缺乏大型的逻辑总体设计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能力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，逻辑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开发经验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不足，时序分析能力不足；高速接口例如</a:t>
            </a:r>
            <a:r>
              <a:rPr lang="en-US" altLang="zh-CN" dirty="0" err="1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PCIE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，</a:t>
            </a:r>
            <a:r>
              <a:rPr lang="en-US" altLang="zh-CN" dirty="0" err="1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intelaken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等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85750" indent="-285750" algn="just" eaLnBrk="0" fontAlgn="base" hangingPunct="0">
              <a:lnSpc>
                <a:spcPts val="2400"/>
              </a:lnSpc>
              <a:spcBef>
                <a:spcPts val="200"/>
              </a:spcBef>
              <a:spcAft>
                <a:spcPts val="200"/>
              </a:spcAft>
              <a:buClr>
                <a:prstClr val="black"/>
              </a:buClr>
              <a:buFont typeface="Wingdings" panose="05000000000000000000" pitchFamily="2" charset="2"/>
              <a:buChar char="n"/>
              <a:defRPr/>
            </a:pPr>
            <a:endParaRPr lang="en-US" altLang="zh-CN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936465663"/>
      </p:ext>
    </p:extLst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 2"/>
          <p:cNvSpPr/>
          <p:nvPr/>
        </p:nvSpPr>
        <p:spPr>
          <a:xfrm>
            <a:off x="2885956" y="1479113"/>
            <a:ext cx="5724644" cy="2585323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marL="0" lvl="1" algn="ctr" defTabSz="1218565">
              <a:defRPr/>
            </a:pPr>
            <a:r>
              <a:rPr lang="zh-CN" altLang="en-US" sz="5400" b="0" cap="none" spc="0" dirty="0">
                <a:ln w="0"/>
                <a:solidFill>
                  <a:srgbClr val="2F66C2"/>
                </a:solidFill>
                <a:effectLst>
                  <a:reflection blurRad="6350" stA="53000" endA="300" endPos="35500" dir="5400000" sy="-90000" algn="bl" rotWithShape="0"/>
                </a:effectLst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欢迎各位专家指正</a:t>
            </a:r>
            <a:endParaRPr lang="en-US" altLang="zh-CN" sz="5400" b="0" cap="none" spc="0" dirty="0">
              <a:ln w="0"/>
              <a:solidFill>
                <a:srgbClr val="2F66C2"/>
              </a:solidFill>
              <a:effectLst>
                <a:reflection blurRad="6350" stA="53000" endA="300" endPos="35500" dir="5400000" sy="-90000" algn="bl" rotWithShape="0"/>
              </a:effectLst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  <a:p>
            <a:pPr marL="0" lvl="1" algn="ctr" defTabSz="1218565">
              <a:defRPr/>
            </a:pPr>
            <a:endParaRPr lang="en-US" altLang="zh-CN" sz="5400" b="0" cap="none" spc="0" dirty="0">
              <a:ln w="0"/>
              <a:solidFill>
                <a:srgbClr val="2F66C2"/>
              </a:solidFill>
              <a:effectLst>
                <a:reflection blurRad="6350" stA="53000" endA="300" endPos="35500" dir="5400000" sy="-90000" algn="bl" rotWithShape="0"/>
              </a:effectLst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  <a:p>
            <a:pPr marL="0" lvl="1" algn="ctr" defTabSz="1218565">
              <a:defRPr/>
            </a:pPr>
            <a:r>
              <a:rPr lang="zh-CN" altLang="en-US" sz="5400" b="0" cap="none" spc="0" dirty="0">
                <a:ln w="0"/>
                <a:solidFill>
                  <a:srgbClr val="2F66C2"/>
                </a:solidFill>
                <a:effectLst>
                  <a:reflection blurRad="6350" stA="53000" endA="300" endPos="35500" dir="5400000" sy="-90000" algn="bl" rotWithShape="0"/>
                </a:effectLst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谢谢各位评委！</a:t>
            </a:r>
            <a:endParaRPr lang="zh-CN" altLang="en-US" sz="5400" b="0" cap="none" spc="0" dirty="0">
              <a:ln w="0"/>
              <a:solidFill>
                <a:srgbClr val="2F66C2"/>
              </a:solidFill>
              <a:effectLst>
                <a:reflection blurRad="6350" stA="53000" endA="300" endPos="35500" dir="5400000" sy="-90000" algn="bl" rotWithShape="0"/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1518950792"/>
      </p:ext>
    </p:extLst>
  </p:cSld>
  <p:clrMapOvr>
    <a:masterClrMapping/>
  </p:clrMapOvr>
  <p:transition/>
</p:sld>
</file>

<file path=ppt/theme/theme1.xml><?xml version="1.0" encoding="utf-8"?>
<a:theme xmlns:a="http://schemas.openxmlformats.org/drawingml/2006/main" name="模板-Confidential 秘密">
  <a:themeElements>
    <a:clrScheme name="主题颜色-1">
      <a:dk1>
        <a:srgbClr val="262626"/>
      </a:dk1>
      <a:lt1>
        <a:srgbClr val="FFFFFF"/>
      </a:lt1>
      <a:dk2>
        <a:srgbClr val="262626"/>
      </a:dk2>
      <a:lt2>
        <a:srgbClr val="BFBFBF"/>
      </a:lt2>
      <a:accent1>
        <a:srgbClr val="2C4155"/>
      </a:accent1>
      <a:accent2>
        <a:srgbClr val="2290B3"/>
      </a:accent2>
      <a:accent3>
        <a:srgbClr val="6EADA7"/>
      </a:accent3>
      <a:accent4>
        <a:srgbClr val="ADB378"/>
      </a:accent4>
      <a:accent5>
        <a:srgbClr val="EB6161"/>
      </a:accent5>
      <a:accent6>
        <a:srgbClr val="CF7B0F"/>
      </a:accent6>
      <a:hlink>
        <a:srgbClr val="598486"/>
      </a:hlink>
      <a:folHlink>
        <a:srgbClr val="007272"/>
      </a:folHlink>
    </a:clrScheme>
    <a:fontScheme name="自定义设计方案">
      <a:majorFont>
        <a:latin typeface="Arial"/>
        <a:ea typeface="华文细黑"/>
        <a:cs typeface=""/>
      </a:majorFont>
      <a:minorFont>
        <a:latin typeface="华文中宋"/>
        <a:ea typeface="华文细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5688B6"/>
        </a:solidFill>
        <a:ln w="12700" cap="flat" cmpd="sng" algn="ctr">
          <a:noFill/>
          <a:prstDash val="dash"/>
        </a:ln>
      </a:spPr>
      <a:bodyPr rtlCol="0" anchor="ctr"/>
      <a:lstStyle>
        <a:defPPr marL="0" marR="0" indent="0" algn="ctr" defTabSz="914400" eaLnBrk="1" fontAlgn="auto" latinLnBrk="0" hangingPunct="1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400" b="1" i="0" u="none" strike="noStrike" kern="0" cap="none" spc="0" normalizeH="0" baseline="0" noProof="0">
            <a:ln>
              <a:noFill/>
            </a:ln>
            <a:effectLst/>
            <a:uLnTx/>
            <a:uFillTx/>
            <a:latin typeface="微软雅黑" panose="020B0503020204020204" pitchFamily="34" charset="-122"/>
            <a:ea typeface="微软雅黑" panose="020B0503020204020204" pitchFamily="34" charset="-122"/>
            <a:cs typeface="+mn-cs"/>
          </a:defRPr>
        </a:defPPr>
      </a:lstStyle>
    </a:spDef>
  </a:objectDefaults>
  <a:extraClrSchemeLst>
    <a:extraClrScheme>
      <a:clrScheme name="自定义设计方案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自定义设计方案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自定义设计方案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自定义设计方案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自定义设计方案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自定义设计方案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自定义设计方案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自定义设计方案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自定义设计方案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自定义设计方案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自定义设计方案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自定义设计方案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95170</TotalTime>
  <Words>2051</Words>
  <Application>Microsoft Office PowerPoint</Application>
  <PresentationFormat>宽屏</PresentationFormat>
  <Paragraphs>177</Paragraphs>
  <Slides>17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17</vt:i4>
      </vt:variant>
    </vt:vector>
  </HeadingPairs>
  <TitlesOfParts>
    <vt:vector size="25" baseType="lpstr">
      <vt:lpstr>华文细黑</vt:lpstr>
      <vt:lpstr>华文中宋</vt:lpstr>
      <vt:lpstr>宋体</vt:lpstr>
      <vt:lpstr>微软雅黑</vt:lpstr>
      <vt:lpstr>Arial</vt:lpstr>
      <vt:lpstr>Calibri</vt:lpstr>
      <vt:lpstr>Wingdings</vt:lpstr>
      <vt:lpstr>模板-Confidential 秘密</vt:lpstr>
      <vt:lpstr>PowerPoint 演示文稿</vt:lpstr>
      <vt:lpstr>PowerPoint 演示文稿</vt:lpstr>
      <vt:lpstr>PowerPoint 演示文稿</vt:lpstr>
      <vt:lpstr>个人介绍</vt:lpstr>
      <vt:lpstr>PowerPoint 演示文稿</vt:lpstr>
      <vt:lpstr>工作内容 — 概述</vt:lpstr>
      <vt:lpstr>工作内容1 — 梳理硬件设计方案</vt:lpstr>
      <vt:lpstr>工作内容2 —生成逻辑方案设计</vt:lpstr>
      <vt:lpstr>工作内容3 —熟悉电源上下电方案</vt:lpstr>
      <vt:lpstr>工作内容2 —欧康诺电源上下电方案</vt:lpstr>
      <vt:lpstr>工作内容3 — 逻辑功能调试</vt:lpstr>
      <vt:lpstr>工作内容3 — 逻辑功能调试</vt:lpstr>
      <vt:lpstr>工作内容3 — 逻辑功能调试</vt:lpstr>
      <vt:lpstr>工作内容3 — 逻辑功能调试</vt:lpstr>
      <vt:lpstr>PowerPoint 演示文稿</vt:lpstr>
      <vt:lpstr>5、未来规划</vt:lpstr>
      <vt:lpstr>PowerPoint 演示文稿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yangsiyuan</dc:creator>
  <cp:lastModifiedBy>zhumingjie 02665</cp:lastModifiedBy>
  <cp:revision>346</cp:revision>
  <dcterms:created xsi:type="dcterms:W3CDTF">2021-08-24T02:59:46Z</dcterms:created>
  <dcterms:modified xsi:type="dcterms:W3CDTF">2026-01-28T06:14:05Z</dcterms:modified>
</cp:coreProperties>
</file>