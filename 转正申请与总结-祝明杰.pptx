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19"/>
  </p:notesMasterIdLst>
  <p:sldIdLst>
    <p:sldId id="368" r:id="rId2"/>
    <p:sldId id="319" r:id="rId3"/>
    <p:sldId id="320" r:id="rId4"/>
    <p:sldId id="259" r:id="rId5"/>
    <p:sldId id="321" r:id="rId6"/>
    <p:sldId id="304" r:id="rId7"/>
    <p:sldId id="349" r:id="rId8"/>
    <p:sldId id="350" r:id="rId9"/>
    <p:sldId id="351" r:id="rId10"/>
    <p:sldId id="362" r:id="rId11"/>
    <p:sldId id="363" r:id="rId12"/>
    <p:sldId id="365" r:id="rId13"/>
    <p:sldId id="367" r:id="rId14"/>
    <p:sldId id="366" r:id="rId15"/>
    <p:sldId id="323" r:id="rId16"/>
    <p:sldId id="310" r:id="rId17"/>
    <p:sldId id="26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25C3"/>
    <a:srgbClr val="2F66C2"/>
    <a:srgbClr val="527BC6"/>
    <a:srgbClr val="437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中度样式 4 - 强调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69" autoAdjust="0"/>
    <p:restoredTop sz="94348" autoAdjust="0"/>
  </p:normalViewPr>
  <p:slideViewPr>
    <p:cSldViewPr snapToGrid="0">
      <p:cViewPr varScale="1">
        <p:scale>
          <a:sx n="60" d="100"/>
          <a:sy n="60" d="100"/>
        </p:scale>
        <p:origin x="84" y="13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1A718-2EF3-4FEF-9652-7CA90B1F98E5}" type="datetimeFigureOut">
              <a:rPr lang="zh-CN" altLang="en-US" smtClean="0"/>
              <a:t>2026/2/6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5D5CC6-AEBA-41CD-B77A-6B05C9118B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619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15D5CC6-AEBA-41CD-B77A-6B05C9118B8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830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秘密-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5"/>
          <p:cNvSpPr>
            <a:spLocks noGrp="1" noChangeArrowheads="1"/>
          </p:cNvSpPr>
          <p:nvPr>
            <p:ph idx="1"/>
          </p:nvPr>
        </p:nvSpPr>
        <p:spPr bwMode="auto">
          <a:xfrm>
            <a:off x="609600" y="1440490"/>
            <a:ext cx="10972800" cy="4484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buFont typeface="Wingdings" panose="05000000000000000000" pitchFamily="2" charset="2"/>
              <a:buChar char="n"/>
              <a:defRPr/>
            </a:lvl1pPr>
            <a:lvl2pPr>
              <a:buFont typeface="Arial" panose="020B0604020202020204" pitchFamily="34" charset="0"/>
              <a:buChar char="•"/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09810" y="356659"/>
            <a:ext cx="9134596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6" name="Rectangle 17"/>
          <p:cNvSpPr>
            <a:spLocks noChangeArrowheads="1"/>
          </p:cNvSpPr>
          <p:nvPr userDrawn="1"/>
        </p:nvSpPr>
        <p:spPr bwMode="auto">
          <a:xfrm>
            <a:off x="609599" y="966259"/>
            <a:ext cx="9168000" cy="60959"/>
          </a:xfrm>
          <a:prstGeom prst="rect">
            <a:avLst/>
          </a:prstGeom>
          <a:solidFill>
            <a:srgbClr val="19589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69744656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秘密-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09810" y="356659"/>
            <a:ext cx="9134596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609599" y="966259"/>
            <a:ext cx="9168000" cy="60959"/>
          </a:xfrm>
          <a:prstGeom prst="rect">
            <a:avLst/>
          </a:prstGeom>
          <a:solidFill>
            <a:srgbClr val="19589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7079817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秘密-节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/>
        </p:nvSpPr>
        <p:spPr>
          <a:xfrm>
            <a:off x="10377940" y="6556681"/>
            <a:ext cx="1308820" cy="297454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333" dirty="0">
                <a:solidFill>
                  <a:srgbClr val="262626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www.h3c.com</a:t>
            </a:r>
            <a:endParaRPr lang="zh-CN" altLang="en-US" sz="1333" dirty="0">
              <a:solidFill>
                <a:srgbClr val="262626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5388537" y="6581052"/>
            <a:ext cx="1337226" cy="256545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67" b="1" dirty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Confidential </a:t>
            </a:r>
            <a:r>
              <a:rPr lang="zh-CN" altLang="en-US" sz="1067" b="1" dirty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秘密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0" y="1"/>
            <a:ext cx="12192000" cy="3343471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dash"/>
          </a:ln>
          <a:effectLst/>
        </p:spPr>
        <p:txBody>
          <a:bodyPr rtlCol="0" anchor="ctr"/>
          <a:lstStyle/>
          <a:p>
            <a:pPr algn="ctr"/>
            <a:endParaRPr lang="zh-CN" altLang="en-US" sz="1867" b="1" kern="0" dirty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xmlns="" id="{6286DD0E-0F20-4F4E-8533-FFE05262B0DD}"/>
              </a:ext>
            </a:extLst>
          </p:cNvPr>
          <p:cNvSpPr/>
          <p:nvPr userDrawn="1"/>
        </p:nvSpPr>
        <p:spPr>
          <a:xfrm>
            <a:off x="5049409" y="3361638"/>
            <a:ext cx="2095830" cy="44121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267" dirty="0">
                <a:solidFill>
                  <a:srgbClr val="FFFFFF">
                    <a:lumMod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www.h3c.com</a:t>
            </a:r>
            <a:endParaRPr lang="zh-CN" altLang="en-US" sz="2267" dirty="0">
              <a:solidFill>
                <a:srgbClr val="FFFFFF">
                  <a:lumMod val="8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xmlns="" id="{8971FE5F-7AB6-45F2-A091-D2F0246940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71018" y="2372883"/>
            <a:ext cx="5049965" cy="84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066878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09810" y="356659"/>
            <a:ext cx="9134596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17"/>
          <p:cNvSpPr>
            <a:spLocks noChangeArrowheads="1"/>
          </p:cNvSpPr>
          <p:nvPr userDrawn="1"/>
        </p:nvSpPr>
        <p:spPr bwMode="auto">
          <a:xfrm>
            <a:off x="609599" y="966259"/>
            <a:ext cx="9168000" cy="60959"/>
          </a:xfrm>
          <a:prstGeom prst="rect">
            <a:avLst/>
          </a:prstGeom>
          <a:solidFill>
            <a:srgbClr val="19589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20" tIns="60960" rIns="121920" bIns="60960" numCol="1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607" y="316415"/>
            <a:ext cx="1243012" cy="69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437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D1AF5E5-68C7-4D2C-B141-D4FA4E4A8D34}" type="datetimeFigureOut">
              <a:rPr lang="zh-CN" altLang="en-US">
                <a:solidFill>
                  <a:srgbClr val="26262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2026/2/6</a:t>
            </a:fld>
            <a:endParaRPr lang="zh-CN" altLang="en-US">
              <a:solidFill>
                <a:srgbClr val="26262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26262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BB461B6-EA5E-467A-B473-0F8E4EA2CBBE}" type="slidenum">
              <a:rPr lang="zh-CN" altLang="en-US">
                <a:solidFill>
                  <a:srgbClr val="262626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>
              <a:solidFill>
                <a:srgbClr val="262626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085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 descr="1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959" y="6522753"/>
            <a:ext cx="12192001" cy="330200"/>
          </a:xfrm>
          <a:prstGeom prst="rect">
            <a:avLst/>
          </a:prstGeom>
        </p:spPr>
      </p:pic>
      <p:sp>
        <p:nvSpPr>
          <p:cNvPr id="1026" name="Rectangle 2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440490"/>
            <a:ext cx="10972800" cy="4484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9" name="Rectangle 24"/>
          <p:cNvSpPr>
            <a:spLocks noGrp="1" noChangeArrowheads="1"/>
          </p:cNvSpPr>
          <p:nvPr>
            <p:ph type="title"/>
          </p:nvPr>
        </p:nvSpPr>
        <p:spPr bwMode="auto">
          <a:xfrm>
            <a:off x="609810" y="356659"/>
            <a:ext cx="9134596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3" name="矩形 12"/>
          <p:cNvSpPr/>
          <p:nvPr userDrawn="1"/>
        </p:nvSpPr>
        <p:spPr>
          <a:xfrm>
            <a:off x="5388537" y="6581052"/>
            <a:ext cx="1337226" cy="256545"/>
          </a:xfrm>
          <a:prstGeom prst="rect">
            <a:avLst/>
          </a:prstGeom>
        </p:spPr>
        <p:txBody>
          <a:bodyPr wrap="none" anchor="ctr" anchorCtr="1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067" b="1" dirty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Confidential </a:t>
            </a:r>
            <a:r>
              <a:rPr lang="zh-CN" altLang="en-US" sz="1067" b="1" dirty="0">
                <a:solidFill>
                  <a:srgbClr val="262626">
                    <a:lumMod val="50000"/>
                    <a:lumOff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秘密</a:t>
            </a:r>
          </a:p>
        </p:txBody>
      </p:sp>
      <p:sp>
        <p:nvSpPr>
          <p:cNvPr id="28" name="矩形 27"/>
          <p:cNvSpPr/>
          <p:nvPr userDrawn="1"/>
        </p:nvSpPr>
        <p:spPr>
          <a:xfrm>
            <a:off x="9255582" y="6547830"/>
            <a:ext cx="2249783" cy="297454"/>
          </a:xfrm>
          <a:prstGeom prst="rect">
            <a:avLst/>
          </a:prstGeom>
        </p:spPr>
        <p:txBody>
          <a:bodyPr wrap="none" anchor="ctr" anchorCtr="1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1333" dirty="0">
                <a:solidFill>
                  <a:srgbClr val="262626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www.cloundnineinfo.com</a:t>
            </a:r>
            <a:endParaRPr lang="zh-CN" altLang="en-US" sz="1333" dirty="0">
              <a:solidFill>
                <a:srgbClr val="262626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6"/>
          <p:cNvSpPr txBox="1"/>
          <p:nvPr userDrawn="1"/>
        </p:nvSpPr>
        <p:spPr>
          <a:xfrm>
            <a:off x="11757051" y="6496216"/>
            <a:ext cx="394660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fld id="{A5BB97A9-7D72-4F8F-8BC5-4E547C3F4DC5}" type="slidenum">
              <a:rPr lang="en-GB" altLang="zh-CN" sz="1333" smtClean="0">
                <a:solidFill>
                  <a:srgbClr val="262626"/>
                </a:solidFill>
              </a:rPr>
              <a:pPr/>
              <a:t>‹#›</a:t>
            </a:fld>
            <a:endParaRPr lang="en-GB" altLang="zh-CN" sz="1333" dirty="0">
              <a:solidFill>
                <a:srgbClr val="262626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1607" y="316415"/>
            <a:ext cx="1243012" cy="690087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-4235" y="6523470"/>
            <a:ext cx="339595" cy="329484"/>
          </a:xfrm>
          <a:prstGeom prst="rect">
            <a:avLst/>
          </a:prstGeom>
          <a:solidFill>
            <a:srgbClr val="19589F"/>
          </a:solidFill>
          <a:ln w="12700" cap="flat" cmpd="sng" algn="ctr">
            <a:noFill/>
            <a:prstDash val="dash"/>
          </a:ln>
        </p:spPr>
        <p:txBody>
          <a:bodyPr rtlCol="0" anchor="ctr"/>
          <a:lstStyle/>
          <a:p>
            <a:pPr algn="ctr"/>
            <a:endParaRPr lang="zh-CN" altLang="en-US" sz="1867" b="1" kern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1760629" y="6789374"/>
            <a:ext cx="394059" cy="62335"/>
          </a:xfrm>
          <a:prstGeom prst="rect">
            <a:avLst/>
          </a:prstGeom>
          <a:solidFill>
            <a:srgbClr val="19589F"/>
          </a:solidFill>
          <a:ln w="12700" cap="flat" cmpd="sng" algn="ctr">
            <a:noFill/>
            <a:prstDash val="dash"/>
          </a:ln>
        </p:spPr>
        <p:txBody>
          <a:bodyPr rtlCol="0" anchor="ctr"/>
          <a:lstStyle/>
          <a:p>
            <a:pPr algn="ctr"/>
            <a:endParaRPr lang="zh-CN" altLang="en-US" sz="1867" b="1" kern="0">
              <a:solidFill>
                <a:srgbClr val="26262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4691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8" r:id="rId5"/>
  </p:sldLayoutIdLst>
  <p:transition/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CC0000"/>
          </a:solidFill>
          <a:latin typeface="Arial" panose="020B0604020202020204" pitchFamily="34" charset="0"/>
          <a:ea typeface="华文细黑" panose="0201060004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CC0000"/>
          </a:solidFill>
          <a:latin typeface="Arial" panose="020B0604020202020204" pitchFamily="34" charset="0"/>
          <a:ea typeface="华文细黑" panose="0201060004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CC0000"/>
          </a:solidFill>
          <a:latin typeface="Arial" panose="020B0604020202020204" pitchFamily="34" charset="0"/>
          <a:ea typeface="华文细黑" panose="0201060004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CC0000"/>
          </a:solidFill>
          <a:latin typeface="Arial" panose="020B0604020202020204" pitchFamily="34" charset="0"/>
          <a:ea typeface="华文细黑" panose="02010600040101010101" pitchFamily="2" charset="-122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CC0000"/>
          </a:solidFill>
          <a:latin typeface="Arial" panose="020B0604020202020204" pitchFamily="34" charset="0"/>
          <a:ea typeface="华文细黑" panose="02010600040101010101" pitchFamily="2" charset="-122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CC0000"/>
          </a:solidFill>
          <a:latin typeface="Arial" panose="020B0604020202020204" pitchFamily="34" charset="0"/>
          <a:ea typeface="华文细黑" panose="02010600040101010101" pitchFamily="2" charset="-122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CC0000"/>
          </a:solidFill>
          <a:latin typeface="Arial" panose="020B0604020202020204" pitchFamily="34" charset="0"/>
          <a:ea typeface="华文细黑" panose="02010600040101010101" pitchFamily="2" charset="-122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CC0000"/>
          </a:solidFill>
          <a:latin typeface="Arial" panose="020B0604020202020204" pitchFamily="34" charset="0"/>
          <a:ea typeface="华文细黑" panose="02010600040101010101" pitchFamily="2" charset="-122"/>
        </a:defRPr>
      </a:lvl9pPr>
    </p:titleStyle>
    <p:bodyStyle>
      <a:lvl1pPr marL="457189" indent="-457189" algn="l" rtl="0" eaLnBrk="1" fontAlgn="base" hangingPunct="1">
        <a:lnSpc>
          <a:spcPct val="150000"/>
        </a:lnSpc>
        <a:spcBef>
          <a:spcPct val="0"/>
        </a:spcBef>
        <a:spcAft>
          <a:spcPct val="0"/>
        </a:spcAft>
        <a:defRPr sz="2400" b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575" indent="-380990" algn="l" rtl="0" eaLnBrk="1" fontAlgn="base" hangingPunct="1">
        <a:lnSpc>
          <a:spcPct val="120000"/>
        </a:lnSpc>
        <a:spcBef>
          <a:spcPct val="50000"/>
        </a:spcBef>
        <a:spcAft>
          <a:spcPct val="0"/>
        </a:spcAft>
        <a:defRPr sz="2133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523962" indent="-304792" algn="l" rtl="0" eaLnBrk="1" fontAlgn="base" hangingPunct="1">
        <a:lnSpc>
          <a:spcPct val="120000"/>
        </a:lnSpc>
        <a:spcBef>
          <a:spcPct val="50000"/>
        </a:spcBef>
        <a:spcAft>
          <a:spcPct val="0"/>
        </a:spcAft>
        <a:defRPr sz="1867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2133547" indent="-304792" algn="l" rtl="0" eaLnBrk="1" fontAlgn="base" hangingPunct="1">
        <a:lnSpc>
          <a:spcPct val="120000"/>
        </a:lnSpc>
        <a:spcBef>
          <a:spcPct val="50000"/>
        </a:spcBef>
        <a:spcAft>
          <a:spcPct val="0"/>
        </a:spcAft>
        <a:defRPr sz="160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743131" indent="-304792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1467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3352716" indent="-304792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j-lt"/>
          <a:ea typeface="+mn-ea"/>
        </a:defRPr>
      </a:lvl6pPr>
      <a:lvl7pPr marL="3962301" indent="-304792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j-lt"/>
          <a:ea typeface="+mn-ea"/>
        </a:defRPr>
      </a:lvl7pPr>
      <a:lvl8pPr marL="4571886" indent="-304792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j-lt"/>
          <a:ea typeface="+mn-ea"/>
        </a:defRPr>
      </a:lvl8pPr>
      <a:lvl9pPr marL="5181470" indent="-304792" algn="l" rtl="0" eaLnBrk="1" fontAlgn="base" hangingPunct="1">
        <a:lnSpc>
          <a:spcPct val="120000"/>
        </a:lnSpc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 descr="VCG21gic15681475.jpg"/>
          <p:cNvPicPr>
            <a:picLocks noChangeAspect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80009" cy="6858000"/>
          </a:xfrm>
          <a:prstGeom prst="rect">
            <a:avLst/>
          </a:prstGeom>
        </p:spPr>
      </p:pic>
      <p:sp>
        <p:nvSpPr>
          <p:cNvPr id="5" name="Rectangle 15"/>
          <p:cNvSpPr>
            <a:spLocks noChangeArrowheads="1"/>
          </p:cNvSpPr>
          <p:nvPr/>
        </p:nvSpPr>
        <p:spPr bwMode="auto">
          <a:xfrm>
            <a:off x="1441622" y="3621022"/>
            <a:ext cx="10750377" cy="1344181"/>
          </a:xfrm>
          <a:prstGeom prst="rect">
            <a:avLst/>
          </a:prstGeom>
          <a:solidFill>
            <a:srgbClr val="C00000">
              <a:alpha val="72000"/>
            </a:srgbClr>
          </a:solidFill>
          <a:ln>
            <a:noFill/>
          </a:ln>
        </p:spPr>
        <p:txBody>
          <a:bodyPr vert="horz" wrap="square" lIns="121920" tIns="60960" rIns="121920" bIns="60960" numCol="1" anchor="ctr" anchorCtr="1" compatLnSpc="1">
            <a:prstTxWarp prst="textNoShape">
              <a:avLst/>
            </a:prstTxWarp>
          </a:bodyPr>
          <a:lstStyle/>
          <a:p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18851" y="3507867"/>
            <a:ext cx="10349299" cy="203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定制化产品线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计算产品开发部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转正答辩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祝明杰</a:t>
            </a:r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-2026/01/20</a:t>
            </a: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15"/>
          <p:cNvSpPr>
            <a:spLocks noChangeArrowheads="1"/>
          </p:cNvSpPr>
          <p:nvPr/>
        </p:nvSpPr>
        <p:spPr bwMode="auto">
          <a:xfrm>
            <a:off x="1292519" y="3620697"/>
            <a:ext cx="60959" cy="1344000"/>
          </a:xfrm>
          <a:prstGeom prst="rect">
            <a:avLst/>
          </a:prstGeom>
          <a:solidFill>
            <a:srgbClr val="C00000">
              <a:alpha val="73000"/>
            </a:srgbClr>
          </a:solidFill>
          <a:ln>
            <a:noFill/>
          </a:ln>
        </p:spPr>
        <p:txBody>
          <a:bodyPr vert="horz" wrap="square" lIns="121920" tIns="60960" rIns="121920" bIns="60960" numCol="1" anchor="ctr" anchorCtr="1" compatLnSpc="1">
            <a:prstTxWarp prst="textNoShape">
              <a:avLst/>
            </a:prstTxWarp>
          </a:bodyPr>
          <a:lstStyle/>
          <a:p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17793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430887" y="1388986"/>
            <a:ext cx="1210588" cy="6145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rgbClr val="4371C8"/>
                </a:solidFill>
              </a:rPr>
              <a:t>个人介绍</a:t>
            </a:r>
            <a:endParaRPr lang="en-US" altLang="zh-CN" sz="2000" b="1" dirty="0">
              <a:solidFill>
                <a:srgbClr val="4371C8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30887" y="2206732"/>
            <a:ext cx="1292341" cy="6145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rgbClr val="2F66C2"/>
                </a:solidFill>
              </a:rPr>
              <a:t>工作内容 </a:t>
            </a:r>
            <a:endParaRPr lang="en-US" altLang="zh-CN" sz="2000" b="1" dirty="0">
              <a:solidFill>
                <a:srgbClr val="2F66C2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430887" y="3093512"/>
            <a:ext cx="1210588" cy="6145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b="1" dirty="0">
                <a:solidFill>
                  <a:srgbClr val="2F66C2"/>
                </a:solidFill>
              </a:rPr>
              <a:t>未来规划</a:t>
            </a:r>
            <a:endParaRPr lang="en-US" altLang="zh-CN" sz="2000" b="1" dirty="0">
              <a:solidFill>
                <a:srgbClr val="2F66C2"/>
              </a:solidFill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 rotWithShape="1">
          <a:blip r:embed="rId2"/>
          <a:srcRect l="20130" t="11098" r="11745" b="11474"/>
          <a:stretch/>
        </p:blipFill>
        <p:spPr>
          <a:xfrm>
            <a:off x="1619250" y="1519455"/>
            <a:ext cx="1628775" cy="187135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3"/>
          <a:srcRect l="13631" t="10525" r="15906" b="14465"/>
          <a:stretch/>
        </p:blipFill>
        <p:spPr>
          <a:xfrm>
            <a:off x="3850403" y="1623296"/>
            <a:ext cx="377056" cy="36489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0403" y="2430587"/>
            <a:ext cx="377056" cy="377056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0403" y="3317053"/>
            <a:ext cx="377056" cy="36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5443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4016149" y="2688026"/>
            <a:ext cx="4965629" cy="1564870"/>
          </a:xfrm>
          <a:prstGeom prst="rect">
            <a:avLst/>
          </a:prstGeom>
          <a:noFill/>
        </p:spPr>
        <p:txBody>
          <a:bodyPr wrap="none" lIns="86697" tIns="43348" rIns="86697" bIns="43348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1218565">
              <a:defRPr/>
            </a:pPr>
            <a:r>
              <a:rPr lang="zh-CN" altLang="en-US" sz="186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</a:t>
            </a:r>
            <a:r>
              <a:rPr lang="zh-CN" altLang="en-US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</a:p>
          <a:p>
            <a:pPr marL="0" lvl="1" algn="ctr" defTabSz="1218565">
              <a:defRPr/>
            </a:pPr>
            <a:r>
              <a:rPr lang="zh-CN" altLang="en-US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   个人介绍</a:t>
            </a:r>
            <a:endParaRPr lang="en-US" altLang="zh-CN" sz="4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12" name="直接连接符 9"/>
          <p:cNvCxnSpPr/>
          <p:nvPr/>
        </p:nvCxnSpPr>
        <p:spPr>
          <a:xfrm flipV="1">
            <a:off x="3547868" y="2564905"/>
            <a:ext cx="0" cy="1893892"/>
          </a:xfrm>
          <a:prstGeom prst="line">
            <a:avLst/>
          </a:prstGeom>
          <a:noFill/>
          <a:ln w="12700" cap="flat" cmpd="sng" algn="ctr">
            <a:solidFill>
              <a:srgbClr val="E60012"/>
            </a:solidFill>
            <a:prstDash val="dash"/>
          </a:ln>
          <a:effectLst/>
        </p:spPr>
      </p:cxnSp>
      <p:sp>
        <p:nvSpPr>
          <p:cNvPr id="13" name="TextBox 13"/>
          <p:cNvSpPr txBox="1"/>
          <p:nvPr/>
        </p:nvSpPr>
        <p:spPr>
          <a:xfrm>
            <a:off x="1876156" y="4252896"/>
            <a:ext cx="1203432" cy="328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defRPr/>
            </a:pPr>
            <a:r>
              <a:rPr lang="en-US" altLang="zh-CN" sz="2135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 01</a:t>
            </a:r>
            <a:endParaRPr lang="zh-CN" altLang="en-US" sz="2135" dirty="0">
              <a:solidFill>
                <a:srgbClr val="A0A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4" name="组合 25"/>
          <p:cNvGrpSpPr/>
          <p:nvPr/>
        </p:nvGrpSpPr>
        <p:grpSpPr>
          <a:xfrm>
            <a:off x="1679510" y="2652356"/>
            <a:ext cx="1400077" cy="1400155"/>
            <a:chOff x="304800" y="673100"/>
            <a:chExt cx="4000500" cy="4000500"/>
          </a:xfrm>
          <a:solidFill>
            <a:srgbClr val="E60012"/>
          </a:solidFill>
          <a:effectLst/>
        </p:grpSpPr>
        <p:sp>
          <p:nvSpPr>
            <p:cNvPr id="15" name="同心圆 14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5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>
                <a:defRPr/>
              </a:pPr>
              <a:endParaRPr lang="zh-CN" altLang="en-US" sz="240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5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>
                <a:defRPr/>
              </a:pPr>
              <a:endParaRPr lang="zh-CN" altLang="en-US" sz="240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7" name="TextBox 13"/>
          <p:cNvSpPr txBox="1"/>
          <p:nvPr/>
        </p:nvSpPr>
        <p:spPr>
          <a:xfrm>
            <a:off x="1648952" y="2983101"/>
            <a:ext cx="1203432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defRPr/>
            </a:pPr>
            <a:r>
              <a:rPr lang="zh-CN" altLang="zh-CN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endParaRPr lang="zh-CN" altLang="en-US" sz="48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733398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lnSpc>
                <a:spcPct val="90000"/>
              </a:lnSpc>
              <a:spcAft>
                <a:spcPts val="0"/>
              </a:spcAft>
              <a:defRPr/>
            </a:pPr>
            <a:r>
              <a:rPr lang="zh-CN" altLang="en-US" sz="2400" kern="1200" dirty="0">
                <a:solidFill>
                  <a:prstClr val="black"/>
                </a:solidFill>
                <a:latin typeface="微软雅黑"/>
                <a:ea typeface="微软雅黑"/>
              </a:rPr>
              <a:t>个人介绍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09810" y="1221829"/>
            <a:ext cx="11118364" cy="4484788"/>
          </a:xfrm>
        </p:spPr>
        <p:txBody>
          <a:bodyPr/>
          <a:lstStyle/>
          <a:p>
            <a:r>
              <a:rPr lang="zh-CN" altLang="en-US" sz="1600" kern="1200" dirty="0">
                <a:solidFill>
                  <a:prstClr val="black"/>
                </a:solidFill>
              </a:rPr>
              <a:t>姓名：祝明杰		</a:t>
            </a:r>
          </a:p>
          <a:p>
            <a:r>
              <a:rPr lang="zh-CN" altLang="en-US" sz="1600" kern="1200" dirty="0">
                <a:solidFill>
                  <a:prstClr val="black"/>
                </a:solidFill>
              </a:rPr>
              <a:t>工号：</a:t>
            </a:r>
            <a:r>
              <a:rPr lang="en-US" altLang="zh-CN" sz="1600" kern="1200" dirty="0">
                <a:solidFill>
                  <a:prstClr val="black"/>
                </a:solidFill>
              </a:rPr>
              <a:t>02665</a:t>
            </a:r>
          </a:p>
          <a:p>
            <a:r>
              <a:rPr lang="zh-CN" altLang="en-US" sz="1600" kern="1200" dirty="0">
                <a:solidFill>
                  <a:prstClr val="black"/>
                </a:solidFill>
              </a:rPr>
              <a:t>入职时间：</a:t>
            </a:r>
            <a:r>
              <a:rPr lang="en-US" altLang="zh-CN" sz="1600" kern="1200" dirty="0" smtClean="0">
                <a:solidFill>
                  <a:prstClr val="black"/>
                </a:solidFill>
              </a:rPr>
              <a:t>2025/10/17</a:t>
            </a:r>
            <a:endParaRPr lang="en-US" altLang="zh-CN" sz="1600" kern="1200" dirty="0">
              <a:solidFill>
                <a:prstClr val="black"/>
              </a:solidFill>
            </a:endParaRPr>
          </a:p>
          <a:p>
            <a:r>
              <a:rPr lang="zh-CN" altLang="en-US" sz="1600" kern="1200" dirty="0">
                <a:solidFill>
                  <a:prstClr val="black"/>
                </a:solidFill>
              </a:rPr>
              <a:t>入职部门：定制化产品线</a:t>
            </a:r>
            <a:r>
              <a:rPr lang="en-US" altLang="zh-CN" sz="1600" kern="1200" dirty="0">
                <a:solidFill>
                  <a:prstClr val="black"/>
                </a:solidFill>
              </a:rPr>
              <a:t>/</a:t>
            </a:r>
            <a:r>
              <a:rPr lang="zh-CN" altLang="en-US" sz="1600" kern="1200" dirty="0">
                <a:solidFill>
                  <a:prstClr val="black"/>
                </a:solidFill>
              </a:rPr>
              <a:t>计算产品开发部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09810" y="2742852"/>
            <a:ext cx="11118364" cy="2264851"/>
          </a:xfrm>
          <a:prstGeom prst="rect">
            <a:avLst/>
          </a:prstGeom>
          <a:noFill/>
          <a:ln w="31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189" indent="-457189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个人优势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389" lvl="1" indent="-457189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工作认真，勤奋努力，敢于尝试，认真请教同事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389" lvl="1" indent="-457189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沟通能力较好，遇见难题主动想办法解决</a:t>
            </a:r>
          </a:p>
          <a:p>
            <a:pPr marL="457189" indent="-457189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n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个人劣势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389" lvl="1" indent="-457189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没有大型项目的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逻辑架构设计经验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，逻辑开发经验不足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389" lvl="1" indent="-457189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没有高速接口的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设计经验，且当前部门无相关逻辑公共模块和公共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endParaRPr lang="zh-CN" altLang="en-US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98824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 txBox="1"/>
          <p:nvPr/>
        </p:nvSpPr>
        <p:spPr>
          <a:xfrm>
            <a:off x="3868103" y="2689526"/>
            <a:ext cx="3916497" cy="1564870"/>
          </a:xfrm>
          <a:prstGeom prst="rect">
            <a:avLst/>
          </a:prstGeom>
          <a:noFill/>
        </p:spPr>
        <p:txBody>
          <a:bodyPr wrap="none" lIns="86697" tIns="43348" rIns="86697" bIns="43348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1218565">
              <a:defRPr/>
            </a:pPr>
            <a:r>
              <a:rPr lang="zh-CN" altLang="en-US" sz="186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</a:t>
            </a:r>
            <a:r>
              <a:rPr lang="zh-CN" altLang="en-US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</a:p>
          <a:p>
            <a:pPr marL="0" lvl="1" algn="ctr" defTabSz="1218565">
              <a:defRPr/>
            </a:pPr>
            <a:r>
              <a:rPr lang="zh-CN" altLang="en-US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  工作内容</a:t>
            </a:r>
          </a:p>
        </p:txBody>
      </p:sp>
      <p:cxnSp>
        <p:nvCxnSpPr>
          <p:cNvPr id="5" name="直接连接符 9"/>
          <p:cNvCxnSpPr/>
          <p:nvPr/>
        </p:nvCxnSpPr>
        <p:spPr>
          <a:xfrm flipV="1">
            <a:off x="3547868" y="2564905"/>
            <a:ext cx="0" cy="1893892"/>
          </a:xfrm>
          <a:prstGeom prst="line">
            <a:avLst/>
          </a:prstGeom>
          <a:noFill/>
          <a:ln w="12700" cap="flat" cmpd="sng" algn="ctr">
            <a:solidFill>
              <a:srgbClr val="E60012"/>
            </a:solidFill>
            <a:prstDash val="dash"/>
          </a:ln>
          <a:effectLst/>
        </p:spPr>
      </p:cxnSp>
      <p:sp>
        <p:nvSpPr>
          <p:cNvPr id="6" name="TextBox 13"/>
          <p:cNvSpPr txBox="1"/>
          <p:nvPr/>
        </p:nvSpPr>
        <p:spPr>
          <a:xfrm>
            <a:off x="1876156" y="4252896"/>
            <a:ext cx="1203432" cy="328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defRPr/>
            </a:pPr>
            <a:r>
              <a:rPr lang="en-US" altLang="zh-CN" sz="2135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 02</a:t>
            </a:r>
            <a:endParaRPr lang="zh-CN" altLang="en-US" sz="2135" dirty="0">
              <a:solidFill>
                <a:srgbClr val="A0A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25"/>
          <p:cNvGrpSpPr/>
          <p:nvPr/>
        </p:nvGrpSpPr>
        <p:grpSpPr>
          <a:xfrm>
            <a:off x="1679510" y="2652356"/>
            <a:ext cx="1400077" cy="1400155"/>
            <a:chOff x="304800" y="673100"/>
            <a:chExt cx="4000500" cy="4000500"/>
          </a:xfrm>
          <a:solidFill>
            <a:srgbClr val="E60012"/>
          </a:solidFill>
          <a:effectLst/>
        </p:grpSpPr>
        <p:sp>
          <p:nvSpPr>
            <p:cNvPr id="8" name="同心圆 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5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>
                <a:defRPr/>
              </a:pPr>
              <a:endParaRPr lang="zh-CN" altLang="en-US" sz="240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5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>
                <a:defRPr/>
              </a:pPr>
              <a:endParaRPr lang="zh-CN" altLang="en-US" sz="240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0" name="TextBox 13"/>
          <p:cNvSpPr txBox="1"/>
          <p:nvPr/>
        </p:nvSpPr>
        <p:spPr>
          <a:xfrm>
            <a:off x="1648952" y="2983101"/>
            <a:ext cx="1203432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defRPr/>
            </a:pPr>
            <a:r>
              <a:rPr lang="zh-CN" altLang="zh-CN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endParaRPr lang="zh-CN" altLang="en-US" sz="48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1091989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内容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概述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6373" y="1180372"/>
            <a:ext cx="11979254" cy="4067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完成硬件工程师上岗考试，完成公司新人入职培训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了解部门定制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化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服务器、卡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类相关知识，熟悉负责项目的基本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l"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完成所属项目的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逻辑开发和维护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参与开发与维护的项目：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、服务器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：东湖一号、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欧康诺、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龙芯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3E6000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铁塔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飞腾、希奥端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、卡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类：异格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FPGA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加速卡（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X16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X8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PCIE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卡类测试治具、</a:t>
            </a:r>
            <a:r>
              <a:rPr lang="en-US" altLang="zh-CN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OCP</a:t>
            </a:r>
            <a:r>
              <a:rPr lang="zh-CN" altLang="en-US" sz="16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卡类测试治</a:t>
            </a:r>
            <a:r>
              <a:rPr lang="zh-CN" altLang="en-US" sz="16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00150" lvl="2" indent="-285750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Ø"/>
              <a:defRPr/>
            </a:pP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工作内容：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、理解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项目的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硬件设计方案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硬件架构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、梳理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逻辑需求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，总结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，完成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、配合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硬件工程师完成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资源和逻辑资源的评估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b="1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选型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、完成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代码编写、仿真、调试</a:t>
            </a:r>
            <a:r>
              <a:rPr lang="zh-CN" altLang="en-US" sz="1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kumimoji="0" lang="en-US" altLang="zh-CN" sz="16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535241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67FC13-AE83-0D31-8133-BF003312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xmlns="" id="{5B6710D7-1A3C-9C49-E367-73AFDE595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260" y="356659"/>
            <a:ext cx="9134596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工作内容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1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 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理解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硬件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设计方案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pic>
        <p:nvPicPr>
          <p:cNvPr id="3" name="图片 2" descr="图示, 示意图&#10;&#10;AI 生成的内容可能不正确。">
            <a:extLst>
              <a:ext uri="{FF2B5EF4-FFF2-40B4-BE49-F238E27FC236}">
                <a16:creationId xmlns:a16="http://schemas.microsoft.com/office/drawing/2014/main" xmlns="" id="{071990E3-1218-34A2-BEFE-1F826A711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799" y="1740869"/>
            <a:ext cx="5829199" cy="4003717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7BECF130-A785-D356-EA8A-F3280894CAC1}"/>
              </a:ext>
            </a:extLst>
          </p:cNvPr>
          <p:cNvCxnSpPr>
            <a:cxnSpLocks/>
          </p:cNvCxnSpPr>
          <p:nvPr/>
        </p:nvCxnSpPr>
        <p:spPr>
          <a:xfrm>
            <a:off x="6259654" y="1052103"/>
            <a:ext cx="0" cy="533028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50131B96-1067-AAC2-2D75-9FD20C3217AA}"/>
              </a:ext>
            </a:extLst>
          </p:cNvPr>
          <p:cNvSpPr/>
          <p:nvPr/>
        </p:nvSpPr>
        <p:spPr>
          <a:xfrm>
            <a:off x="34183" y="1346949"/>
            <a:ext cx="6207057" cy="49398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、计算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存储：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计算架构（ 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AMD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 ，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存储方面</a:t>
            </a:r>
            <a:r>
              <a:rPr lang="en-US" altLang="zh-CN" sz="1200" dirty="0" smtClean="0"/>
              <a:t> 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CPU0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CPU1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独立的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CHA-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CHL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个内存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通道；</a:t>
            </a:r>
            <a:endParaRPr lang="en-US" altLang="zh-CN" sz="1200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、总线拓扑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高速：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XGMI 0~3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PCIE 0~5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接口；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XGMI 0~2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 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AMD 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间互联；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XGMI 3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PCIE 0~5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USB2.0/3.0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通过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MCIO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或连接芯片连接网卡、显卡、存储器、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等外部高速设备以及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间的控制类信息交互。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低速：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I3C (BMC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 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DDR5 DIMM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I2C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BMC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等设备通信）、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SPI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TPM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芯片、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BIOS_FLASH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等设备通信）、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eSPI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UART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JTAG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、时钟复位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一级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AUS615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100M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时钟给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CMU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P0/P1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、部分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MCIO_CONN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使用；二级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CLK_DB2000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100M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时钟给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MCIO_CONN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使用；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PCIe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复位（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PCIE_RST_N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RSMRST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（南桥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）、系统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复位（</a:t>
            </a:r>
            <a:r>
              <a:rPr lang="en-US" altLang="zh-CN" sz="1200" dirty="0" err="1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SYS_RESET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）、等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；（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 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、电源和监控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外围设备上电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2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电；</a:t>
            </a:r>
            <a:r>
              <a:rPr lang="en-US" altLang="zh-CN" sz="1200" dirty="0" err="1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监控上电状态和硬件</a:t>
            </a:r>
            <a:r>
              <a:rPr lang="zh-CN" altLang="en-US" sz="120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状态；</a:t>
            </a:r>
            <a:endParaRPr lang="en-US" altLang="zh-CN" sz="12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BC0A0A8-0C9C-2D51-D930-A3AB6D1663CB}"/>
              </a:ext>
            </a:extLst>
          </p:cNvPr>
          <p:cNvSpPr txBox="1"/>
          <p:nvPr/>
        </p:nvSpPr>
        <p:spPr>
          <a:xfrm>
            <a:off x="478935" y="1050399"/>
            <a:ext cx="1021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例：东湖一号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32499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A3AE70-9581-A6CE-FB57-D606A42AA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xmlns="" id="{2025E29C-3DB3-4716-0C1D-D211000B09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260" y="356659"/>
            <a:ext cx="9134596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内容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</a:t>
            </a:r>
            <a:r>
              <a:rPr lang="zh-CN" altLang="en-US" sz="2400" noProof="0" dirty="0">
                <a:solidFill>
                  <a:prstClr val="black"/>
                </a:solidFill>
                <a:latin typeface="微软雅黑"/>
                <a:ea typeface="微软雅黑"/>
              </a:rPr>
              <a:t>生成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/>
                <a:ea typeface="微软雅黑"/>
              </a:rPr>
              <a:t>逻辑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方案设计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2BC0A0A8-0C9C-2D51-D930-A3AB6D1663CB}"/>
              </a:ext>
            </a:extLst>
          </p:cNvPr>
          <p:cNvSpPr txBox="1"/>
          <p:nvPr/>
        </p:nvSpPr>
        <p:spPr>
          <a:xfrm>
            <a:off x="478935" y="1024999"/>
            <a:ext cx="1021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/>
            </a:pP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例：东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湖一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endParaRPr lang="en-US" altLang="zh-CN" sz="160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51869E89-D624-D4A4-243B-3799A8F546CB}"/>
              </a:ext>
            </a:extLst>
          </p:cNvPr>
          <p:cNvCxnSpPr>
            <a:cxnSpLocks/>
          </p:cNvCxnSpPr>
          <p:nvPr/>
        </p:nvCxnSpPr>
        <p:spPr>
          <a:xfrm>
            <a:off x="2969764" y="1024999"/>
            <a:ext cx="0" cy="533028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xmlns="" id="{57A52783-686B-AA09-B339-0D77F83E901E}"/>
              </a:ext>
            </a:extLst>
          </p:cNvPr>
          <p:cNvSpPr/>
          <p:nvPr/>
        </p:nvSpPr>
        <p:spPr>
          <a:xfrm>
            <a:off x="85046" y="1363553"/>
            <a:ext cx="2884718" cy="373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、电源时序控制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、电源状态监测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、硬件故障监控与检测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、芯片的通信交互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、按钮控制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、风扇控制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、指示灯控制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复位控制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sz="12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</a:t>
            </a: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升级</a:t>
            </a:r>
            <a:endParaRPr lang="en-US" altLang="zh-CN" sz="1200" b="1" dirty="0" smtClean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2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、其他</a:t>
            </a: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endParaRPr lang="en-US" altLang="zh-CN" sz="12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xmlns="" id="{95028011-DBC2-C3EA-C248-CED458F0C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252" y="1024999"/>
            <a:ext cx="7491101" cy="552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5828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C470C7D-3446-8BFD-D29C-E5CB50161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xmlns="" id="{60CB0C96-0DF0-A989-5C0A-E938908FA0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260" y="356659"/>
            <a:ext cx="9134596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内容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</a:t>
            </a:r>
            <a:r>
              <a:rPr lang="zh-CN" altLang="en-US" sz="2400" noProof="0" dirty="0">
                <a:solidFill>
                  <a:prstClr val="black"/>
                </a:solidFill>
                <a:latin typeface="微软雅黑"/>
                <a:ea typeface="微软雅黑"/>
              </a:rPr>
              <a:t>熟悉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/>
                <a:ea typeface="微软雅黑"/>
              </a:rPr>
              <a:t>电源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上下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/>
                <a:ea typeface="微软雅黑"/>
              </a:rPr>
              <a:t>电方案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3F612B68-85B8-D7DF-6FDF-9FA88DD78519}"/>
              </a:ext>
            </a:extLst>
          </p:cNvPr>
          <p:cNvCxnSpPr>
            <a:cxnSpLocks/>
          </p:cNvCxnSpPr>
          <p:nvPr/>
        </p:nvCxnSpPr>
        <p:spPr>
          <a:xfrm>
            <a:off x="5553270" y="1056749"/>
            <a:ext cx="0" cy="533028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xmlns="" id="{B0EB4A4D-84ED-949C-02A8-C65834402C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664" y="5402369"/>
            <a:ext cx="2994862" cy="108762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xmlns="" id="{55DDFED4-781E-9C16-ABE1-1F823FA2EE35}"/>
              </a:ext>
            </a:extLst>
          </p:cNvPr>
          <p:cNvSpPr/>
          <p:nvPr/>
        </p:nvSpPr>
        <p:spPr>
          <a:xfrm>
            <a:off x="5181599" y="1050691"/>
            <a:ext cx="6860147" cy="5888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、各电源状态机上电使能条件：上电阶段</a:t>
            </a:r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电源无故障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，延时后依次上电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各电源下电使能条件：任一电源故障触发下电，延时后依次下电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、蓝色状态控制 </a:t>
            </a:r>
            <a:r>
              <a:rPr lang="en-US" altLang="zh-CN" sz="11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GroupA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1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GroupB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电源域的使能：</a:t>
            </a:r>
            <a:endParaRPr lang="en-US" altLang="zh-CN" sz="1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复位状态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(0x00) → 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RTC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待机电源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(0x01) → 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南桥复位保持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(0x02) → 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CPU3.3V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待机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(0x03) → 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CPU1.8V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待机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(0x04)→ 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USB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待机电源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(0x05) 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释放南桥复位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(0x06) → 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S5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设备上电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(0x07) 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1100" dirty="0">
                <a:solidFill>
                  <a:srgbClr val="E325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待机就绪</a:t>
            </a:r>
            <a:r>
              <a:rPr lang="en-US" altLang="zh-CN" sz="1100" dirty="0">
                <a:solidFill>
                  <a:srgbClr val="E325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(0x08)</a:t>
            </a:r>
            <a:r>
              <a:rPr lang="en-US" altLang="zh-CN" sz="1100" dirty="0">
                <a:solidFill>
                  <a:schemeClr val="tx2">
                    <a:lumMod val="90000"/>
                    <a:lumOff val="1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>
                <a:solidFill>
                  <a:srgbClr val="E325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、深绿色状态控制 </a:t>
            </a:r>
            <a:r>
              <a:rPr lang="en-US" altLang="zh-CN" sz="11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GroupC</a:t>
            </a:r>
            <a:r>
              <a:rPr lang="en-US" altLang="zh-CN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电源域的使能</a:t>
            </a:r>
            <a:r>
              <a:rPr lang="zh-CN" altLang="en-US" sz="11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主电源模块使能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(0x09)→ 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遥测功能开启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0x10) 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en-US" altLang="zh-CN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EFUSE12V</a:t>
            </a:r>
            <a:r>
              <a:rPr lang="zh-CN" altLang="en-US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电源开启</a:t>
            </a:r>
            <a:r>
              <a:rPr lang="en-US" altLang="zh-CN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0x11) 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ATX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电源开启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0x12)</a:t>
            </a:r>
            <a:r>
              <a:rPr lang="en-US" altLang="zh-CN" sz="11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CPU1.1V</a:t>
            </a:r>
            <a:r>
              <a:rPr lang="zh-CN" altLang="en-US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电源开启</a:t>
            </a:r>
            <a:r>
              <a:rPr lang="en-US" altLang="zh-CN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0x13) </a:t>
            </a:r>
            <a:r>
              <a:rPr lang="en-US" altLang="zh-CN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、浅绿色状态控制 </a:t>
            </a:r>
            <a:r>
              <a:rPr lang="en-US" altLang="zh-CN" sz="1100" dirty="0" err="1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GroupD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电源域的使能：</a:t>
            </a:r>
            <a:endParaRPr lang="en-US" altLang="zh-CN" sz="1100" dirty="0">
              <a:solidFill>
                <a:srgbClr val="92D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1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100" dirty="0" err="1" smtClean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CPU_AUDIO</a:t>
            </a:r>
            <a:r>
              <a:rPr lang="zh-CN" altLang="en-US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电源开启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0x14)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CPU_SOC</a:t>
            </a:r>
            <a:r>
              <a:rPr lang="zh-CN" altLang="en-US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电源开启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0x15) 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CPU_CORE0</a:t>
            </a:r>
            <a:r>
              <a:rPr lang="zh-CN" altLang="en-US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电源开启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0x16) 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CPU_CORE1</a:t>
            </a:r>
            <a:r>
              <a:rPr lang="zh-CN" altLang="en-US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电源开启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0x17) 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</a:t>
            </a:r>
            <a:r>
              <a:rPr lang="en-US" altLang="zh-CN" sz="1100" dirty="0" err="1" smtClean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PWR_GOOD</a:t>
            </a:r>
            <a:r>
              <a:rPr lang="en-US" altLang="zh-CN" sz="1100" dirty="0" smtClean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(0x18)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等待电源稳定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0x19) </a:t>
            </a:r>
            <a:r>
              <a:rPr lang="en-US" altLang="zh-CN" sz="1100" dirty="0">
                <a:solidFill>
                  <a:srgbClr val="92D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、橙色是故障触发下电流程</a:t>
            </a:r>
            <a:endParaRPr lang="en-US" altLang="zh-CN" sz="11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solidFill>
                  <a:srgbClr val="E325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系统稳定运行</a:t>
            </a:r>
            <a:r>
              <a:rPr lang="en-US" altLang="zh-CN" sz="1100" dirty="0">
                <a:solidFill>
                  <a:srgbClr val="E325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(0x20</a:t>
            </a:r>
            <a:r>
              <a:rPr lang="zh-CN" altLang="en-US" sz="1100" dirty="0">
                <a:solidFill>
                  <a:srgbClr val="E325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rgbClr val="E325C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SM_STEADY_PWROK) 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 PWR_GOOD(0x21) → 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CPU_CORE1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(0x22) → 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CPU_CORE0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(0x23)→ 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CPU_SOC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(0x24) → 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CPU_IO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(0x25) → 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CPU_VDD_1.1V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(0x26) </a:t>
            </a:r>
            <a:r>
              <a:rPr lang="en-US" altLang="zh-CN" sz="11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r>
              <a:rPr lang="en-US" altLang="zh-CN" sz="11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100" dirty="0" err="1" smtClean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ATX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电源开启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100" dirty="0" smtClean="0">
                <a:solidFill>
                  <a:schemeClr val="bg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0x27)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→</a:t>
            </a:r>
            <a:r>
              <a:rPr lang="zh-CN" altLang="en-US" sz="1100" dirty="0" smtClean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EFUSE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(0x28) → S5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设备下电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(0x2B)→ 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待机状态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(0x08</a:t>
            </a:r>
            <a:r>
              <a:rPr lang="zh-CN" altLang="en-US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SM_OFF_STANDBY) </a:t>
            </a:r>
          </a:p>
          <a:p>
            <a:pPr lvl="1">
              <a:lnSpc>
                <a:spcPts val="2400"/>
              </a:lnSpc>
              <a:spcBef>
                <a:spcPts val="100"/>
              </a:spcBef>
              <a:spcAft>
                <a:spcPts val="100"/>
              </a:spcAft>
              <a:defRPr/>
            </a:pPr>
            <a:endParaRPr lang="en-US" altLang="zh-CN" sz="11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xmlns="" id="{1AE1DFCD-1015-3C95-9646-7FC96E549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352128"/>
            <a:ext cx="4313540" cy="398495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2BC0A0A8-0C9C-2D51-D930-A3AB6D1663CB}"/>
              </a:ext>
            </a:extLst>
          </p:cNvPr>
          <p:cNvSpPr txBox="1"/>
          <p:nvPr/>
        </p:nvSpPr>
        <p:spPr>
          <a:xfrm>
            <a:off x="527260" y="1056749"/>
            <a:ext cx="48285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/>
            </a:pP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：东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湖一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电源上下电（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集总上电）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28366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2857366-A2DB-824A-4A7A-8A567416A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xmlns="" id="{247A6696-938F-F67A-BBEE-C75173CF36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260" y="356659"/>
            <a:ext cx="9134596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内容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2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欧康诺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/>
                <a:ea typeface="微软雅黑"/>
              </a:rPr>
              <a:t>电源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上下</a:t>
            </a:r>
            <a:r>
              <a:rPr lang="zh-CN" altLang="en-US" sz="2400" dirty="0" smtClean="0">
                <a:solidFill>
                  <a:prstClr val="black"/>
                </a:solidFill>
                <a:latin typeface="微软雅黑"/>
                <a:ea typeface="微软雅黑"/>
              </a:rPr>
              <a:t>电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方案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xmlns="" id="{0F6A4A75-C2EE-20C3-81C0-5D6D016275CF}"/>
              </a:ext>
            </a:extLst>
          </p:cNvPr>
          <p:cNvCxnSpPr>
            <a:cxnSpLocks/>
          </p:cNvCxnSpPr>
          <p:nvPr/>
        </p:nvCxnSpPr>
        <p:spPr>
          <a:xfrm>
            <a:off x="6232283" y="1096773"/>
            <a:ext cx="0" cy="5330286"/>
          </a:xfrm>
          <a:prstGeom prst="line">
            <a:avLst/>
          </a:prstGeom>
          <a:ln w="9525" cap="flat" cmpd="sng" algn="ctr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xmlns="" id="{7A80F02A-C8A0-6123-33BC-4C338141368D}"/>
              </a:ext>
            </a:extLst>
          </p:cNvPr>
          <p:cNvSpPr/>
          <p:nvPr/>
        </p:nvSpPr>
        <p:spPr>
          <a:xfrm>
            <a:off x="365760" y="1387677"/>
            <a:ext cx="580991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、特点：主电和辅电分模块控制：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master_fub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：电源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时序的顶层控制模块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cpu_aux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0/1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的辅助电源上下电。</a:t>
            </a:r>
          </a:p>
          <a:p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bnc_cpu_mem_seq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0/1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核心主电 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和 </a:t>
            </a:r>
            <a:r>
              <a:rPr lang="en-US" altLang="zh-CN" sz="11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ddr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电源的上下电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、辅电状态跳转：</a:t>
            </a:r>
            <a:endParaRPr lang="en-US" altLang="zh-CN" sz="11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b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上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电正向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ST_INIT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ST_PVCCFA_EHV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ST_PVNN_MAIN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ST_CPU_AUX_ON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完成，输出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PWRGD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=1) 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下电反向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ST_CPU_AUX_ON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ST_PVNN_MAIN_OFF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ST_PVCCFA_EHV_OFF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ST_INIT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完成，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PWRGD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=0) 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异常跳转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：任意状态 → </a:t>
            </a:r>
            <a:r>
              <a:rPr lang="en-US" altLang="zh-CN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ERROR/TIMEOUT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上报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master_fub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1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ST_ERROR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错误态</a:t>
            </a:r>
          </a:p>
          <a:p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、主电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状态跳转：</a:t>
            </a:r>
            <a:endParaRPr lang="en-US" altLang="zh-CN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上电正向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ST_INIT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ST_PVCCD_HV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ST_PVCCFA_EHV_FIVRA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ST_PVCCINFAON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ST_PVCCIN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ST_CPUDONE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完成，输出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PWR_OK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=1) 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下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电反向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ST_CPUDONE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ST_PVCCIN_OFF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ST_PVCCINFAON_OFF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ST_PVCCFA_EHV_FIVRA_OFF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ST_PVCCD_HV_OFF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ST_INIT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(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完成，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PWR_OK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=0) </a:t>
            </a:r>
            <a:endParaRPr lang="en-US" altLang="zh-CN" sz="11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异常跳转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：任意状态 →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ST_PWROFF_TIMEOUT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（下电超时）→ 上报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master_fub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进入</a:t>
            </a:r>
            <a:r>
              <a:rPr lang="en-US" altLang="zh-CN" sz="1100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ST_ERROR</a:t>
            </a:r>
            <a:r>
              <a:rPr lang="zh-CN" altLang="en-US" sz="11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错误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态</a:t>
            </a:r>
          </a:p>
          <a:p>
            <a:endParaRPr lang="zh-CN" altLang="en-US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BC0A0A8-0C9C-2D51-D930-A3AB6D1663CB}"/>
              </a:ext>
            </a:extLst>
          </p:cNvPr>
          <p:cNvSpPr txBox="1"/>
          <p:nvPr/>
        </p:nvSpPr>
        <p:spPr>
          <a:xfrm>
            <a:off x="527260" y="1030623"/>
            <a:ext cx="102154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  <a:defRPr/>
            </a:pP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：东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湖一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号</a:t>
            </a: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电源上下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zh-CN" altLang="en-US" sz="1600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（分模块上电）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847" y="1077723"/>
            <a:ext cx="5809910" cy="537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607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1C1419-120D-DC1F-C21A-56303716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xmlns="" id="{BF62F1C8-BD5E-AB89-0E19-C79DD8E14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260" y="356659"/>
            <a:ext cx="9134596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内容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逻辑功能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调试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202278"/>
              </p:ext>
            </p:extLst>
          </p:nvPr>
        </p:nvGraphicFramePr>
        <p:xfrm>
          <a:off x="527260" y="1540010"/>
          <a:ext cx="11418388" cy="4466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783"/>
                <a:gridCol w="1923783"/>
                <a:gridCol w="3573602"/>
                <a:gridCol w="39972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所属项目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调试问题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故障原因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解决思路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方法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1453278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东湖一号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电源上电故障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B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组：</a:t>
                      </a:r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</a:rPr>
                        <a:t>强制上电版本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是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对各组电源的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PG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信号写死处理。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PVCC_HPMOS_PG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信号未拉高，导致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fault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C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组：</a:t>
                      </a:r>
                      <a:r>
                        <a:rPr lang="zh-CN" altLang="en-US" sz="1200" b="1" dirty="0" smtClean="0">
                          <a:solidFill>
                            <a:schemeClr val="tx1"/>
                          </a:solidFill>
                        </a:rPr>
                        <a:t>非强制上电版本</a:t>
                      </a:r>
                      <a:r>
                        <a:rPr lang="zh-CN" altLang="en-US" sz="1200" b="0" dirty="0" smtClean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某些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EN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使能对应的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PG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信号未接入逻辑（</a:t>
                      </a:r>
                      <a:r>
                        <a:rPr lang="en-US" altLang="zh-CN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db_i_pgd_c3</a:t>
                      </a:r>
                      <a:r>
                        <a:rPr lang="zh-CN" altLang="en-US" sz="12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未接入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），导致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fault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）上电状态跳转一般是逻辑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PG/EN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检测</a:t>
                      </a:r>
                      <a:r>
                        <a:rPr lang="en-US" altLang="zh-CN" sz="1200" baseline="0" dirty="0" smtClean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延时处理；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）上电异常时首先检查相关电源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PG/EN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信号对是否正确接入逻辑，避免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pwr_fault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模块监控到上电异常；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）必须严格遵循各组电源上电顺序，注意控制延时长度；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53278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欧康诺</a:t>
                      </a:r>
                    </a:p>
                    <a:p>
                      <a:pPr marL="0" algn="l" defTabSz="1219170" rtl="0" eaLnBrk="1" latinLnBrk="0" hangingPunct="1"/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bmc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下发长按关机指令后，无法控制开机</a:t>
                      </a:r>
                    </a:p>
                    <a:p>
                      <a:pPr marL="0" algn="l" defTabSz="1219170" rtl="0" eaLnBrk="1" latinLnBrk="0" hangingPunct="1"/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cpu_wake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#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信号影响了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cpu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的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sleep s5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s4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，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s4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状态，导致逻辑状态机未正常跳转，影响再次开机；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wake#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信号不使用时逻辑应去掉或者写死为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，避免影响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button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开关机；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）定位问题时，若明确是上下电问题，且单元仿真波形没问题时，需要在重要逻辑状态下设置寄存器或者抓包查看。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）定位时首先判断出错的跳转分支，再结合跳转条件分析问题。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东湖一号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欧康诺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长按按钮关机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当前代码未处理短按开关机，或者长按关机的逻辑（自动上电版本）；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解决方法两种：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）复用部门稳定的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pwrbtn_ctrl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模块；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）逻辑自己监控开关机标志来控制上下电状态机（例如：欧康诺项目上电完毕后会稳定在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SM_STEADY_PWROK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状态下，添加长按关机的触发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flag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，使其下电到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STANDBY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状态；）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2BC0A0A8-0C9C-2D51-D930-A3AB6D1663CB}"/>
              </a:ext>
            </a:extLst>
          </p:cNvPr>
          <p:cNvSpPr txBox="1"/>
          <p:nvPr/>
        </p:nvSpPr>
        <p:spPr>
          <a:xfrm>
            <a:off x="527260" y="1099272"/>
            <a:ext cx="1021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调试问题分析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82726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1C1419-120D-DC1F-C21A-56303716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xmlns="" id="{BF62F1C8-BD5E-AB89-0E19-C79DD8E14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260" y="356659"/>
            <a:ext cx="9134596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内容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逻辑功能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调试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3505719"/>
              </p:ext>
            </p:extLst>
          </p:nvPr>
        </p:nvGraphicFramePr>
        <p:xfrm>
          <a:off x="527260" y="1468604"/>
          <a:ext cx="11418388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670"/>
                <a:gridCol w="1705232"/>
                <a:gridCol w="3566984"/>
                <a:gridCol w="4424502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所属项目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调试问题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故障原因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解决思路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方法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639820"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龙芯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3E6000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1219170" rtl="0" eaLnBrk="1" latinLnBrk="0" hangingPunct="1"/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时序违例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功能需求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PLL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时钟输入例化使用了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100M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；（不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影响功能使用，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因为代码未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PLL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）；</a:t>
                      </a:r>
                      <a:r>
                        <a:rPr lang="zh-CN" altLang="en-US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系统</a:t>
                      </a:r>
                      <a:r>
                        <a:rPr lang="zh-CN" altLang="en-US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时钟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直接使用输入的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25M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时钟，</a:t>
                      </a:r>
                      <a:r>
                        <a:rPr lang="zh-CN" altLang="en-US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不经过锁相环输出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）系统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复位是在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25M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时钟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下延时打多拍使用，</a:t>
                      </a:r>
                      <a:r>
                        <a:rPr lang="zh-CN" altLang="en-US" sz="12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系统没有稳定的复位控制和监控（隐患）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clk_gen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时钟树公共模块使用了</a:t>
                      </a:r>
                      <a:r>
                        <a:rPr lang="en-US" altLang="zh-CN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25M</a:t>
                      </a:r>
                      <a:r>
                        <a:rPr lang="zh-CN" altLang="en-US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时钟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clk_gen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时钟树模块</a:t>
                      </a:r>
                      <a:r>
                        <a:rPr lang="zh-CN" altLang="en-US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例化但未使用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；（涉及需要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clk_gen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时钟树时钟分频的功能需求缺失，比如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Uid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点灯和按键记录，网口状态解析和电灯，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Pcie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带宽动态分配，背板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altLang="zh-CN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/STAT/SAS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上报等）</a:t>
                      </a:r>
                      <a:endParaRPr lang="zh-CN" altLang="en-US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CPLD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一般不会出现时序违例；出现时序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违例检查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自己例化的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PLL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例化问题，时序逻辑是否多驱动；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）时钟尽量使用例化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PLL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产生的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时钟，如果使用倍频时钟，要在同一时钟域下生成；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）系统复位一定要明确产生源，并且逻辑一定要加入逻辑监控（可以使用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p12v_stby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或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CPLD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的上电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p3v3_stby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）。异步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复位同步释放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产生信号后，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再同步打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5-10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拍输出作为系统复位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）输入信号去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抖稳定后再使用，防止误判；输出信号接入时序逻辑打拍后输出，增强驱动能力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CPLD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实现后，要关注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warning</a:t>
                      </a:r>
                      <a:r>
                        <a:rPr lang="zh-CN" altLang="en-US" sz="12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至少要排除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latch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和扇出多的</a:t>
                      </a:r>
                      <a:r>
                        <a:rPr lang="en-US" altLang="zh-CN" sz="1200" dirty="0" err="1" smtClean="0">
                          <a:solidFill>
                            <a:schemeClr val="tx1"/>
                          </a:solidFill>
                        </a:rPr>
                        <a:t>waring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l"/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Latch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问题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：确定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assign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的组合逻辑是否是不确定值；再确定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always(*)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是否缺少必要分支；再确定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case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中是否遗漏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default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（先检查上下电状态机第三段，再检查其他模块）；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扇出多问题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：一般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会出现在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reset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复位身上，控制通路使用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reset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，数据通路没必要使用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reset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；其他信号扇出高时，打拍复制使用；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（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）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上下电编码逻辑最好使用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段状态机；所有信号和修改添加必要注释，便于维护；</a:t>
                      </a:r>
                      <a:endParaRPr lang="en-US" altLang="zh-CN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2BC0A0A8-0C9C-2D51-D930-A3AB6D1663CB}"/>
              </a:ext>
            </a:extLst>
          </p:cNvPr>
          <p:cNvSpPr txBox="1"/>
          <p:nvPr/>
        </p:nvSpPr>
        <p:spPr>
          <a:xfrm>
            <a:off x="527260" y="1099272"/>
            <a:ext cx="1021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调试问题分析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32780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67FC13-AE83-0D31-8133-BF003312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xmlns="" id="{5B6710D7-1A3C-9C49-E367-73AFDE5957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260" y="356659"/>
            <a:ext cx="9134596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fontAlgn="auto">
              <a:spcAft>
                <a:spcPts val="0"/>
              </a:spcAft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内容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3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— </a:t>
            </a:r>
            <a:r>
              <a:rPr lang="zh-CN" altLang="en-US" sz="2400" dirty="0">
                <a:solidFill>
                  <a:prstClr val="black"/>
                </a:solidFill>
                <a:latin typeface="微软雅黑"/>
                <a:ea typeface="微软雅黑"/>
              </a:rPr>
              <a:t>逻辑功能调试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242586"/>
              </p:ext>
            </p:extLst>
          </p:nvPr>
        </p:nvGraphicFramePr>
        <p:xfrm>
          <a:off x="527260" y="1588554"/>
          <a:ext cx="11320751" cy="3906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2075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chemeClr val="tx1"/>
                          </a:solidFill>
                        </a:rPr>
                        <a:t>需求维护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UID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PWR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BTN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要产生长按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短按事件记录，同时也要支持消除记录，结合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I2C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寄存器一起修改；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PCIE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带宽动态分配；逻辑检测每个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MCIO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的一组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cable_id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，建立映射规则写入寄存器，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PCIE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根据读取的值进行分配；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、拨码开关测试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BMC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卡顿；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BMC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下发开关机无反应，服务器不能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AC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、顶层时钟时序错误，但是不影响；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时序错误的原因是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PLL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时钟输入例化使用了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100M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，不影响的原因是其接入了</a:t>
                      </a:r>
                      <a:r>
                        <a:rPr lang="en-US" altLang="zh-CN" sz="14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clk_gen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时钟树，但是时钟树输出的时钟未使用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OCP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网卡上有通过</a:t>
                      </a:r>
                      <a:r>
                        <a:rPr lang="en-US" altLang="zh-CN" sz="1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SGPIO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写入逻辑的</a:t>
                      </a:r>
                      <a:r>
                        <a:rPr lang="en-US" altLang="zh-CN" sz="1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OCP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网卡状态信息；逻辑侧解析写入的数据进行点灯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处理（解析</a:t>
                      </a:r>
                      <a:r>
                        <a:rPr lang="en-US" altLang="zh-CN" sz="1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pvt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模块</a:t>
                      </a: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50Mhz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 altLang="zh-CN" sz="1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    STAT/</a:t>
                      </a:r>
                      <a:r>
                        <a:rPr lang="en-US" altLang="zh-CN" sz="1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Nvme</a:t>
                      </a: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STA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信息上报（背板单线通信的</a:t>
                      </a:r>
                      <a:r>
                        <a:rPr lang="en-US" altLang="zh-CN" sz="1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UAST_SLAVE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模块</a:t>
                      </a: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50Mhz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）</a:t>
                      </a:r>
                      <a:endParaRPr lang="en-US" altLang="zh-CN" sz="1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、遗漏问题：同一</a:t>
                      </a:r>
                      <a:r>
                        <a:rPr lang="en-US" altLang="zh-CN" sz="1400" kern="1200" dirty="0" err="1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CPLD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版本，不同测试人员的单板开关机状态不同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；</a:t>
                      </a:r>
                      <a:endParaRPr lang="en-US" altLang="zh-CN" sz="1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    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、正常关机</a:t>
                      </a:r>
                      <a:r>
                        <a:rPr lang="en-US" altLang="zh-CN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4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强制关机后无法开机；</a:t>
                      </a:r>
                      <a:endParaRPr lang="en-US" altLang="zh-CN" sz="14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     2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power cycle</a:t>
                      </a:r>
                      <a:r>
                        <a:rPr lang="zh-CN" altLang="en-US" sz="1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无法通过；</a:t>
                      </a:r>
                      <a:endParaRPr lang="en-US" altLang="zh-CN" sz="14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2BC0A0A8-0C9C-2D51-D930-A3AB6D1663CB}"/>
              </a:ext>
            </a:extLst>
          </p:cNvPr>
          <p:cNvSpPr txBox="1"/>
          <p:nvPr/>
        </p:nvSpPr>
        <p:spPr>
          <a:xfrm>
            <a:off x="527260" y="1099272"/>
            <a:ext cx="1021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en-US" altLang="zh-CN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3E6000</a:t>
            </a:r>
            <a:r>
              <a:rPr lang="zh-CN" altLang="en-US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调试需求维护</a:t>
            </a:r>
            <a:r>
              <a:rPr lang="en-US" altLang="zh-CN" b="1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85738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41C1419-120D-DC1F-C21A-56303716E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xmlns="" id="{BF62F1C8-BD5E-AB89-0E19-C79DD8E145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27260" y="356659"/>
            <a:ext cx="9134596" cy="60960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工作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内容</a:t>
            </a:r>
            <a:r>
              <a:rPr lang="en-US" altLang="zh-CN" sz="2400" dirty="0">
                <a:solidFill>
                  <a:prstClr val="black"/>
                </a:solidFill>
                <a:latin typeface="微软雅黑"/>
                <a:ea typeface="微软雅黑"/>
              </a:rPr>
              <a:t>3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— </a:t>
            </a:r>
            <a:r>
              <a:rPr kumimoji="0" lang="zh-CN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逻辑功能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微软雅黑"/>
                <a:cs typeface="+mj-cs"/>
              </a:rPr>
              <a:t>调试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宋体" panose="02010600030101010101" pitchFamily="2" charset="-122"/>
              <a:ea typeface="宋体" panose="02010600030101010101" pitchFamily="2" charset="-122"/>
              <a:cs typeface="+mj-cs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609677"/>
              </p:ext>
            </p:extLst>
          </p:nvPr>
        </p:nvGraphicFramePr>
        <p:xfrm>
          <a:off x="527260" y="1496061"/>
          <a:ext cx="11418388" cy="678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3783"/>
                <a:gridCol w="1923783"/>
                <a:gridCol w="3573602"/>
                <a:gridCol w="3997220"/>
              </a:tblGrid>
              <a:tr h="28236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所属项目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调试问题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故障原因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解决思路</a:t>
                      </a:r>
                      <a:r>
                        <a:rPr lang="en-US" altLang="zh-CN" sz="1200" dirty="0" smtClean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zh-CN" altLang="en-US" sz="1200" dirty="0" smtClean="0">
                          <a:solidFill>
                            <a:schemeClr val="tx1"/>
                          </a:solidFill>
                        </a:rPr>
                        <a:t>方法</a:t>
                      </a:r>
                      <a:endParaRPr lang="zh-CN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96239"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异格</a:t>
                      </a:r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FPGA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加速卡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1219170" rtl="0" eaLnBrk="1" latinLnBrk="0" hangingPunct="1"/>
                      <a:r>
                        <a:rPr lang="en-US" altLang="zh-CN" sz="1200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DDR</a:t>
                      </a:r>
                      <a:r>
                        <a:rPr lang="zh-CN" altLang="en-US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读写误码</a:t>
                      </a:r>
                      <a:endParaRPr lang="en-US" altLang="zh-CN" sz="12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颗粒</a:t>
                      </a:r>
                      <a:r>
                        <a:rPr lang="en-US" altLang="zh-CN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时序参数（未确定）</a:t>
                      </a:r>
                      <a:endParaRPr lang="zh-CN" altLang="en-US" sz="12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2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见下方</a:t>
                      </a:r>
                      <a:endParaRPr lang="zh-CN" altLang="en-US" sz="1200" kern="1200" dirty="0" smtClean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xmlns="" id="{2BC0A0A8-0C9C-2D51-D930-A3AB6D1663CB}"/>
              </a:ext>
            </a:extLst>
          </p:cNvPr>
          <p:cNvSpPr txBox="1"/>
          <p:nvPr/>
        </p:nvSpPr>
        <p:spPr>
          <a:xfrm>
            <a:off x="527260" y="1099272"/>
            <a:ext cx="102154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调试问题分析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380" y="2386914"/>
            <a:ext cx="5659364" cy="3657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/>
          <a:srcRect l="752" b="2628"/>
          <a:stretch/>
        </p:blipFill>
        <p:spPr>
          <a:xfrm>
            <a:off x="551933" y="2362200"/>
            <a:ext cx="5428957" cy="3643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59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 txBox="1"/>
          <p:nvPr/>
        </p:nvSpPr>
        <p:spPr>
          <a:xfrm>
            <a:off x="4016149" y="2688026"/>
            <a:ext cx="4829567" cy="1564870"/>
          </a:xfrm>
          <a:prstGeom prst="rect">
            <a:avLst/>
          </a:prstGeom>
          <a:noFill/>
        </p:spPr>
        <p:txBody>
          <a:bodyPr wrap="none" lIns="86697" tIns="43348" rIns="86697" bIns="43348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1218565">
              <a:defRPr/>
            </a:pPr>
            <a:r>
              <a:rPr lang="zh-CN" altLang="en-US" sz="1865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第</a:t>
            </a:r>
            <a:r>
              <a:rPr lang="en-US" altLang="zh-CN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r>
              <a:rPr lang="zh-CN" altLang="en-US" sz="2665" b="1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部分</a:t>
            </a:r>
            <a:r>
              <a:rPr lang="zh-CN" altLang="en-US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en-US" altLang="zh-CN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</a:t>
            </a:r>
          </a:p>
          <a:p>
            <a:pPr marL="0" lvl="1" algn="ctr" defTabSz="1218565">
              <a:defRPr/>
            </a:pPr>
            <a:r>
              <a:rPr lang="en-US" altLang="zh-CN" sz="48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	</a:t>
            </a:r>
            <a:r>
              <a:rPr lang="zh-CN" altLang="en-US" sz="48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未来规划</a:t>
            </a:r>
            <a:endParaRPr lang="en-US" altLang="zh-CN" sz="48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5" name="直接连接符 9"/>
          <p:cNvCxnSpPr/>
          <p:nvPr/>
        </p:nvCxnSpPr>
        <p:spPr>
          <a:xfrm flipV="1">
            <a:off x="3547868" y="2564905"/>
            <a:ext cx="0" cy="1893892"/>
          </a:xfrm>
          <a:prstGeom prst="line">
            <a:avLst/>
          </a:prstGeom>
          <a:noFill/>
          <a:ln w="12700" cap="flat" cmpd="sng" algn="ctr">
            <a:solidFill>
              <a:srgbClr val="E60012"/>
            </a:solidFill>
            <a:prstDash val="dash"/>
          </a:ln>
          <a:effectLst/>
        </p:spPr>
      </p:cxnSp>
      <p:sp>
        <p:nvSpPr>
          <p:cNvPr id="6" name="TextBox 13"/>
          <p:cNvSpPr txBox="1"/>
          <p:nvPr/>
        </p:nvSpPr>
        <p:spPr>
          <a:xfrm>
            <a:off x="1876156" y="4252896"/>
            <a:ext cx="1203432" cy="328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defRPr/>
            </a:pPr>
            <a:r>
              <a:rPr lang="en-US" altLang="zh-CN" sz="2135" dirty="0">
                <a:solidFill>
                  <a:srgbClr val="A0A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PART 04</a:t>
            </a:r>
            <a:endParaRPr lang="zh-CN" altLang="en-US" sz="2135" dirty="0">
              <a:solidFill>
                <a:srgbClr val="A0A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" name="组合 25"/>
          <p:cNvGrpSpPr/>
          <p:nvPr/>
        </p:nvGrpSpPr>
        <p:grpSpPr>
          <a:xfrm>
            <a:off x="1648952" y="2539454"/>
            <a:ext cx="1400077" cy="1400155"/>
            <a:chOff x="304800" y="673100"/>
            <a:chExt cx="4000500" cy="4000500"/>
          </a:xfrm>
          <a:solidFill>
            <a:srgbClr val="E60012"/>
          </a:solidFill>
          <a:effectLst/>
        </p:grpSpPr>
        <p:sp>
          <p:nvSpPr>
            <p:cNvPr id="8" name="同心圆 7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5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>
                <a:defRPr/>
              </a:pPr>
              <a:endParaRPr lang="zh-CN" altLang="en-US" sz="240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392112" y="760412"/>
              <a:ext cx="3825874" cy="3825874"/>
            </a:xfrm>
            <a:prstGeom prst="ellipse">
              <a:avLst/>
            </a:prstGeom>
            <a:grpFill/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marL="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25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1997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6965" algn="l" defTabSz="913765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1218565">
                <a:defRPr/>
              </a:pPr>
              <a:endParaRPr lang="zh-CN" altLang="en-US" sz="2400">
                <a:solidFill>
                  <a:srgbClr val="08080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sp>
        <p:nvSpPr>
          <p:cNvPr id="10" name="TextBox 13"/>
          <p:cNvSpPr txBox="1"/>
          <p:nvPr/>
        </p:nvSpPr>
        <p:spPr>
          <a:xfrm>
            <a:off x="1648951" y="2870199"/>
            <a:ext cx="1203432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L="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5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965" algn="l" defTabSz="913765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565">
              <a:defRPr/>
            </a:pPr>
            <a:r>
              <a:rPr lang="zh-CN" altLang="zh-CN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en-US" altLang="zh-CN" sz="4800" b="1" dirty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</a:t>
            </a:r>
            <a:endParaRPr lang="zh-CN" altLang="en-US" sz="4800" b="1" dirty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95801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defTabSz="1219080" fontAlgn="auto">
              <a:spcAft>
                <a:spcPts val="0"/>
              </a:spcAft>
              <a:defRPr/>
            </a:pPr>
            <a:r>
              <a:rPr lang="en-US" altLang="zh-CN" sz="2400" kern="0" dirty="0">
                <a:solidFill>
                  <a:srgbClr val="000000"/>
                </a:solidFill>
                <a:latin typeface="微软雅黑"/>
                <a:ea typeface="微软雅黑"/>
              </a:rPr>
              <a:t>5</a:t>
            </a:r>
            <a:r>
              <a:rPr lang="zh-CN" altLang="en-US" sz="2400" kern="0" dirty="0">
                <a:solidFill>
                  <a:srgbClr val="000000"/>
                </a:solidFill>
                <a:latin typeface="微软雅黑"/>
                <a:ea typeface="微软雅黑"/>
              </a:rPr>
              <a:t>、</a:t>
            </a:r>
            <a:r>
              <a:rPr lang="zh-CN" altLang="en-US" sz="2400" kern="0" dirty="0" smtClean="0">
                <a:solidFill>
                  <a:srgbClr val="000000"/>
                </a:solidFill>
                <a:latin typeface="微软雅黑"/>
                <a:ea typeface="微软雅黑"/>
              </a:rPr>
              <a:t>未来</a:t>
            </a:r>
            <a:r>
              <a:rPr lang="zh-CN" altLang="en-US" sz="2400" kern="0" dirty="0">
                <a:solidFill>
                  <a:srgbClr val="000000"/>
                </a:solidFill>
                <a:latin typeface="微软雅黑"/>
                <a:ea typeface="微软雅黑"/>
              </a:rPr>
              <a:t>规划</a:t>
            </a:r>
          </a:p>
        </p:txBody>
      </p:sp>
      <p:sp>
        <p:nvSpPr>
          <p:cNvPr id="2" name="矩形 1"/>
          <p:cNvSpPr/>
          <p:nvPr/>
        </p:nvSpPr>
        <p:spPr>
          <a:xfrm>
            <a:off x="940315" y="1066302"/>
            <a:ext cx="10394949" cy="28110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eaLnBrk="0" fontAlgn="base" hangingPunct="0">
              <a:lnSpc>
                <a:spcPts val="2400"/>
              </a:lnSpc>
              <a:spcBef>
                <a:spcPts val="200"/>
              </a:spcBef>
              <a:spcAft>
                <a:spcPts val="200"/>
              </a:spcAft>
              <a:buClr>
                <a:prstClr val="black"/>
              </a:buClr>
              <a:buFont typeface="Wingdings" panose="05000000000000000000" pitchFamily="2" charset="2"/>
              <a:buChar char="n"/>
              <a:defRPr/>
            </a:pP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CPLD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逻辑代码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的编码和调试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工作中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，首先要了解项目的整体硬件架构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和逻辑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功能需求；项目紧急时优先保证电源系统稳定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可靠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，然后再慢慢添加其他需求。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0" fontAlgn="base" hangingPunct="0">
              <a:lnSpc>
                <a:spcPts val="2400"/>
              </a:lnSpc>
              <a:spcBef>
                <a:spcPts val="200"/>
              </a:spcBef>
              <a:spcAft>
                <a:spcPts val="200"/>
              </a:spcAft>
              <a:buClr>
                <a:prstClr val="black"/>
              </a:buClr>
              <a:buFont typeface="Wingdings" panose="05000000000000000000" pitchFamily="2" charset="2"/>
              <a:buChar char="n"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0" fontAlgn="base" hangingPunct="0">
              <a:lnSpc>
                <a:spcPts val="2400"/>
              </a:lnSpc>
              <a:spcBef>
                <a:spcPts val="200"/>
              </a:spcBef>
              <a:spcAft>
                <a:spcPts val="200"/>
              </a:spcAft>
              <a:buClr>
                <a:prstClr val="black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硬件知识和能力欠缺，动手实操的能力欠缺；后续希望有机会可以参与到硬件设计的工作上；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0" fontAlgn="base" hangingPunct="0">
              <a:lnSpc>
                <a:spcPts val="2400"/>
              </a:lnSpc>
              <a:spcBef>
                <a:spcPts val="200"/>
              </a:spcBef>
              <a:spcAft>
                <a:spcPts val="200"/>
              </a:spcAft>
              <a:buClr>
                <a:prstClr val="black"/>
              </a:buClr>
              <a:buFont typeface="Wingdings" panose="05000000000000000000" pitchFamily="2" charset="2"/>
              <a:buChar char="n"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0" fontAlgn="base" hangingPunct="0">
              <a:lnSpc>
                <a:spcPts val="2400"/>
              </a:lnSpc>
              <a:spcBef>
                <a:spcPts val="200"/>
              </a:spcBef>
              <a:spcAft>
                <a:spcPts val="200"/>
              </a:spcAft>
              <a:buClr>
                <a:prstClr val="black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缺乏大型的逻辑总体设计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能力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，逻辑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开发经验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不足，时序分析能力不足；高速接口例如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PCIE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intelaken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 algn="just" eaLnBrk="0" fontAlgn="base" hangingPunct="0">
              <a:lnSpc>
                <a:spcPts val="2400"/>
              </a:lnSpc>
              <a:spcBef>
                <a:spcPts val="200"/>
              </a:spcBef>
              <a:spcAft>
                <a:spcPts val="200"/>
              </a:spcAft>
              <a:buClr>
                <a:prstClr val="black"/>
              </a:buClr>
              <a:buFont typeface="Wingdings" panose="05000000000000000000" pitchFamily="2" charset="2"/>
              <a:buChar char="n"/>
              <a:defRPr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64656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885956" y="1479113"/>
            <a:ext cx="5724644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lvl="1" algn="ctr" defTabSz="1218565">
              <a:defRPr/>
            </a:pPr>
            <a:r>
              <a:rPr lang="zh-CN" altLang="en-US" sz="5400" b="0" cap="none" spc="0" dirty="0">
                <a:ln w="0"/>
                <a:solidFill>
                  <a:srgbClr val="2F66C2"/>
                </a:soli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欢迎各位专家指正</a:t>
            </a:r>
            <a:endParaRPr lang="en-US" altLang="zh-CN" sz="5400" b="0" cap="none" spc="0" dirty="0">
              <a:ln w="0"/>
              <a:solidFill>
                <a:srgbClr val="2F66C2"/>
              </a:soli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algn="ctr" defTabSz="1218565">
              <a:defRPr/>
            </a:pPr>
            <a:endParaRPr lang="en-US" altLang="zh-CN" sz="5400" b="0" cap="none" spc="0" dirty="0">
              <a:ln w="0"/>
              <a:solidFill>
                <a:srgbClr val="2F66C2"/>
              </a:solidFill>
              <a:effectLst>
                <a:reflection blurRad="6350" stA="53000" endA="300" endPos="35500" dir="5400000" sy="-9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lvl="1" algn="ctr" defTabSz="1218565">
              <a:defRPr/>
            </a:pPr>
            <a:r>
              <a:rPr lang="zh-CN" altLang="en-US" sz="5400" b="0" cap="none" spc="0" dirty="0">
                <a:ln w="0"/>
                <a:solidFill>
                  <a:srgbClr val="2F66C2"/>
                </a:solidFill>
                <a:effectLst>
                  <a:reflection blurRad="6350" stA="53000" endA="300" endPos="35500" dir="5400000" sy="-9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谢谢各位评委！</a:t>
            </a:r>
            <a:endParaRPr lang="zh-CN" altLang="en-US" sz="5400" b="0" cap="none" spc="0" dirty="0">
              <a:ln w="0"/>
              <a:solidFill>
                <a:srgbClr val="2F66C2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8950792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模板-Confidential 秘密">
  <a:themeElements>
    <a:clrScheme name="主题颜色-1">
      <a:dk1>
        <a:srgbClr val="262626"/>
      </a:dk1>
      <a:lt1>
        <a:srgbClr val="FFFFFF"/>
      </a:lt1>
      <a:dk2>
        <a:srgbClr val="262626"/>
      </a:dk2>
      <a:lt2>
        <a:srgbClr val="BFBFBF"/>
      </a:lt2>
      <a:accent1>
        <a:srgbClr val="2C4155"/>
      </a:accent1>
      <a:accent2>
        <a:srgbClr val="2290B3"/>
      </a:accent2>
      <a:accent3>
        <a:srgbClr val="6EADA7"/>
      </a:accent3>
      <a:accent4>
        <a:srgbClr val="ADB378"/>
      </a:accent4>
      <a:accent5>
        <a:srgbClr val="EB6161"/>
      </a:accent5>
      <a:accent6>
        <a:srgbClr val="CF7B0F"/>
      </a:accent6>
      <a:hlink>
        <a:srgbClr val="598486"/>
      </a:hlink>
      <a:folHlink>
        <a:srgbClr val="007272"/>
      </a:folHlink>
    </a:clrScheme>
    <a:fontScheme name="自定义设计方案">
      <a:majorFont>
        <a:latin typeface="Arial"/>
        <a:ea typeface="华文细黑"/>
        <a:cs typeface=""/>
      </a:majorFont>
      <a:minorFont>
        <a:latin typeface="华文中宋"/>
        <a:ea typeface="华文细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5688B6"/>
        </a:solidFill>
        <a:ln w="12700" cap="flat" cmpd="sng" algn="ctr">
          <a:noFill/>
          <a:prstDash val="dash"/>
        </a:ln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400" b="1" i="0" u="none" strike="noStrike" kern="0" cap="none" spc="0" normalizeH="0" baseline="0" noProof="0">
            <a:ln>
              <a:noFill/>
            </a:ln>
            <a:effectLst/>
            <a:uLnTx/>
            <a:uFillTx/>
            <a:latin typeface="微软雅黑" panose="020B0503020204020204" pitchFamily="34" charset="-122"/>
            <a:ea typeface="微软雅黑" panose="020B0503020204020204" pitchFamily="34" charset="-122"/>
            <a:cs typeface="+mn-cs"/>
          </a:defRPr>
        </a:defPPr>
      </a:lstStyle>
    </a:sp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95567</TotalTime>
  <Words>2223</Words>
  <Application>Microsoft Office PowerPoint</Application>
  <PresentationFormat>宽屏</PresentationFormat>
  <Paragraphs>185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华文细黑</vt:lpstr>
      <vt:lpstr>华文中宋</vt:lpstr>
      <vt:lpstr>宋体</vt:lpstr>
      <vt:lpstr>微软雅黑</vt:lpstr>
      <vt:lpstr>Arial</vt:lpstr>
      <vt:lpstr>Calibri</vt:lpstr>
      <vt:lpstr>Wingdings</vt:lpstr>
      <vt:lpstr>模板-Confidential 秘密</vt:lpstr>
      <vt:lpstr>PowerPoint 演示文稿</vt:lpstr>
      <vt:lpstr>PowerPoint 演示文稿</vt:lpstr>
      <vt:lpstr>PowerPoint 演示文稿</vt:lpstr>
      <vt:lpstr>个人介绍</vt:lpstr>
      <vt:lpstr>PowerPoint 演示文稿</vt:lpstr>
      <vt:lpstr>工作内容 — 概述</vt:lpstr>
      <vt:lpstr>工作内容1 — 理解硬件设计方案</vt:lpstr>
      <vt:lpstr>工作内容2 —生成逻辑方案设计</vt:lpstr>
      <vt:lpstr>工作内容3 —熟悉电源上下电方案</vt:lpstr>
      <vt:lpstr>工作内容2 —欧康诺电源上下电方案</vt:lpstr>
      <vt:lpstr>工作内容3 — 逻辑功能调试</vt:lpstr>
      <vt:lpstr>工作内容3 — 逻辑功能调试</vt:lpstr>
      <vt:lpstr>工作内容3 — 逻辑功能调试</vt:lpstr>
      <vt:lpstr>工作内容3 — 逻辑功能调试</vt:lpstr>
      <vt:lpstr>PowerPoint 演示文稿</vt:lpstr>
      <vt:lpstr>5、未来规划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yangsiyuan</dc:creator>
  <cp:lastModifiedBy>zhumingjie 02665</cp:lastModifiedBy>
  <cp:revision>368</cp:revision>
  <dcterms:created xsi:type="dcterms:W3CDTF">2021-08-24T02:59:46Z</dcterms:created>
  <dcterms:modified xsi:type="dcterms:W3CDTF">2026-02-06T10:53:41Z</dcterms:modified>
</cp:coreProperties>
</file>